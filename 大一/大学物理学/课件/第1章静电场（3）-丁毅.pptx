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70" r:id="rId1"/>
    <p:sldMasterId id="2147484383" r:id="rId2"/>
    <p:sldMasterId id="2147484398" r:id="rId3"/>
  </p:sldMasterIdLst>
  <p:notesMasterIdLst>
    <p:notesMasterId r:id="rId114"/>
  </p:notesMasterIdLst>
  <p:sldIdLst>
    <p:sldId id="870" r:id="rId4"/>
    <p:sldId id="871" r:id="rId5"/>
    <p:sldId id="489" r:id="rId6"/>
    <p:sldId id="578" r:id="rId7"/>
    <p:sldId id="832" r:id="rId8"/>
    <p:sldId id="758" r:id="rId9"/>
    <p:sldId id="759" r:id="rId10"/>
    <p:sldId id="838" r:id="rId11"/>
    <p:sldId id="834" r:id="rId12"/>
    <p:sldId id="836" r:id="rId13"/>
    <p:sldId id="837" r:id="rId14"/>
    <p:sldId id="839" r:id="rId15"/>
    <p:sldId id="681" r:id="rId16"/>
    <p:sldId id="682" r:id="rId17"/>
    <p:sldId id="847" r:id="rId18"/>
    <p:sldId id="760" r:id="rId19"/>
    <p:sldId id="848" r:id="rId20"/>
    <p:sldId id="761" r:id="rId21"/>
    <p:sldId id="762" r:id="rId22"/>
    <p:sldId id="763" r:id="rId23"/>
    <p:sldId id="684" r:id="rId24"/>
    <p:sldId id="685" r:id="rId25"/>
    <p:sldId id="686" r:id="rId26"/>
    <p:sldId id="764" r:id="rId27"/>
    <p:sldId id="765" r:id="rId28"/>
    <p:sldId id="813" r:id="rId29"/>
    <p:sldId id="849" r:id="rId30"/>
    <p:sldId id="766" r:id="rId31"/>
    <p:sldId id="767" r:id="rId32"/>
    <p:sldId id="850" r:id="rId33"/>
    <p:sldId id="768" r:id="rId34"/>
    <p:sldId id="868" r:id="rId35"/>
    <p:sldId id="769" r:id="rId36"/>
    <p:sldId id="770" r:id="rId37"/>
    <p:sldId id="771" r:id="rId38"/>
    <p:sldId id="786" r:id="rId39"/>
    <p:sldId id="785" r:id="rId40"/>
    <p:sldId id="788" r:id="rId41"/>
    <p:sldId id="772" r:id="rId42"/>
    <p:sldId id="773" r:id="rId43"/>
    <p:sldId id="774" r:id="rId44"/>
    <p:sldId id="775" r:id="rId45"/>
    <p:sldId id="776" r:id="rId46"/>
    <p:sldId id="851" r:id="rId47"/>
    <p:sldId id="777" r:id="rId48"/>
    <p:sldId id="778" r:id="rId49"/>
    <p:sldId id="779" r:id="rId50"/>
    <p:sldId id="780" r:id="rId51"/>
    <p:sldId id="781" r:id="rId52"/>
    <p:sldId id="782" r:id="rId53"/>
    <p:sldId id="852" r:id="rId54"/>
    <p:sldId id="783" r:id="rId55"/>
    <p:sldId id="784" r:id="rId56"/>
    <p:sldId id="873" r:id="rId57"/>
    <p:sldId id="874" r:id="rId58"/>
    <p:sldId id="875" r:id="rId59"/>
    <p:sldId id="853" r:id="rId60"/>
    <p:sldId id="859" r:id="rId61"/>
    <p:sldId id="860" r:id="rId62"/>
    <p:sldId id="861" r:id="rId63"/>
    <p:sldId id="862" r:id="rId64"/>
    <p:sldId id="863" r:id="rId65"/>
    <p:sldId id="864" r:id="rId66"/>
    <p:sldId id="865" r:id="rId67"/>
    <p:sldId id="866" r:id="rId68"/>
    <p:sldId id="867" r:id="rId69"/>
    <p:sldId id="799" r:id="rId70"/>
    <p:sldId id="800" r:id="rId71"/>
    <p:sldId id="801" r:id="rId72"/>
    <p:sldId id="802" r:id="rId73"/>
    <p:sldId id="803" r:id="rId74"/>
    <p:sldId id="805" r:id="rId75"/>
    <p:sldId id="804" r:id="rId76"/>
    <p:sldId id="718" r:id="rId77"/>
    <p:sldId id="721" r:id="rId78"/>
    <p:sldId id="723" r:id="rId79"/>
    <p:sldId id="807" r:id="rId80"/>
    <p:sldId id="809" r:id="rId81"/>
    <p:sldId id="811" r:id="rId82"/>
    <p:sldId id="869" r:id="rId83"/>
    <p:sldId id="810" r:id="rId84"/>
    <p:sldId id="814" r:id="rId85"/>
    <p:sldId id="815" r:id="rId86"/>
    <p:sldId id="816" r:id="rId87"/>
    <p:sldId id="817" r:id="rId88"/>
    <p:sldId id="818" r:id="rId89"/>
    <p:sldId id="819" r:id="rId90"/>
    <p:sldId id="820" r:id="rId91"/>
    <p:sldId id="876" r:id="rId92"/>
    <p:sldId id="877" r:id="rId93"/>
    <p:sldId id="821" r:id="rId94"/>
    <p:sldId id="872" r:id="rId95"/>
    <p:sldId id="822" r:id="rId96"/>
    <p:sldId id="823" r:id="rId97"/>
    <p:sldId id="824" r:id="rId98"/>
    <p:sldId id="825" r:id="rId99"/>
    <p:sldId id="826" r:id="rId100"/>
    <p:sldId id="827" r:id="rId101"/>
    <p:sldId id="828" r:id="rId102"/>
    <p:sldId id="829" r:id="rId103"/>
    <p:sldId id="830" r:id="rId104"/>
    <p:sldId id="840" r:id="rId105"/>
    <p:sldId id="831" r:id="rId106"/>
    <p:sldId id="841" r:id="rId107"/>
    <p:sldId id="842" r:id="rId108"/>
    <p:sldId id="843" r:id="rId109"/>
    <p:sldId id="844" r:id="rId110"/>
    <p:sldId id="845" r:id="rId111"/>
    <p:sldId id="846" r:id="rId112"/>
    <p:sldId id="757" r:id="rId11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6633"/>
    <a:srgbClr val="003A93"/>
    <a:srgbClr val="C7371F"/>
    <a:srgbClr val="C91DB0"/>
    <a:srgbClr val="003300"/>
    <a:srgbClr val="07C5DF"/>
    <a:srgbClr val="EAEAEA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8358" autoAdjust="0"/>
  </p:normalViewPr>
  <p:slideViewPr>
    <p:cSldViewPr>
      <p:cViewPr varScale="1">
        <p:scale>
          <a:sx n="77" d="100"/>
          <a:sy n="77" d="100"/>
        </p:scale>
        <p:origin x="100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117" Type="http://schemas.openxmlformats.org/officeDocument/2006/relationships/theme" Target="theme/theme1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tableStyles" Target="tableStyles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presProps" Target="presProps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8T07:43:42.8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21301 7918 463 0,'0'0'261'0,"0"0"-254"16,0 0 10-16,0 0 84 16,0 0-42-16,0 0 22 15,-12 0-71-15,12 0 4 16,0 0 63-16,0 0-26 16,-2 0-13-16,2 0-38 15,0 0 19-15,0 0-23 16,0 0 4-16,0 0 0 15,0 0-8-15,0 0 8 16,0 0-7-16,0 0 3 0,0 0-25 16,0 0 20-16,0 0-6 15,0 0 15-15,14 0 15 16,1 0-15-16,6 0 6 16,0 0-6-16,2 0 3 15,-3 0-6-15,0 0 3 16,-4 0 0-16,-6 0 0 15,2 0 0-15,-1 0-2 16,-2 0 2-16,2 0-31 16,-2 0 14-16,-3 0 17 15,8 0-1-15,1 0-7 16,8 0 8-16,4 0-10 16,-2 0-11-16,-2 0-2 15,-2 0 6-15,-3 0 17 16,-1 0-27-16,-3 0 19 0,-1 0 5 15,-2 0-7-15,-4 0 10 16,-2 0-38-16,-3 0 31 16,-2 0-5-16,0 0 12 15,0 0-2-15,0 0 2 16,0 0 0-16,4 0-2 16,0 0 8-16,3 0-12 15,-1 0 6-15,0 0 0 16,-2 0 0-16,2 0 0 15,-1 0 0-15,-3 0 0 16,-2 0-2-16,0 0-10 16,0 0 12-16,0 0 0 15,0 0 0-15,0 0 8 0,0 0 4 16,0 0 58-16,0 0-50 16,0 0 38-16,0 0-58 15,0 0-23-15,0 0-163 16,-11 3 70-16,-3-2 55 15,1 4-178-15,2-5-84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8T08:00:28.4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15143 4117 562 0,'0'0'546'16,"0"0"-546"-16,0 0-102 16,0 0 102-16,0 0 8 15,73 132 8-15,-58-90-7 16,1-4-18-16,-3-10-97 16,-1-20-539-16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8T02:35:53.6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16009 6220 528 0,'0'0'216'0,"0"0"-207"15,0 0 32-15,0 0-3 16,0 0-19-16,0 0 44 15,15-16-17-15,-10 14-4 16,-1 0 19-16,1 2-40 16,-3 0 33-16,3 0-28 15,3 0-22-15,8 0 8 16,4 0-9-16,7 0 0 16,6 0-3-16,5 0-7 15,3 0-1-15,-4 0 5 16,-1 0 3-16,-3 0-9 15,-4 0 12-15,-4 0-3 16,-5 0 0-16,-7 0-40 0,-6 0 8 16,-3 0-35-16,-4 0-2 15,0 0 7-15,0 0 4 16,-15 0-195-16</inkml:trace>
  <inkml:trace contextRef="#ctx0" brushRef="#br0" timeOffset="1">16257 6108 665 0,'0'0'36'15,"0"0"-20"-15,0 0 6 0,0 0 107 16,0 0-89-16,0 0 12 15,0-11-13-15,0 11-34 16,0 0 16-16,0 0-21 16,0 0 0-16,0 3 5 15,0 9-1-15,0 7-3 16,0 0-1-16,0 3 9 16,0 5-11-16,0-1 2 15,0 1 0-15,0-1 6 16,0-2-6-16,0-2 0 15,0-8 0-15,0-6 5 16,0-4-10-16,0-4 5 16,0 0-42-16,0 0-74 0,2 0-125 15</inkml:trace>
  <inkml:trace contextRef="#ctx0" brushRef="#br0" timeOffset="2">16797 6128 830 0,'0'0'101'0,"0"0"-86"0,0 0 19 16,0 0 20-16,0 0-34 31,0 0-20-31,0 32 6 15,0-6 16-15,0 2-17 16,-6 2-2-16,-3-4 2 0,-5-3-2 16,-1-2 7-16,-3-4-10 15,-4-3 5-15,2-7 4 16,-3 0-9-16,4-6 0 16,1-1-3-16,2 0-5 15,5 0 3-15,2-15-22 16,5-3 9-16,0-3 17 15,4-1 2-15,0 1-1 16,0-2 5-16,0 1 1 16,2 3 11-16,7-2-17 15,1 3-2-15,2 0-11 16,-1 0 13-16,4 2-11 0,3 1 11 16,-2 4 0-16,-1 3 3 15,1 2-3-15,0 4 0 16,0 0 27-16,-1 2 2 15,1 0 1-15,1 0 5 16,3 0-32-16,3 0 3 16,1 8-6-16,5-1 11 15,2 2-11-15,0-5 0 16,-2 0 0-16,-4-3 4 16,-7 2-3-16,-5-3 3 15,-4 0-4-15,-2 0 4 16,-3 0-4-16,1 0 0 15,1 0 0-15,-1 2-2 0,-3-2 7 16,0 2-5-16,-2-2 0 16,0 0-2-16,0 0-10 15,0 0-4-15,0 0-103 16,0 0-216-16</inkml:trace>
  <inkml:trace contextRef="#ctx0" brushRef="#br0" timeOffset="3">16942 6438 224 0,'0'0'292'0,"0"0"-157"15,0 0 74-15,0 0-53 0,0 0-34 16,0 0-39-1,3 0-56-15,-3 0-7 0,0 0-20 16,0 0-5-16,0 7 2 16,0 5 3-16,4-2 0 15,2 0 5-15,6-2-5 16,1-3-2-16,1-2 2 16,1-3 0-16,1 0-5 15,-5 0-3-15,0-4 2 16,-2-12 4-16,-4-3-32 15,-5 3 34-15,0-1-1 16,0 2 3-16,-5 5 5 16,-6 3-3-16,-4 4-1 15,-2 3 11-15,-2 0-7 16,-3 5-12-16,-1 13 5 0,4 4-16 16,5-4 14-16,9-6-143 15,5-8-187-15</inkml:trace>
  <inkml:trace contextRef="#ctx0" brushRef="#br0" timeOffset="4">16473 11195 232 0,'0'0'396'15,"0"0"-371"-15,0 0 44 16,0 0 37-16,0 0-24 15,0 0-53-15,0 0-16 16,-19 0-26-16,17 0 1 16,0 0 12-16,2 0 4 15,0 0 6-15,0 0-5 0,0 0 49 16,0 0-13 0,0 0 41-16,0 0-46 0,0 0-13 15,0 0 2-15,0 0-6 16,0 0 8-16,0 0 3 15,0 0-27-15,0 0 36 16,0 0-23-16,0 0-8 16,0 0 10-16,0 0-10 15,0 0-6-15,0 0-2 16,0 0 0-16,0 0-2 16,2 0 2-16,7 0 0 15,5 0 0-15,1 0 1 16,5 0 0-16,5-1-1 15,2-2 0-15,2-1-1 0,2 2 1 16,2-4-2-16,-1 2-5 16,-6 0 3-16,-6 0 4 15,-6 2 0-15,-10 0-13 16,0 1 10-16,-4 1 6 16,0 0-1-16,3 0 33 15,-3 0-20-15,2 0 8 16,0 0-23-16,-2 0 9 15,0 0-7-15,0 0-2 16,0 0-8-16,0 0-4 16,0 0-51-16,0 0-65 15,0 0-688-15</inkml:trace>
  <inkml:trace contextRef="#ctx0" brushRef="#br0" timeOffset="5">17214 11061 788 0,'0'0'6'0,"0"0"32"0,0 0 59 15,0 0-6-15,0 0-26 16,0 0-40-16,-13 110-16 15,4-87 34-15,-4-4-8 16,-1-2-7-16,-3-4-13 16,-4-1-11-16,1-2 12 15,-2-4-16-15,4-2 0 16,0-4-2-16,3 0-7 16,2-10 3-16,-1-12-28 15,1 0 34-15,1 2 14 16,4 0-13-16,1 2 1 15,5 1 37-15,2 0-27 0,0-2 1 16,0-2-13-16,15-1 3 16,3 0-8-16,2 3-5 15,-2 3-10-15,-2 5 20 16,-5 5 1-16,0 2-1 16,-2 4-1-16,2 0-14 15,4 0 7-15,6 0 16 16,1 0-8-16,5 0 17 15,-3 0-17-15,0 0 9 16,1 0-9-16,-4 4 0 16,-6 2-9-16,3-2 9 15,-5 0 0-15,1-1 2 16,-1-3 5-16,-3 0 15 0,0 0-10 16,-3 0-8-16,-5 0 1 15,-2 0-5-15,0 0-7 16,0 0-20-16,0 0-68 15,0 0-662-15</inkml:trace>
  <inkml:trace contextRef="#ctx0" brushRef="#br0" timeOffset="6">17232 11294 961 0,'0'0'74'0,"0"0"-63"15,0 0 6-15,0 0 17 16,0 0 37-16,0 0-52 16,45 71 10-16,-30-71 8 15,5 0-37-15,-1 0 9 16,-2-10-9-16,1-8-57 16,-5 0 2-16,-7 0-37 0,0 2 40 15,-6 2 48-15,0 2 8 16,-8 2 31-16,-11 6 91 15,-4 0-78-15,-1 4 18 16,-1 0-23-16,6 0-15 16,5 2-14-16,5 8-14 15,5-4 0-15,4 0-9 16,0 0-56-16,0-4-42 16,15-2-158-16</inkml:trace>
  <inkml:trace contextRef="#ctx0" brushRef="#br0" timeOffset="7">16323 9922 965 0,'0'0'167'16,"0"0"-112"-16,0 0-11 16,0 0 32-16,0 0-56 15,0 0 17-15,-4-3-30 16,4 3-4-16,0 0 14 16,0 0-14-16,0 0 2 15,0 0-5-15,4 0 4 0,19 0-7 16,8 0 3-1,4-3-10-15,1-3 10 0,-3 2-9 16,-4 2 1-16,-8-1-5 16,-8 3-24-16,-7 0 21 15,-4 0-36-15,-2 0-3 16,0 0-89-16,0 0-192 16</inkml:trace>
  <inkml:trace contextRef="#ctx0" brushRef="#br0" timeOffset="8">16481 9806 963 0,'0'0'44'0,"0"0"-37"16,0 0 96-16,0 0-5 15,0 0-70-15,0 0-7 16,-6 0-21-16,1 17 16 16,-2 15 7-16,1 9-20 15,-1 2-3-15,1-4 10 16,1-3-10-16,3-8 4 16,-3-9-9-16,5-6-5 15,0-7 10-15,-2-2-38 16,2-2-25-16,0-2-85 0,0 0-138 15</inkml:trace>
  <inkml:trace contextRef="#ctx0" brushRef="#br0" timeOffset="9">17013 9819 676 0,'0'0'218'0,"0"0"-216"16,0 0 2-16,0 0 41 15,-21 117-8-15,11-94-24 16,2 0 10-16,-1-9-21 16,-3-3 44-16,-1-4-14 15,-3-3 7-15,-5 2-4 16,-2-4-22-16,1-2-12 15,4 0-1-15,2 0-6 0,10-16 2 16,1-8-26-16,5-3 28 16,0-4-2-16,0 3-2 15,3 0 6-15,5 6 10 16,-1 5-7-16,4 6 30 16,2 0-33-16,4 3 5 15,4 1-10-15,4 1 3 16,2 1 2-16,-3 3-31 15,1 2 12-15,-3 0 19 16,0 0 0-16,-1 13-3 16,-4 6 3-16,1 2 1 15,-1 1 7-15,-1-2-8 16,1-4 4-16,-5-4-7 0,1-4 3 16,-1-3 0-1,-5-2-3-15,-3-3 3 0,-4 0 0 16,0 0-6-16,0-6-46 15,0-13-332-15</inkml:trace>
  <inkml:trace contextRef="#ctx0" brushRef="#br0" timeOffset="10">17232 9673 465 0,'0'0'285'16,"0"0"-239"-16,0 0-14 0,0 0 28 15,0 0 28-15,0 0-43 16,12-27-18-16,-12 27 20 15,0 0 29-15,0 0-40 16,0 0 22-16,0 0-24 16,0 0-13-16,0 0 3 15,0 0-23-15,0 0 8 16,0 0-2-16,0 0-3 16,0 5 20-16,0 13-17 15,0 4 14-15,-3-2-13 16,1 0-4-16,2-2-6 15,-2-2 2-15,-1-2-48 0,-1-3-49 16,-3-5-283-16</inkml:trace>
  <inkml:trace contextRef="#ctx0" brushRef="#br0" timeOffset="11">16340 7337 633 0,'0'0'126'15,"0"0"37"-15,0 0-19 16,0 0-23-16,0 0-25 0,0 0-68 15,0 0 15-15,0 0-19 16,0 0 5-16,0 0 16 16,0 0-29-16,0 0 0 15,0 0-12-15,0 0-2 16,0 0-2-16,8 0 0 16,7-4 2-16,5-2-1 15,3 2-1-15,1 2 0 16,-2 2 0-16,1 0-16 15,-6 0 9-15,-1 0-26 16,-7 0-38-16,-1 0-32 0,-2 0-187 0</inkml:trace>
  <inkml:trace contextRef="#ctx0" brushRef="#br0" timeOffset="12">16974 7279 880 0,'0'0'143'16,"0"0"-143"-16,0 0 0 15,0 0 11-15,0 0 55 16,0 0-11-16,0 0-24 16,-11 76-8-16,1-62-17 15,-3-4 17-15,-3-3-7 16,-3-2-7-16,-2-1 8 0,-5-4-17 16,4 0-9-16,2 0-8 15,1 0 11-15,11-8-5 16,3-6 11-16,3-2 0 15,2-4 6-15,0 4-6 16,5-2 0-16,13 4 0 16,-1 2-8-16,1 2 3 15,2 4 5-15,0 0-4 16,1 2 2-16,2 0 2 16,0 0 0-16,4 2 0 15,2-1 9-15,0 3 7 16,0 0-10-16,-5 0-6 15,-4 0 18-15,-4 13-18 16,-7-1 0-16,-3-2 0 0,-4-2-11 16,0-2 7-16,-2-4 4 15,0-2-6-15,0 0-15 16,0 0-60-16,0 0-175 16</inkml:trace>
  <inkml:trace contextRef="#ctx0" brushRef="#br0" timeOffset="13">17244 7040 982 0,'0'0'146'0,"0"0"-110"16,0 0 62-16,0 0-30 16,0 0-47-16,0 0-12 15,2 4-6-15,-2 13 15 16,0 6-18-16,0-1-1 16,0 0-1-16,2-4-31 15,-2-4-82-15,0-6-316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0-05-08T01:23:08.2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16009 6220 528 0,'0'0'216'0,"0"0"-207"15,0 0 32-15,0 0-3 16,0 0-19-16,0 0 44 15,15-16-17-15,-10 14-4 16,-1 0 19-16,1 2-40 16,-3 0 33-16,3 0-28 15,3 0-22-15,8 0 8 16,4 0-9-16,7 0 0 16,6 0-3-16,5 0-7 15,3 0-1-15,-4 0 5 16,-1 0 3-16,-3 0-9 15,-4 0 12-15,-4 0-3 16,-5 0 0-16,-7 0-40 0,-6 0 8 16,-3 0-35-16,-4 0-2 15,0 0 7-15,0 0 4 16,-15 0-195-16</inkml:trace>
  <inkml:trace contextRef="#ctx0" brushRef="#br0" timeOffset="354.16">16257 6108 665 0,'0'0'36'15,"0"0"-20"-15,0 0 6 0,0 0 107 16,0 0-89-16,0 0 12 15,0-11-13-15,0 11-34 16,0 0 16-16,0 0-21 16,0 0 0-16,0 3 5 15,0 9-1-15,0 7-3 16,0 0-1-16,0 3 9 16,0 5-11-16,0-1 2 15,0 1 0-15,0-1 6 16,0-2-6-16,0-2 0 15,0-8 0-15,0-6 5 16,0-4-10-16,0-4 5 16,0 0-42-16,0 0-74 0,2 0-125 15</inkml:trace>
  <inkml:trace contextRef="#ctx0" brushRef="#br0" timeOffset="1126.18">16797 6128 830 0,'0'0'101'0,"0"0"-86"0,0 0 19 16,0 0 20-16,0 0-34 31,0 0-20-31,0 32 6 15,0-6 16-15,0 2-17 16,-6 2-2-16,-3-4 2 0,-5-3-2 16,-1-2 7-16,-3-4-10 15,-4-3 5-15,2-7 4 16,-3 0-9-16,4-6 0 16,1-1-3-16,2 0-5 15,5 0 3-15,2-15-22 16,5-3 9-16,0-3 17 15,4-1 2-15,0 1-1 16,0-2 5-16,0 1 1 16,2 3 11-16,7-2-17 15,1 3-2-15,2 0-11 16,-1 0 13-16,4 2-11 0,3 1 11 16,-2 4 0-16,-1 3 3 15,1 2-3-15,0 4 0 16,0 0 27-16,-1 2 2 15,1 0 1-15,1 0 5 16,3 0-32-16,3 0 3 16,1 8-6-16,5-1 11 15,2 2-11-15,0-5 0 16,-2 0 0-16,-4-3 4 16,-7 2-3-16,-5-3 3 15,-4 0-4-15,-2 0 4 16,-3 0-4-16,1 0 0 15,1 0 0-15,-1 2-2 0,-3-2 7 16,0 2-5-16,-2-2 0 16,0 0-2-16,0 0-10 15,0 0-4-15,0 0-103 16,0 0-216-16</inkml:trace>
  <inkml:trace contextRef="#ctx0" brushRef="#br0" timeOffset="1661.38">16942 6438 224 0,'0'0'292'0,"0"0"-157"15,0 0 74-15,0 0-53 0,0 0-34 16,0 0-39-1,3 0-56-15,-3 0-7 0,0 0-20 16,0 0-5-16,0 7 2 16,0 5 3-16,4-2 0 15,2 0 5-15,6-2-5 16,1-3-2-16,1-2 2 16,1-3 0-16,1 0-5 15,-5 0-3-15,0-4 2 16,-2-12 4-16,-4-3-32 15,-5 3 34-15,0-1-1 16,0 2 3-16,-5 5 5 16,-6 3-3-16,-4 4-1 15,-2 3 11-15,-2 0-7 16,-3 5-12-16,-1 13 5 0,4 4-16 16,5-4 14-16,9-6-143 15,5-8-187-15</inkml:trace>
  <inkml:trace contextRef="#ctx0" brushRef="#br0" timeOffset="4606.76">16473 11195 232 0,'0'0'396'15,"0"0"-371"-15,0 0 44 16,0 0 37-16,0 0-24 15,0 0-53-15,0 0-16 16,-19 0-26-16,17 0 1 16,0 0 12-16,2 0 4 15,0 0 6-15,0 0-5 0,0 0 49 16,0 0-13 0,0 0 41-16,0 0-46 0,0 0-13 15,0 0 2-15,0 0-6 16,0 0 8-16,0 0 3 15,0 0-27-15,0 0 36 16,0 0-23-16,0 0-8 16,0 0 10-16,0 0-10 15,0 0-6-15,0 0-2 16,0 0 0-16,0 0-2 16,2 0 2-16,7 0 0 15,5 0 0-15,1 0 1 16,5 0 0-16,5-1-1 15,2-2 0-15,2-1-1 0,2 2 1 16,2-4-2-16,-1 2-5 16,-6 0 3-16,-6 0 4 15,-6 2 0-15,-10 0-13 16,0 1 10-16,-4 1 6 16,0 0-1-16,3 0 33 15,-3 0-20-15,2 0 8 16,0 0-23-16,-2 0 9 15,0 0-7-15,0 0-2 16,0 0-8-16,0 0-4 16,0 0-51-16,0 0-65 15,0 0-688-15</inkml:trace>
  <inkml:trace contextRef="#ctx0" brushRef="#br0" timeOffset="5437.64">17214 11061 788 0,'0'0'6'0,"0"0"32"0,0 0 59 15,0 0-6-15,0 0-26 16,0 0-40-16,-13 110-16 15,4-87 34-15,-4-4-8 16,-1-2-7-16,-3-4-13 16,-4-1-11-16,1-2 12 15,-2-4-16-15,4-2 0 16,0-4-2-16,3 0-7 16,2-10 3-16,-1-12-28 15,1 0 34-15,1 2 14 16,4 0-13-16,1 2 1 15,5 1 37-15,2 0-27 0,0-2 1 16,0-2-13-16,15-1 3 16,3 0-8-16,2 3-5 15,-2 3-10-15,-2 5 20 16,-5 5 1-16,0 2-1 16,-2 4-1-16,2 0-14 15,4 0 7-15,6 0 16 16,1 0-8-16,5 0 17 15,-3 0-17-15,0 0 9 16,1 0-9-16,-4 4 0 16,-6 2-9-16,3-2 9 15,-5 0 0-15,1-1 2 16,-1-3 5-16,-3 0 15 0,0 0-10 16,-3 0-8-16,-5 0 1 15,-2 0-5-15,0 0-7 16,0 0-20-16,0 0-68 15,0 0-662-15</inkml:trace>
  <inkml:trace contextRef="#ctx0" brushRef="#br0" timeOffset="5891.51">17232 11294 961 0,'0'0'74'0,"0"0"-63"15,0 0 6-15,0 0 17 16,0 0 37-16,0 0-52 16,45 71 10-16,-30-71 8 15,5 0-37-15,-1 0 9 16,-2-10-9-16,1-8-57 16,-5 0 2-16,-7 0-37 0,0 2 40 15,-6 2 48-15,0 2 8 16,-8 2 31-16,-11 6 91 15,-4 0-78-15,-1 4 18 16,-1 0-23-16,6 0-15 16,5 2-14-16,5 8-14 15,5-4 0-15,4 0-9 16,0 0-56-16,0-4-42 16,15-2-158-16</inkml:trace>
  <inkml:trace contextRef="#ctx0" brushRef="#br0" timeOffset="7510.62">16323 9922 965 0,'0'0'167'16,"0"0"-112"-16,0 0-11 16,0 0 32-16,0 0-56 15,0 0 17-15,-4-3-30 16,4 3-4-16,0 0 14 16,0 0-14-16,0 0 2 15,0 0-5-15,4 0 4 0,19 0-7 16,8 0 3-1,4-3-10-15,1-3 10 0,-3 2-9 16,-4 2 1-16,-8-1-5 16,-8 3-24-16,-7 0 21 15,-4 0-36-15,-2 0-3 16,0 0-89-16,0 0-192 16</inkml:trace>
  <inkml:trace contextRef="#ctx0" brushRef="#br0" timeOffset="7808.38">16481 9806 963 0,'0'0'44'0,"0"0"-37"16,0 0 96-16,0 0-5 15,0 0-70-15,0 0-7 16,-6 0-21-16,1 17 16 16,-2 15 7-16,1 9-20 15,-1 2-3-15,1-4 10 16,1-3-10-16,3-8 4 16,-3-9-9-16,5-6-5 15,0-7 10-15,-2-2-38 16,2-2-25-16,0-2-85 0,0 0-138 15</inkml:trace>
  <inkml:trace contextRef="#ctx0" brushRef="#br0" timeOffset="8438.21">17013 9819 676 0,'0'0'218'0,"0"0"-216"16,0 0 2-16,0 0 41 15,-21 117-8-15,11-94-24 16,2 0 10-16,-1-9-21 16,-3-3 44-16,-1-4-14 15,-3-3 7-15,-5 2-4 16,-2-4-22-16,1-2-12 15,4 0-1-15,2 0-6 0,10-16 2 16,1-8-26-16,5-3 28 16,0-4-2-16,0 3-2 15,3 0 6-15,5 6 10 16,-1 5-7-16,4 6 30 16,2 0-33-16,4 3 5 15,4 1-10-15,4 1 3 16,2 1 2-16,-3 3-31 15,1 2 12-15,-3 0 19 16,0 0 0-16,-1 13-3 16,-4 6 3-16,1 2 1 15,-1 1 7-15,-1-2-8 16,1-4 4-16,-5-4-7 0,1-4 3 16,-1-3 0-1,-5-2-3-15,-3-3 3 0,-4 0 0 16,0 0-6-16,0-6-46 15,0-13-332-15</inkml:trace>
  <inkml:trace contextRef="#ctx0" brushRef="#br0" timeOffset="9708.58">17232 9673 465 0,'0'0'285'16,"0"0"-239"-16,0 0-14 0,0 0 28 15,0 0 28-15,0 0-43 16,12-27-18-16,-12 27 20 15,0 0 29-15,0 0-40 16,0 0 22-16,0 0-24 16,0 0-13-16,0 0 3 15,0 0-23-15,0 0 8 16,0 0-2-16,0 0-3 16,0 5 20-16,0 13-17 15,0 4 14-15,-3-2-13 16,1 0-4-16,2-2-6 15,-2-2 2-15,-1-2-48 0,-1-3-49 16,-3-5-283-16</inkml:trace>
  <inkml:trace contextRef="#ctx0" brushRef="#br0" timeOffset="10967.09">16340 7337 633 0,'0'0'126'15,"0"0"37"-15,0 0-19 16,0 0-23-16,0 0-25 0,0 0-68 15,0 0 15-15,0 0-19 16,0 0 5-16,0 0 16 16,0 0-29-16,0 0 0 15,0 0-12-15,0 0-2 16,0 0-2-16,8 0 0 16,7-4 2-16,5-2-1 15,3 2-1-15,1 2 0 16,-2 2 0-16,1 0-16 15,-6 0 9-15,-1 0-26 16,-7 0-38-16,-1 0-32 0,-2 0-187 0</inkml:trace>
  <inkml:trace contextRef="#ctx0" brushRef="#br0" timeOffset="11632.85">16974 7279 880 0,'0'0'143'16,"0"0"-143"-16,0 0 0 15,0 0 11-15,0 0 55 16,0 0-11-16,0 0-24 16,-11 76-8-16,1-62-17 15,-3-4 17-15,-3-3-7 16,-3-2-7-16,-2-1 8 0,-5-4-17 16,4 0-9-16,2 0-8 15,1 0 11-15,11-8-5 16,3-6 11-16,3-2 0 15,2-4 6-15,0 4-6 16,5-2 0-16,13 4 0 16,-1 2-8-16,1 2 3 15,2 4 5-15,0 0-4 16,1 2 2-16,2 0 2 16,0 0 0-16,4 2 0 15,2-1 9-15,0 3 7 16,0 0-10-16,-5 0-6 15,-4 0 18-15,-4 13-18 16,-7-1 0-16,-3-2 0 0,-4-2-11 16,0-2 7-16,-2-4 4 15,0-2-6-15,0 0-15 16,0 0-60-16,0 0-175 16</inkml:trace>
  <inkml:trace contextRef="#ctx0" brushRef="#br0" timeOffset="12040.2">17244 7040 982 0,'0'0'146'0,"0"0"-110"16,0 0 62-16,0 0-30 16,0 0-47-16,0 0-12 15,2 4-6-15,-2 13 15 16,0 6-18-16,0-1-1 16,0 0-1-16,2-4-31 15,-2-4-82-15,0-6-316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49F00BC0-E8E3-41DB-A00C-3FF9ECB981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52326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4EF1AA-9FFD-459A-84EC-B3609E4AF12B}" type="slidenum">
              <a:rPr lang="en-US" altLang="zh-CN" smtClean="0"/>
              <a:pPr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6267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6C2892-5DBB-4F9A-8169-08D727B41EA6}" type="slidenum">
              <a:rPr lang="en-US" altLang="zh-CN"/>
              <a:pPr/>
              <a:t>66</a:t>
            </a:fld>
            <a:endParaRPr lang="en-US" altLang="zh-CN"/>
          </a:p>
        </p:txBody>
      </p:sp>
      <p:sp>
        <p:nvSpPr>
          <p:cNvPr id="415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5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71221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7D895A-E3D1-47A6-8E0A-59412DD78B5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7692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85800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318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CC7F9-DB5B-4EDE-9233-1B8D21D145F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9403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F3BA1-9DC8-46DC-8538-31FAE8E7FD7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1571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F2ABB-D7B3-483B-99F8-F9C115DAAE2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2480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3D993C-BC0C-49B1-BB24-1F871792356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9790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3A563B-4F8C-46EA-BA1B-9CAF9F16997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119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CAC546-14D7-4E7A-AF18-373238F0995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9934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EA8687-DD1B-4E80-8CAE-E3316603603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7938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23E08D-96A8-4CD7-8B3E-10E384E042C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7223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B8910-CCA9-4560-8A7C-DA9DD79E692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6165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7B6780F-6067-401F-89FC-E7FD42EE23F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8561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4DB5-ADEB-4BC5-855A-A658EE8737B3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362441-035F-4297-A6DB-931F7B3522F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38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85800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95C59-1118-440E-A24A-AF4CDD1041D6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84A2E-C1DA-4BA7-9F19-BEEF7279CB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370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584BC9-AEE8-47C0-AAF8-E5234469286C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30541-E96B-4239-BCD9-3BE43DB11D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855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58349-96B5-413C-B19E-E3D48C83A05A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86DDCB-EB61-4964-8ADD-9B14B58C466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486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5B7064-0914-4B14-BE63-7BD6F851BA63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7B0E3E-571A-4B4C-9ED0-897BC4E67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0087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67F72D-365E-4D59-A5C4-43853C0FF3A0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C7D0E-AC18-4D13-A55F-D36B7B7B20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3901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420DEE-BAD9-40FC-B8A8-B3376C498FD3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B097E-5343-4F68-B26B-AB417AB5878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396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1ACFC-2800-4136-8CC7-90FF30FF3E29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AFEE4-C49A-42A1-AA22-20B9ADA065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4845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311E6-C4EB-418E-82C6-9C29FEFBAD79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6F660-8623-4FC9-9CA8-BC693439C1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457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7379D9-794D-4211-869E-E0E863973AB4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355D6-5442-4B9D-83D6-FF0B85364D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936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204DD-0672-43D1-9DCE-C505E4FAE934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45F75A-6F91-4ED3-9F30-C75881EE45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6568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标题，两项小型内容和一项型大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3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4F869-481D-4836-8D17-6C28D2F7F8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1270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A93FDB-45EF-40FB-BACC-53AFAC8694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96333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4098925" y="6529388"/>
            <a:ext cx="982663" cy="214312"/>
          </a:xfrm>
        </p:spPr>
        <p:txBody>
          <a:bodyPr/>
          <a:lstStyle>
            <a:lvl1pPr>
              <a:defRPr/>
            </a:lvl1pPr>
          </a:lstStyle>
          <a:p>
            <a:fld id="{DDFA1AC3-0AEF-40EB-AE37-DCDBB194E18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23550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7B6780F-6067-401F-89FC-E7FD42EE23F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90625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4DB5-ADEB-4BC5-855A-A658EE8737B3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362441-035F-4297-A6DB-931F7B3522F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8744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85800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95C59-1118-440E-A24A-AF4CDD1041D6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84A2E-C1DA-4BA7-9F19-BEEF7279CB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7425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584BC9-AEE8-47C0-AAF8-E5234469286C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30541-E96B-4239-BCD9-3BE43DB11D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8332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58349-96B5-413C-B19E-E3D48C83A05A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86DDCB-EB61-4964-8ADD-9B14B58C466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5989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5B7064-0914-4B14-BE63-7BD6F851BA63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7B0E3E-571A-4B4C-9ED0-897BC4E67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6454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67F72D-365E-4D59-A5C4-43853C0FF3A0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C7D0E-AC18-4D13-A55F-D36B7B7B20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006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420DEE-BAD9-40FC-B8A8-B3376C498FD3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B097E-5343-4F68-B26B-AB417AB5878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738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1ACFC-2800-4136-8CC7-90FF30FF3E29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AFEE4-C49A-42A1-AA22-20B9ADA065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0498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311E6-C4EB-418E-82C6-9C29FEFBAD79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6F660-8623-4FC9-9CA8-BC693439C1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4889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7379D9-794D-4211-869E-E0E863973AB4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355D6-5442-4B9D-83D6-FF0B85364D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2681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204DD-0672-43D1-9DCE-C505E4FAE934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45F75A-6F91-4ED3-9F30-C75881EE45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357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D:\讲课比赛ppt\homepage-cs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" y="0"/>
            <a:ext cx="9140954" cy="5394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BA09DD8-4154-472A-B8A3-3CB8DD32179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50" t="16080" r="3538" b="3546"/>
          <a:stretch/>
        </p:blipFill>
        <p:spPr>
          <a:xfrm>
            <a:off x="0" y="3450237"/>
            <a:ext cx="914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7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71" r:id="rId1"/>
    <p:sldLayoutId id="2147484372" r:id="rId2"/>
    <p:sldLayoutId id="2147484373" r:id="rId3"/>
    <p:sldLayoutId id="2147484374" r:id="rId4"/>
    <p:sldLayoutId id="2147484375" r:id="rId5"/>
    <p:sldLayoutId id="2147484376" r:id="rId6"/>
    <p:sldLayoutId id="2147484377" r:id="rId7"/>
    <p:sldLayoutId id="2147484378" r:id="rId8"/>
    <p:sldLayoutId id="2147484379" r:id="rId9"/>
    <p:sldLayoutId id="2147484380" r:id="rId10"/>
    <p:sldLayoutId id="2147484381" r:id="rId11"/>
    <p:sldLayoutId id="2147484382" r:id="rId1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7E0C6E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7E0C6E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7E0C6E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7E0C6E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7E0C6E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7E0C6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D:\讲课比赛ppt\homepage-cs.png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" y="0"/>
            <a:ext cx="9140954" cy="5394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35E982A-7DC0-4938-9A1F-40E4006C0A81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FC5343A-0232-4065-B876-BBA83F5866F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8" name="Rectangle 1"/>
          <p:cNvSpPr/>
          <p:nvPr/>
        </p:nvSpPr>
        <p:spPr>
          <a:xfrm>
            <a:off x="0" y="1102772"/>
            <a:ext cx="9144900" cy="36000"/>
          </a:xfrm>
          <a:prstGeom prst="rect">
            <a:avLst/>
          </a:prstGeom>
          <a:gradFill>
            <a:gsLst>
              <a:gs pos="0">
                <a:srgbClr val="711A5F">
                  <a:lumMod val="100000"/>
                </a:srgbClr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Rectangle 1"/>
          <p:cNvSpPr/>
          <p:nvPr/>
        </p:nvSpPr>
        <p:spPr>
          <a:xfrm rot="10800000">
            <a:off x="-900" y="6223256"/>
            <a:ext cx="9144900" cy="36000"/>
          </a:xfrm>
          <a:prstGeom prst="rect">
            <a:avLst/>
          </a:prstGeom>
          <a:gradFill>
            <a:gsLst>
              <a:gs pos="0">
                <a:srgbClr val="711A5F">
                  <a:lumMod val="100000"/>
                </a:srgbClr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8" y="6279119"/>
            <a:ext cx="1521151" cy="5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101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4" r:id="rId1"/>
    <p:sldLayoutId id="2147484385" r:id="rId2"/>
    <p:sldLayoutId id="2147484386" r:id="rId3"/>
    <p:sldLayoutId id="2147484387" r:id="rId4"/>
    <p:sldLayoutId id="2147484388" r:id="rId5"/>
    <p:sldLayoutId id="2147484389" r:id="rId6"/>
    <p:sldLayoutId id="2147484390" r:id="rId7"/>
    <p:sldLayoutId id="2147484391" r:id="rId8"/>
    <p:sldLayoutId id="2147484392" r:id="rId9"/>
    <p:sldLayoutId id="2147484393" r:id="rId10"/>
    <p:sldLayoutId id="2147484394" r:id="rId11"/>
    <p:sldLayoutId id="2147484395" r:id="rId12"/>
    <p:sldLayoutId id="2147484396" r:id="rId13"/>
    <p:sldLayoutId id="2147484397" r:id="rId14"/>
    <p:sldLayoutId id="2147484410" r:id="rId1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7E0C6E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7E0C6E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7E0C6E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7E0C6E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7E0C6E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7E0C6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D:\讲课比赛ppt\homepage-cs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" y="0"/>
            <a:ext cx="9140954" cy="5394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35E982A-7DC0-4938-9A1F-40E4006C0A81}" type="datetime1">
              <a:rPr lang="zh-CN" altLang="en-US" smtClean="0"/>
              <a:pPr>
                <a:defRPr/>
              </a:pPr>
              <a:t>2022/6/13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FC5343A-0232-4065-B876-BBA83F5866F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-46000"/>
                    </a14:imgEffect>
                    <a14:imgEffect>
                      <a14:brightnessContrast bright="50000" contras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50" t="16080" r="3538" b="3546"/>
          <a:stretch/>
        </p:blipFill>
        <p:spPr>
          <a:xfrm>
            <a:off x="0" y="3429000"/>
            <a:ext cx="914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909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9" r:id="rId1"/>
    <p:sldLayoutId id="2147484400" r:id="rId2"/>
    <p:sldLayoutId id="2147484401" r:id="rId3"/>
    <p:sldLayoutId id="2147484402" r:id="rId4"/>
    <p:sldLayoutId id="2147484403" r:id="rId5"/>
    <p:sldLayoutId id="2147484404" r:id="rId6"/>
    <p:sldLayoutId id="2147484405" r:id="rId7"/>
    <p:sldLayoutId id="2147484406" r:id="rId8"/>
    <p:sldLayoutId id="2147484407" r:id="rId9"/>
    <p:sldLayoutId id="2147484408" r:id="rId10"/>
    <p:sldLayoutId id="2147484409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7E0C6E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7E0C6E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7E0C6E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7E0C6E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7E0C6E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7E0C6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22.wmf"/><Relationship Id="rId18" Type="http://schemas.openxmlformats.org/officeDocument/2006/relationships/image" Target="../media/image25.jpeg"/><Relationship Id="rId3" Type="http://schemas.openxmlformats.org/officeDocument/2006/relationships/image" Target="../media/image16.png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24.wmf"/><Relationship Id="rId2" Type="http://schemas.openxmlformats.org/officeDocument/2006/relationships/image" Target="../media/image15.png"/><Relationship Id="rId16" Type="http://schemas.openxmlformats.org/officeDocument/2006/relationships/oleObject" Target="../embeddings/oleObject15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1.wmf"/><Relationship Id="rId5" Type="http://schemas.openxmlformats.org/officeDocument/2006/relationships/image" Target="../media/image18.png"/><Relationship Id="rId15" Type="http://schemas.openxmlformats.org/officeDocument/2006/relationships/image" Target="../media/image23.wmf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26.png"/><Relationship Id="rId4" Type="http://schemas.openxmlformats.org/officeDocument/2006/relationships/image" Target="../media/image17.png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1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0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23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6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5.png"/><Relationship Id="rId5" Type="http://schemas.openxmlformats.org/officeDocument/2006/relationships/image" Target="../media/image47.wmf"/><Relationship Id="rId4" Type="http://schemas.openxmlformats.org/officeDocument/2006/relationships/oleObject" Target="../embeddings/oleObject26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49.wmf"/><Relationship Id="rId4" Type="http://schemas.openxmlformats.org/officeDocument/2006/relationships/oleObject" Target="../embeddings/oleObject28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7" Type="http://schemas.openxmlformats.org/officeDocument/2006/relationships/image" Target="../media/image58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57.wmf"/><Relationship Id="rId4" Type="http://schemas.openxmlformats.org/officeDocument/2006/relationships/oleObject" Target="../embeddings/oleObject32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0.wmf"/><Relationship Id="rId4" Type="http://schemas.openxmlformats.org/officeDocument/2006/relationships/oleObject" Target="../embeddings/oleObject35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9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5.wmf"/><Relationship Id="rId4" Type="http://schemas.openxmlformats.org/officeDocument/2006/relationships/oleObject" Target="../embeddings/oleObject41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7.wmf"/><Relationship Id="rId4" Type="http://schemas.openxmlformats.org/officeDocument/2006/relationships/oleObject" Target="../embeddings/oleObject43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9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71.w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9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40.emf"/><Relationship Id="rId4" Type="http://schemas.openxmlformats.org/officeDocument/2006/relationships/customXml" Target="../ink/ink3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oleObject" Target="../embeddings/oleObject48.bin"/><Relationship Id="rId7" Type="http://schemas.openxmlformats.org/officeDocument/2006/relationships/image" Target="../media/image83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940.emf"/><Relationship Id="rId4" Type="http://schemas.openxmlformats.org/officeDocument/2006/relationships/image" Target="../media/image85.w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9.wmf"/><Relationship Id="rId4" Type="http://schemas.openxmlformats.org/officeDocument/2006/relationships/oleObject" Target="../embeddings/oleObject52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oleObject" Target="../embeddings/oleObject53.bin"/><Relationship Id="rId7" Type="http://schemas.openxmlformats.org/officeDocument/2006/relationships/image" Target="../media/image9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2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91.w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3" Type="http://schemas.openxmlformats.org/officeDocument/2006/relationships/image" Target="../media/image95.wmf"/><Relationship Id="rId7" Type="http://schemas.openxmlformats.org/officeDocument/2006/relationships/image" Target="../media/image97.w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99.wmf"/><Relationship Id="rId5" Type="http://schemas.openxmlformats.org/officeDocument/2006/relationships/image" Target="../media/image96.wmf"/><Relationship Id="rId10" Type="http://schemas.openxmlformats.org/officeDocument/2006/relationships/oleObject" Target="../embeddings/oleObject59.bin"/><Relationship Id="rId4" Type="http://schemas.openxmlformats.org/officeDocument/2006/relationships/oleObject" Target="../embeddings/oleObject56.bin"/><Relationship Id="rId9" Type="http://schemas.openxmlformats.org/officeDocument/2006/relationships/image" Target="../media/image98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7" Type="http://schemas.openxmlformats.org/officeDocument/2006/relationships/image" Target="../media/image102.w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101.wmf"/><Relationship Id="rId4" Type="http://schemas.openxmlformats.org/officeDocument/2006/relationships/oleObject" Target="../embeddings/oleObject61.bin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104.wmf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0.png"/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7" Type="http://schemas.openxmlformats.org/officeDocument/2006/relationships/image" Target="../media/image110.w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69.bin"/><Relationship Id="rId5" Type="http://schemas.openxmlformats.org/officeDocument/2006/relationships/image" Target="../media/image109.wmf"/><Relationship Id="rId4" Type="http://schemas.openxmlformats.org/officeDocument/2006/relationships/oleObject" Target="../embeddings/oleObject68.bin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2.wmf"/><Relationship Id="rId4" Type="http://schemas.openxmlformats.org/officeDocument/2006/relationships/oleObject" Target="../embeddings/oleObject71.bin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4.wmf"/><Relationship Id="rId4" Type="http://schemas.openxmlformats.org/officeDocument/2006/relationships/oleObject" Target="../embeddings/oleObject73.bin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7" Type="http://schemas.openxmlformats.org/officeDocument/2006/relationships/image" Target="../media/image117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76.bin"/><Relationship Id="rId5" Type="http://schemas.openxmlformats.org/officeDocument/2006/relationships/image" Target="../media/image116.wmf"/><Relationship Id="rId4" Type="http://schemas.openxmlformats.org/officeDocument/2006/relationships/oleObject" Target="../embeddings/oleObject75.bin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1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13" Type="http://schemas.openxmlformats.org/officeDocument/2006/relationships/image" Target="../media/image124.wmf"/><Relationship Id="rId3" Type="http://schemas.openxmlformats.org/officeDocument/2006/relationships/image" Target="../media/image119.wmf"/><Relationship Id="rId7" Type="http://schemas.openxmlformats.org/officeDocument/2006/relationships/image" Target="../media/image121.wmf"/><Relationship Id="rId12" Type="http://schemas.openxmlformats.org/officeDocument/2006/relationships/oleObject" Target="../embeddings/oleObject83.bin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123.wmf"/><Relationship Id="rId5" Type="http://schemas.openxmlformats.org/officeDocument/2006/relationships/image" Target="../media/image120.wmf"/><Relationship Id="rId10" Type="http://schemas.openxmlformats.org/officeDocument/2006/relationships/oleObject" Target="../embeddings/oleObject82.bin"/><Relationship Id="rId4" Type="http://schemas.openxmlformats.org/officeDocument/2006/relationships/oleObject" Target="../embeddings/oleObject79.bin"/><Relationship Id="rId9" Type="http://schemas.openxmlformats.org/officeDocument/2006/relationships/image" Target="../media/image122.w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6.wmf"/><Relationship Id="rId4" Type="http://schemas.openxmlformats.org/officeDocument/2006/relationships/oleObject" Target="../embeddings/oleObject85.bin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7" Type="http://schemas.openxmlformats.org/officeDocument/2006/relationships/image" Target="../media/image129.wmf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88.bin"/><Relationship Id="rId5" Type="http://schemas.openxmlformats.org/officeDocument/2006/relationships/image" Target="../media/image128.wmf"/><Relationship Id="rId4" Type="http://schemas.openxmlformats.org/officeDocument/2006/relationships/oleObject" Target="../embeddings/oleObject87.bin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135.wmf"/><Relationship Id="rId3" Type="http://schemas.openxmlformats.org/officeDocument/2006/relationships/image" Target="../media/image130.wmf"/><Relationship Id="rId7" Type="http://schemas.openxmlformats.org/officeDocument/2006/relationships/image" Target="../media/image132.wmf"/><Relationship Id="rId12" Type="http://schemas.openxmlformats.org/officeDocument/2006/relationships/oleObject" Target="../embeddings/oleObject94.bin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134.wmf"/><Relationship Id="rId5" Type="http://schemas.openxmlformats.org/officeDocument/2006/relationships/image" Target="../media/image131.wmf"/><Relationship Id="rId10" Type="http://schemas.openxmlformats.org/officeDocument/2006/relationships/oleObject" Target="../embeddings/oleObject93.bin"/><Relationship Id="rId4" Type="http://schemas.openxmlformats.org/officeDocument/2006/relationships/oleObject" Target="../embeddings/oleObject90.bin"/><Relationship Id="rId9" Type="http://schemas.openxmlformats.org/officeDocument/2006/relationships/image" Target="../media/image133.w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7.wmf"/><Relationship Id="rId4" Type="http://schemas.openxmlformats.org/officeDocument/2006/relationships/oleObject" Target="../embeddings/oleObject96.bin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4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wmf"/><Relationship Id="rId7" Type="http://schemas.openxmlformats.org/officeDocument/2006/relationships/image" Target="../media/image142.wmf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99.bin"/><Relationship Id="rId5" Type="http://schemas.openxmlformats.org/officeDocument/2006/relationships/image" Target="../media/image141.wmf"/><Relationship Id="rId4" Type="http://schemas.openxmlformats.org/officeDocument/2006/relationships/oleObject" Target="../embeddings/oleObject98.bin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7" Type="http://schemas.openxmlformats.org/officeDocument/2006/relationships/image" Target="../media/image145.wmf"/><Relationship Id="rId2" Type="http://schemas.openxmlformats.org/officeDocument/2006/relationships/oleObject" Target="../embeddings/oleObject100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02.bin"/><Relationship Id="rId5" Type="http://schemas.openxmlformats.org/officeDocument/2006/relationships/image" Target="../media/image144.wmf"/><Relationship Id="rId4" Type="http://schemas.openxmlformats.org/officeDocument/2006/relationships/oleObject" Target="../embeddings/oleObject101.bin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oleObject" Target="../embeddings/oleObject103.bin"/><Relationship Id="rId1" Type="http://schemas.openxmlformats.org/officeDocument/2006/relationships/slideLayout" Target="../slideLayouts/slideLayout14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148.wmf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52.wmf"/><Relationship Id="rId4" Type="http://schemas.openxmlformats.org/officeDocument/2006/relationships/oleObject" Target="../embeddings/oleObject108.bin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4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oleObject" Target="../embeddings/oleObject109.bin"/><Relationship Id="rId1" Type="http://schemas.openxmlformats.org/officeDocument/2006/relationships/slideLayout" Target="../slideLayouts/slideLayout1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7" Type="http://schemas.openxmlformats.org/officeDocument/2006/relationships/image" Target="../media/image157.wmf"/><Relationship Id="rId2" Type="http://schemas.openxmlformats.org/officeDocument/2006/relationships/oleObject" Target="../embeddings/oleObject110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12.bin"/><Relationship Id="rId5" Type="http://schemas.openxmlformats.org/officeDocument/2006/relationships/image" Target="../media/image156.wmf"/><Relationship Id="rId4" Type="http://schemas.openxmlformats.org/officeDocument/2006/relationships/oleObject" Target="../embeddings/oleObject111.bin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0.png"/><Relationship Id="rId1" Type="http://schemas.openxmlformats.org/officeDocument/2006/relationships/slideLayout" Target="../slideLayouts/slideLayout1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2" Type="http://schemas.openxmlformats.org/officeDocument/2006/relationships/oleObject" Target="../embeddings/oleObject113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50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4.bin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0.w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59.wmf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3" Type="http://schemas.openxmlformats.org/officeDocument/2006/relationships/image" Target="../media/image161.wmf"/><Relationship Id="rId7" Type="http://schemas.openxmlformats.org/officeDocument/2006/relationships/image" Target="../media/image163.wmf"/><Relationship Id="rId2" Type="http://schemas.openxmlformats.org/officeDocument/2006/relationships/oleObject" Target="../embeddings/oleObject116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18.bin"/><Relationship Id="rId5" Type="http://schemas.openxmlformats.org/officeDocument/2006/relationships/image" Target="../media/image162.wmf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64.wmf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14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7D895A-E3D1-47A6-8E0A-59412DD78B53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143508" y="69269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上节内容回顾一</a:t>
            </a:r>
          </a:p>
        </p:txBody>
      </p:sp>
    </p:spTree>
    <p:extLst>
      <p:ext uri="{BB962C8B-B14F-4D97-AF65-F5344CB8AC3E}">
        <p14:creationId xmlns:p14="http://schemas.microsoft.com/office/powerpoint/2010/main" val="1552673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3A563B-4F8C-46EA-BA1B-9CAF9F169970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3" name="TextBox 2"/>
          <p:cNvSpPr txBox="1"/>
          <p:nvPr/>
        </p:nvSpPr>
        <p:spPr>
          <a:xfrm>
            <a:off x="143508" y="69269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上节内容回顾二</a:t>
            </a:r>
          </a:p>
        </p:txBody>
      </p:sp>
    </p:spTree>
    <p:extLst>
      <p:ext uri="{BB962C8B-B14F-4D97-AF65-F5344CB8AC3E}">
        <p14:creationId xmlns:p14="http://schemas.microsoft.com/office/powerpoint/2010/main" val="3579767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D288B82-3948-49E0-A6BC-76B4E692A220}" type="slidenum">
              <a:rPr lang="en-US" altLang="zh-CN" smtClean="0"/>
              <a:pPr/>
              <a:t>3</a:t>
            </a:fld>
            <a:endParaRPr lang="en-US" altLang="zh-CN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55576" y="1628800"/>
            <a:ext cx="7500938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b="1" kern="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第一章</a:t>
            </a:r>
            <a:br>
              <a:rPr lang="en-US" altLang="zh-CN" b="1" kern="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</a:br>
            <a:br>
              <a:rPr lang="en-US" altLang="zh-CN" sz="4800" b="1" kern="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zh-CN" altLang="en-US" sz="4800" b="1" kern="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真空中的静电场</a:t>
            </a:r>
            <a:endParaRPr lang="en-US" altLang="zh-CN" sz="4800" b="1" kern="0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defRPr/>
            </a:pPr>
            <a:r>
              <a:rPr lang="zh-CN" altLang="en-US" sz="4800" b="1" kern="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（三）</a:t>
            </a:r>
          </a:p>
        </p:txBody>
      </p:sp>
    </p:spTree>
  </p:cSld>
  <p:clrMapOvr>
    <a:masterClrMapping/>
  </p:clrMapOvr>
  <p:transition advTm="1312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3A563B-4F8C-46EA-BA1B-9CAF9F169970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4" name="标题 4"/>
          <p:cNvSpPr txBox="1">
            <a:spLocks/>
          </p:cNvSpPr>
          <p:nvPr/>
        </p:nvSpPr>
        <p:spPr>
          <a:xfrm>
            <a:off x="685800" y="440668"/>
            <a:ext cx="7772400" cy="60482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3600" kern="0" dirty="0">
                <a:latin typeface="仿宋" panose="02010609060101010101" pitchFamily="49" charset="-122"/>
                <a:ea typeface="仿宋" panose="02010609060101010101" pitchFamily="49" charset="-122"/>
              </a:rPr>
              <a:t>§5.</a:t>
            </a:r>
            <a:r>
              <a:rPr lang="zh-CN" altLang="en-US" sz="3600" kern="0" dirty="0">
                <a:latin typeface="仿宋" panose="02010609060101010101" pitchFamily="49" charset="-122"/>
                <a:ea typeface="仿宋" panose="02010609060101010101" pitchFamily="49" charset="-122"/>
              </a:rPr>
              <a:t>静电场中的导体，电容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755576" y="1988840"/>
            <a:ext cx="7776864" cy="34923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5000"/>
              </a:lnSpc>
              <a:buFontTx/>
              <a:buNone/>
            </a:pPr>
            <a:r>
              <a:rPr lang="en-US" altLang="zh-CN" sz="2800" kern="0" dirty="0"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en-US" sz="2800" kern="0" dirty="0">
                <a:latin typeface="仿宋" panose="02010609060101010101" pitchFamily="49" charset="-122"/>
                <a:ea typeface="仿宋" panose="02010609060101010101" pitchFamily="49" charset="-122"/>
              </a:rPr>
              <a:t>这一节讨论静电场与物质的相互作用。物质的内在电结构，是电场能够对其有所作用的内在依据，造成物质的电荷结构会出现某种变化，并反过来对场有所影响，这就是场与物质的相互作用。</a:t>
            </a:r>
            <a:endParaRPr lang="en-US" altLang="zh-CN" sz="2800" kern="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lnSpc>
                <a:spcPct val="125000"/>
              </a:lnSpc>
              <a:buFontTx/>
              <a:buNone/>
            </a:pPr>
            <a:r>
              <a:rPr lang="en-US" altLang="zh-CN" sz="2800" kern="0" dirty="0">
                <a:latin typeface="仿宋" panose="02010609060101010101" pitchFamily="49" charset="-122"/>
                <a:ea typeface="仿宋" panose="02010609060101010101" pitchFamily="49" charset="-122"/>
              </a:rPr>
              <a:t>     </a:t>
            </a:r>
            <a:endParaRPr lang="zh-CN" altLang="en-US" sz="2800" kern="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4558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3A563B-4F8C-46EA-BA1B-9CAF9F169970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3" name="Text Box 35"/>
          <p:cNvSpPr txBox="1">
            <a:spLocks noChangeArrowheads="1"/>
          </p:cNvSpPr>
          <p:nvPr/>
        </p:nvSpPr>
        <p:spPr bwMode="gray">
          <a:xfrm>
            <a:off x="753269" y="5203540"/>
            <a:ext cx="7829550" cy="7080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4000" b="1">
                <a:solidFill>
                  <a:srgbClr val="99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魔术师大卫</a:t>
            </a:r>
            <a:r>
              <a:rPr lang="en-US" altLang="zh-CN" sz="4000" b="1">
                <a:solidFill>
                  <a:srgbClr val="99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4000" b="1">
                <a:solidFill>
                  <a:srgbClr val="99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布莱恩高压电击表演</a:t>
            </a:r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202898"/>
            <a:ext cx="4800600" cy="377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1118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3A563B-4F8C-46EA-BA1B-9CAF9F169970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573032" y="1556792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kern="0" dirty="0">
                <a:latin typeface="仿宋" panose="02010609060101010101" pitchFamily="49" charset="-122"/>
                <a:ea typeface="仿宋" panose="02010609060101010101" pitchFamily="49" charset="-122"/>
              </a:rPr>
              <a:t>物质</a:t>
            </a:r>
            <a:endParaRPr lang="zh-CN" altLang="en-US" sz="2400" dirty="0"/>
          </a:p>
        </p:txBody>
      </p:sp>
      <p:sp>
        <p:nvSpPr>
          <p:cNvPr id="5" name="左大括号 4"/>
          <p:cNvSpPr/>
          <p:nvPr/>
        </p:nvSpPr>
        <p:spPr bwMode="auto">
          <a:xfrm>
            <a:off x="2437128" y="1232756"/>
            <a:ext cx="144016" cy="108012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94123" y="1082483"/>
            <a:ext cx="8002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kern="0" dirty="0">
                <a:latin typeface="仿宋" panose="02010609060101010101" pitchFamily="49" charset="-122"/>
                <a:ea typeface="仿宋" panose="02010609060101010101" pitchFamily="49" charset="-122"/>
              </a:rPr>
              <a:t>导体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2679282" y="2082043"/>
            <a:ext cx="11079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kern="0" dirty="0">
                <a:latin typeface="仿宋" panose="02010609060101010101" pitchFamily="49" charset="-122"/>
                <a:ea typeface="仿宋" panose="02010609060101010101" pitchFamily="49" charset="-122"/>
              </a:rPr>
              <a:t>绝缘体</a:t>
            </a:r>
          </a:p>
        </p:txBody>
      </p:sp>
      <p:sp>
        <p:nvSpPr>
          <p:cNvPr id="8" name="矩形 7"/>
          <p:cNvSpPr/>
          <p:nvPr/>
        </p:nvSpPr>
        <p:spPr>
          <a:xfrm>
            <a:off x="5004048" y="107136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kern="0" dirty="0">
                <a:latin typeface="仿宋" panose="02010609060101010101" pitchFamily="49" charset="-122"/>
                <a:ea typeface="仿宋" panose="02010609060101010101" pitchFamily="49" charset="-122"/>
              </a:rPr>
              <a:t>自由电荷</a:t>
            </a:r>
            <a:endParaRPr lang="zh-CN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4633372" y="2096578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kern="0" dirty="0">
                <a:latin typeface="仿宋" panose="02010609060101010101" pitchFamily="49" charset="-122"/>
                <a:ea typeface="仿宋" panose="02010609060101010101" pitchFamily="49" charset="-122"/>
              </a:rPr>
              <a:t>束缚（极化）电荷</a:t>
            </a:r>
            <a:endParaRPr lang="zh-CN" altLang="en-US" sz="2400" dirty="0"/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683569" y="3068686"/>
            <a:ext cx="777463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导体（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conductor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）：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存在大量的可自由移动的电荷，包括金属、电解液、等离子体、超导体。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导体放入静电场后，二者产生相互作用：导体中的自由电荷在静电场的作用下，会重新分布；静电场会受到导体中自由电荷的影响而发生变化。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我们这里只讨论金属导体，所得结论有的也适用于其它导体。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810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3A563B-4F8C-46EA-BA1B-9CAF9F169970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1295636" y="2132856"/>
            <a:ext cx="3048000" cy="3124200"/>
            <a:chOff x="576" y="1611"/>
            <a:chExt cx="2103" cy="2160"/>
          </a:xfrm>
        </p:grpSpPr>
        <p:grpSp>
          <p:nvGrpSpPr>
            <p:cNvPr id="4" name="Group 3"/>
            <p:cNvGrpSpPr>
              <a:grpSpLocks/>
            </p:cNvGrpSpPr>
            <p:nvPr/>
          </p:nvGrpSpPr>
          <p:grpSpPr bwMode="auto">
            <a:xfrm>
              <a:off x="576" y="1611"/>
              <a:ext cx="2103" cy="2160"/>
              <a:chOff x="3264" y="1872"/>
              <a:chExt cx="2103" cy="2160"/>
            </a:xfrm>
          </p:grpSpPr>
          <p:sp>
            <p:nvSpPr>
              <p:cNvPr id="8" name="Line 4"/>
              <p:cNvSpPr>
                <a:spLocks noChangeShapeType="1"/>
              </p:cNvSpPr>
              <p:nvPr/>
            </p:nvSpPr>
            <p:spPr bwMode="auto">
              <a:xfrm flipH="1">
                <a:off x="3321" y="2993"/>
                <a:ext cx="1989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5282" y="2964"/>
                <a:ext cx="85" cy="59"/>
              </a:xfrm>
              <a:custGeom>
                <a:avLst/>
                <a:gdLst>
                  <a:gd name="T0" fmla="*/ 0 w 99"/>
                  <a:gd name="T1" fmla="*/ 67 h 67"/>
                  <a:gd name="T2" fmla="*/ 99 w 99"/>
                  <a:gd name="T3" fmla="*/ 33 h 67"/>
                  <a:gd name="T4" fmla="*/ 0 w 99"/>
                  <a:gd name="T5" fmla="*/ 0 h 67"/>
                  <a:gd name="T6" fmla="*/ 31 w 99"/>
                  <a:gd name="T7" fmla="*/ 33 h 67"/>
                  <a:gd name="T8" fmla="*/ 0 w 99"/>
                  <a:gd name="T9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9" h="67">
                    <a:moveTo>
                      <a:pt x="0" y="67"/>
                    </a:moveTo>
                    <a:lnTo>
                      <a:pt x="99" y="33"/>
                    </a:lnTo>
                    <a:lnTo>
                      <a:pt x="0" y="0"/>
                    </a:lnTo>
                    <a:lnTo>
                      <a:pt x="31" y="33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FF0000"/>
              </a:solidFill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6"/>
              <p:cNvSpPr>
                <a:spLocks/>
              </p:cNvSpPr>
              <p:nvPr/>
            </p:nvSpPr>
            <p:spPr bwMode="auto">
              <a:xfrm>
                <a:off x="3264" y="2963"/>
                <a:ext cx="85" cy="59"/>
              </a:xfrm>
              <a:custGeom>
                <a:avLst/>
                <a:gdLst>
                  <a:gd name="T0" fmla="*/ 99 w 99"/>
                  <a:gd name="T1" fmla="*/ 0 h 67"/>
                  <a:gd name="T2" fmla="*/ 0 w 99"/>
                  <a:gd name="T3" fmla="*/ 34 h 67"/>
                  <a:gd name="T4" fmla="*/ 99 w 99"/>
                  <a:gd name="T5" fmla="*/ 67 h 67"/>
                  <a:gd name="T6" fmla="*/ 68 w 99"/>
                  <a:gd name="T7" fmla="*/ 34 h 67"/>
                  <a:gd name="T8" fmla="*/ 99 w 99"/>
                  <a:gd name="T9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9" h="67">
                    <a:moveTo>
                      <a:pt x="99" y="0"/>
                    </a:moveTo>
                    <a:lnTo>
                      <a:pt x="0" y="34"/>
                    </a:lnTo>
                    <a:lnTo>
                      <a:pt x="99" y="67"/>
                    </a:lnTo>
                    <a:lnTo>
                      <a:pt x="68" y="34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FF0000"/>
              </a:solidFill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 flipH="1" flipV="1">
                <a:off x="3341" y="2613"/>
                <a:ext cx="1846" cy="76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8"/>
              <p:cNvSpPr>
                <a:spLocks/>
              </p:cNvSpPr>
              <p:nvPr/>
            </p:nvSpPr>
            <p:spPr bwMode="auto">
              <a:xfrm>
                <a:off x="5172" y="3343"/>
                <a:ext cx="90" cy="59"/>
              </a:xfrm>
              <a:custGeom>
                <a:avLst/>
                <a:gdLst>
                  <a:gd name="T0" fmla="*/ 0 w 105"/>
                  <a:gd name="T1" fmla="*/ 62 h 67"/>
                  <a:gd name="T2" fmla="*/ 105 w 105"/>
                  <a:gd name="T3" fmla="*/ 67 h 67"/>
                  <a:gd name="T4" fmla="*/ 25 w 105"/>
                  <a:gd name="T5" fmla="*/ 0 h 67"/>
                  <a:gd name="T6" fmla="*/ 42 w 105"/>
                  <a:gd name="T7" fmla="*/ 42 h 67"/>
                  <a:gd name="T8" fmla="*/ 0 w 105"/>
                  <a:gd name="T9" fmla="*/ 6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67">
                    <a:moveTo>
                      <a:pt x="0" y="62"/>
                    </a:moveTo>
                    <a:lnTo>
                      <a:pt x="105" y="67"/>
                    </a:lnTo>
                    <a:lnTo>
                      <a:pt x="25" y="0"/>
                    </a:lnTo>
                    <a:lnTo>
                      <a:pt x="42" y="42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FF0000"/>
              </a:solidFill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9"/>
              <p:cNvSpPr>
                <a:spLocks/>
              </p:cNvSpPr>
              <p:nvPr/>
            </p:nvSpPr>
            <p:spPr bwMode="auto">
              <a:xfrm>
                <a:off x="3312" y="2592"/>
                <a:ext cx="90" cy="59"/>
              </a:xfrm>
              <a:custGeom>
                <a:avLst/>
                <a:gdLst>
                  <a:gd name="T0" fmla="*/ 105 w 105"/>
                  <a:gd name="T1" fmla="*/ 5 h 67"/>
                  <a:gd name="T2" fmla="*/ 0 w 105"/>
                  <a:gd name="T3" fmla="*/ 0 h 67"/>
                  <a:gd name="T4" fmla="*/ 80 w 105"/>
                  <a:gd name="T5" fmla="*/ 67 h 67"/>
                  <a:gd name="T6" fmla="*/ 63 w 105"/>
                  <a:gd name="T7" fmla="*/ 25 h 67"/>
                  <a:gd name="T8" fmla="*/ 105 w 105"/>
                  <a:gd name="T9" fmla="*/ 5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67">
                    <a:moveTo>
                      <a:pt x="105" y="5"/>
                    </a:moveTo>
                    <a:lnTo>
                      <a:pt x="0" y="0"/>
                    </a:lnTo>
                    <a:lnTo>
                      <a:pt x="80" y="67"/>
                    </a:lnTo>
                    <a:lnTo>
                      <a:pt x="63" y="25"/>
                    </a:lnTo>
                    <a:lnTo>
                      <a:pt x="105" y="5"/>
                    </a:lnTo>
                    <a:close/>
                  </a:path>
                </a:pathLst>
              </a:custGeom>
              <a:solidFill>
                <a:srgbClr val="FF0000"/>
              </a:solidFill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10"/>
              <p:cNvSpPr>
                <a:spLocks noChangeShapeType="1"/>
              </p:cNvSpPr>
              <p:nvPr/>
            </p:nvSpPr>
            <p:spPr bwMode="auto">
              <a:xfrm flipH="1" flipV="1">
                <a:off x="3544" y="2296"/>
                <a:ext cx="1460" cy="141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1"/>
              <p:cNvSpPr>
                <a:spLocks/>
              </p:cNvSpPr>
              <p:nvPr/>
            </p:nvSpPr>
            <p:spPr bwMode="auto">
              <a:xfrm>
                <a:off x="4962" y="3666"/>
                <a:ext cx="82" cy="81"/>
              </a:xfrm>
              <a:custGeom>
                <a:avLst/>
                <a:gdLst>
                  <a:gd name="T0" fmla="*/ 0 w 95"/>
                  <a:gd name="T1" fmla="*/ 48 h 92"/>
                  <a:gd name="T2" fmla="*/ 95 w 95"/>
                  <a:gd name="T3" fmla="*/ 92 h 92"/>
                  <a:gd name="T4" fmla="*/ 46 w 95"/>
                  <a:gd name="T5" fmla="*/ 0 h 92"/>
                  <a:gd name="T6" fmla="*/ 46 w 95"/>
                  <a:gd name="T7" fmla="*/ 45 h 92"/>
                  <a:gd name="T8" fmla="*/ 0 w 95"/>
                  <a:gd name="T9" fmla="*/ 4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92">
                    <a:moveTo>
                      <a:pt x="0" y="48"/>
                    </a:moveTo>
                    <a:lnTo>
                      <a:pt x="95" y="92"/>
                    </a:lnTo>
                    <a:lnTo>
                      <a:pt x="46" y="0"/>
                    </a:lnTo>
                    <a:lnTo>
                      <a:pt x="46" y="45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FF0000"/>
              </a:solidFill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Freeform 12"/>
              <p:cNvSpPr>
                <a:spLocks/>
              </p:cNvSpPr>
              <p:nvPr/>
            </p:nvSpPr>
            <p:spPr bwMode="auto">
              <a:xfrm>
                <a:off x="3504" y="2256"/>
                <a:ext cx="82" cy="81"/>
              </a:xfrm>
              <a:custGeom>
                <a:avLst/>
                <a:gdLst>
                  <a:gd name="T0" fmla="*/ 95 w 95"/>
                  <a:gd name="T1" fmla="*/ 44 h 92"/>
                  <a:gd name="T2" fmla="*/ 0 w 95"/>
                  <a:gd name="T3" fmla="*/ 0 h 92"/>
                  <a:gd name="T4" fmla="*/ 49 w 95"/>
                  <a:gd name="T5" fmla="*/ 92 h 92"/>
                  <a:gd name="T6" fmla="*/ 49 w 95"/>
                  <a:gd name="T7" fmla="*/ 47 h 92"/>
                  <a:gd name="T8" fmla="*/ 95 w 95"/>
                  <a:gd name="T9" fmla="*/ 4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92">
                    <a:moveTo>
                      <a:pt x="95" y="44"/>
                    </a:moveTo>
                    <a:lnTo>
                      <a:pt x="0" y="0"/>
                    </a:lnTo>
                    <a:lnTo>
                      <a:pt x="49" y="92"/>
                    </a:lnTo>
                    <a:lnTo>
                      <a:pt x="49" y="47"/>
                    </a:lnTo>
                    <a:lnTo>
                      <a:pt x="95" y="44"/>
                    </a:lnTo>
                    <a:close/>
                  </a:path>
                </a:pathLst>
              </a:custGeom>
              <a:solidFill>
                <a:srgbClr val="FF0000"/>
              </a:solidFill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 flipH="1">
                <a:off x="3911" y="2027"/>
                <a:ext cx="785" cy="185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4"/>
              <p:cNvSpPr>
                <a:spLocks/>
              </p:cNvSpPr>
              <p:nvPr/>
            </p:nvSpPr>
            <p:spPr bwMode="auto">
              <a:xfrm>
                <a:off x="4659" y="1974"/>
                <a:ext cx="60" cy="92"/>
              </a:xfrm>
              <a:custGeom>
                <a:avLst/>
                <a:gdLst>
                  <a:gd name="T0" fmla="*/ 62 w 70"/>
                  <a:gd name="T1" fmla="*/ 104 h 104"/>
                  <a:gd name="T2" fmla="*/ 70 w 70"/>
                  <a:gd name="T3" fmla="*/ 0 h 104"/>
                  <a:gd name="T4" fmla="*/ 0 w 70"/>
                  <a:gd name="T5" fmla="*/ 78 h 104"/>
                  <a:gd name="T6" fmla="*/ 43 w 70"/>
                  <a:gd name="T7" fmla="*/ 62 h 104"/>
                  <a:gd name="T8" fmla="*/ 62 w 70"/>
                  <a:gd name="T9" fmla="*/ 10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" h="104">
                    <a:moveTo>
                      <a:pt x="62" y="104"/>
                    </a:moveTo>
                    <a:lnTo>
                      <a:pt x="70" y="0"/>
                    </a:lnTo>
                    <a:lnTo>
                      <a:pt x="0" y="78"/>
                    </a:lnTo>
                    <a:lnTo>
                      <a:pt x="43" y="62"/>
                    </a:lnTo>
                    <a:lnTo>
                      <a:pt x="62" y="104"/>
                    </a:lnTo>
                    <a:close/>
                  </a:path>
                </a:pathLst>
              </a:custGeom>
              <a:solidFill>
                <a:srgbClr val="FF0000"/>
              </a:solidFill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5"/>
              <p:cNvSpPr>
                <a:spLocks/>
              </p:cNvSpPr>
              <p:nvPr/>
            </p:nvSpPr>
            <p:spPr bwMode="auto">
              <a:xfrm>
                <a:off x="3888" y="3846"/>
                <a:ext cx="60" cy="92"/>
              </a:xfrm>
              <a:custGeom>
                <a:avLst/>
                <a:gdLst>
                  <a:gd name="T0" fmla="*/ 8 w 70"/>
                  <a:gd name="T1" fmla="*/ 0 h 104"/>
                  <a:gd name="T2" fmla="*/ 0 w 70"/>
                  <a:gd name="T3" fmla="*/ 104 h 104"/>
                  <a:gd name="T4" fmla="*/ 70 w 70"/>
                  <a:gd name="T5" fmla="*/ 26 h 104"/>
                  <a:gd name="T6" fmla="*/ 27 w 70"/>
                  <a:gd name="T7" fmla="*/ 42 h 104"/>
                  <a:gd name="T8" fmla="*/ 8 w 70"/>
                  <a:gd name="T9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" h="104">
                    <a:moveTo>
                      <a:pt x="8" y="0"/>
                    </a:moveTo>
                    <a:lnTo>
                      <a:pt x="0" y="104"/>
                    </a:lnTo>
                    <a:lnTo>
                      <a:pt x="70" y="26"/>
                    </a:lnTo>
                    <a:lnTo>
                      <a:pt x="27" y="4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0000"/>
              </a:solidFill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16"/>
              <p:cNvSpPr>
                <a:spLocks noChangeShapeType="1"/>
              </p:cNvSpPr>
              <p:nvPr/>
            </p:nvSpPr>
            <p:spPr bwMode="auto">
              <a:xfrm flipH="1">
                <a:off x="3381" y="2645"/>
                <a:ext cx="1870" cy="69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17"/>
              <p:cNvSpPr>
                <a:spLocks/>
              </p:cNvSpPr>
              <p:nvPr/>
            </p:nvSpPr>
            <p:spPr bwMode="auto">
              <a:xfrm>
                <a:off x="5215" y="2625"/>
                <a:ext cx="89" cy="57"/>
              </a:xfrm>
              <a:custGeom>
                <a:avLst/>
                <a:gdLst>
                  <a:gd name="T0" fmla="*/ 22 w 104"/>
                  <a:gd name="T1" fmla="*/ 65 h 65"/>
                  <a:gd name="T2" fmla="*/ 104 w 104"/>
                  <a:gd name="T3" fmla="*/ 0 h 65"/>
                  <a:gd name="T4" fmla="*/ 0 w 104"/>
                  <a:gd name="T5" fmla="*/ 2 h 65"/>
                  <a:gd name="T6" fmla="*/ 40 w 104"/>
                  <a:gd name="T7" fmla="*/ 23 h 65"/>
                  <a:gd name="T8" fmla="*/ 22 w 104"/>
                  <a:gd name="T9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" h="65">
                    <a:moveTo>
                      <a:pt x="22" y="65"/>
                    </a:moveTo>
                    <a:lnTo>
                      <a:pt x="104" y="0"/>
                    </a:lnTo>
                    <a:lnTo>
                      <a:pt x="0" y="2"/>
                    </a:lnTo>
                    <a:lnTo>
                      <a:pt x="40" y="23"/>
                    </a:lnTo>
                    <a:lnTo>
                      <a:pt x="22" y="65"/>
                    </a:lnTo>
                    <a:close/>
                  </a:path>
                </a:pathLst>
              </a:custGeom>
              <a:solidFill>
                <a:srgbClr val="FF0000"/>
              </a:solidFill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18"/>
              <p:cNvSpPr>
                <a:spLocks/>
              </p:cNvSpPr>
              <p:nvPr/>
            </p:nvSpPr>
            <p:spPr bwMode="auto">
              <a:xfrm>
                <a:off x="3328" y="3305"/>
                <a:ext cx="89" cy="57"/>
              </a:xfrm>
              <a:custGeom>
                <a:avLst/>
                <a:gdLst>
                  <a:gd name="T0" fmla="*/ 82 w 104"/>
                  <a:gd name="T1" fmla="*/ 0 h 65"/>
                  <a:gd name="T2" fmla="*/ 0 w 104"/>
                  <a:gd name="T3" fmla="*/ 65 h 65"/>
                  <a:gd name="T4" fmla="*/ 104 w 104"/>
                  <a:gd name="T5" fmla="*/ 63 h 65"/>
                  <a:gd name="T6" fmla="*/ 64 w 104"/>
                  <a:gd name="T7" fmla="*/ 42 h 65"/>
                  <a:gd name="T8" fmla="*/ 82 w 104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" h="65">
                    <a:moveTo>
                      <a:pt x="82" y="0"/>
                    </a:moveTo>
                    <a:lnTo>
                      <a:pt x="0" y="65"/>
                    </a:lnTo>
                    <a:lnTo>
                      <a:pt x="104" y="63"/>
                    </a:lnTo>
                    <a:lnTo>
                      <a:pt x="64" y="42"/>
                    </a:ln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FF0000"/>
              </a:solidFill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19"/>
              <p:cNvSpPr>
                <a:spLocks noChangeShapeType="1"/>
              </p:cNvSpPr>
              <p:nvPr/>
            </p:nvSpPr>
            <p:spPr bwMode="auto">
              <a:xfrm flipV="1">
                <a:off x="3600" y="2241"/>
                <a:ext cx="1433" cy="142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20"/>
              <p:cNvSpPr>
                <a:spLocks/>
              </p:cNvSpPr>
              <p:nvPr/>
            </p:nvSpPr>
            <p:spPr bwMode="auto">
              <a:xfrm>
                <a:off x="3560" y="3619"/>
                <a:ext cx="81" cy="82"/>
              </a:xfrm>
              <a:custGeom>
                <a:avLst/>
                <a:gdLst>
                  <a:gd name="T0" fmla="*/ 48 w 94"/>
                  <a:gd name="T1" fmla="*/ 0 h 93"/>
                  <a:gd name="T2" fmla="*/ 0 w 94"/>
                  <a:gd name="T3" fmla="*/ 93 h 93"/>
                  <a:gd name="T4" fmla="*/ 94 w 94"/>
                  <a:gd name="T5" fmla="*/ 48 h 93"/>
                  <a:gd name="T6" fmla="*/ 49 w 94"/>
                  <a:gd name="T7" fmla="*/ 46 h 93"/>
                  <a:gd name="T8" fmla="*/ 48 w 94"/>
                  <a:gd name="T9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93">
                    <a:moveTo>
                      <a:pt x="48" y="0"/>
                    </a:moveTo>
                    <a:lnTo>
                      <a:pt x="0" y="93"/>
                    </a:lnTo>
                    <a:lnTo>
                      <a:pt x="94" y="48"/>
                    </a:lnTo>
                    <a:lnTo>
                      <a:pt x="49" y="46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FF0000"/>
              </a:solidFill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21"/>
              <p:cNvSpPr>
                <a:spLocks/>
              </p:cNvSpPr>
              <p:nvPr/>
            </p:nvSpPr>
            <p:spPr bwMode="auto">
              <a:xfrm>
                <a:off x="4992" y="2201"/>
                <a:ext cx="81" cy="82"/>
              </a:xfrm>
              <a:custGeom>
                <a:avLst/>
                <a:gdLst>
                  <a:gd name="T0" fmla="*/ 46 w 94"/>
                  <a:gd name="T1" fmla="*/ 93 h 93"/>
                  <a:gd name="T2" fmla="*/ 94 w 94"/>
                  <a:gd name="T3" fmla="*/ 0 h 93"/>
                  <a:gd name="T4" fmla="*/ 0 w 94"/>
                  <a:gd name="T5" fmla="*/ 45 h 93"/>
                  <a:gd name="T6" fmla="*/ 45 w 94"/>
                  <a:gd name="T7" fmla="*/ 47 h 93"/>
                  <a:gd name="T8" fmla="*/ 46 w 94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93">
                    <a:moveTo>
                      <a:pt x="46" y="93"/>
                    </a:moveTo>
                    <a:lnTo>
                      <a:pt x="94" y="0"/>
                    </a:lnTo>
                    <a:lnTo>
                      <a:pt x="0" y="45"/>
                    </a:lnTo>
                    <a:lnTo>
                      <a:pt x="45" y="47"/>
                    </a:lnTo>
                    <a:lnTo>
                      <a:pt x="46" y="93"/>
                    </a:lnTo>
                    <a:close/>
                  </a:path>
                </a:pathLst>
              </a:custGeom>
              <a:solidFill>
                <a:srgbClr val="FF0000"/>
              </a:solidFill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22"/>
              <p:cNvSpPr>
                <a:spLocks noChangeShapeType="1"/>
              </p:cNvSpPr>
              <p:nvPr/>
            </p:nvSpPr>
            <p:spPr bwMode="auto">
              <a:xfrm flipV="1">
                <a:off x="4274" y="1930"/>
                <a:ext cx="1" cy="20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Freeform 23"/>
              <p:cNvSpPr>
                <a:spLocks/>
              </p:cNvSpPr>
              <p:nvPr/>
            </p:nvSpPr>
            <p:spPr bwMode="auto">
              <a:xfrm>
                <a:off x="4245" y="3945"/>
                <a:ext cx="57" cy="87"/>
              </a:xfrm>
              <a:custGeom>
                <a:avLst/>
                <a:gdLst>
                  <a:gd name="T0" fmla="*/ 0 w 67"/>
                  <a:gd name="T1" fmla="*/ 0 h 99"/>
                  <a:gd name="T2" fmla="*/ 34 w 67"/>
                  <a:gd name="T3" fmla="*/ 99 h 99"/>
                  <a:gd name="T4" fmla="*/ 67 w 67"/>
                  <a:gd name="T5" fmla="*/ 0 h 99"/>
                  <a:gd name="T6" fmla="*/ 34 w 67"/>
                  <a:gd name="T7" fmla="*/ 31 h 99"/>
                  <a:gd name="T8" fmla="*/ 0 w 67"/>
                  <a:gd name="T9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99">
                    <a:moveTo>
                      <a:pt x="0" y="0"/>
                    </a:moveTo>
                    <a:lnTo>
                      <a:pt x="34" y="99"/>
                    </a:lnTo>
                    <a:lnTo>
                      <a:pt x="67" y="0"/>
                    </a:lnTo>
                    <a:lnTo>
                      <a:pt x="3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24"/>
              <p:cNvSpPr>
                <a:spLocks/>
              </p:cNvSpPr>
              <p:nvPr/>
            </p:nvSpPr>
            <p:spPr bwMode="auto">
              <a:xfrm>
                <a:off x="4246" y="1872"/>
                <a:ext cx="57" cy="87"/>
              </a:xfrm>
              <a:custGeom>
                <a:avLst/>
                <a:gdLst>
                  <a:gd name="T0" fmla="*/ 67 w 67"/>
                  <a:gd name="T1" fmla="*/ 99 h 99"/>
                  <a:gd name="T2" fmla="*/ 33 w 67"/>
                  <a:gd name="T3" fmla="*/ 0 h 99"/>
                  <a:gd name="T4" fmla="*/ 0 w 67"/>
                  <a:gd name="T5" fmla="*/ 99 h 99"/>
                  <a:gd name="T6" fmla="*/ 33 w 67"/>
                  <a:gd name="T7" fmla="*/ 68 h 99"/>
                  <a:gd name="T8" fmla="*/ 67 w 67"/>
                  <a:gd name="T9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99">
                    <a:moveTo>
                      <a:pt x="67" y="99"/>
                    </a:moveTo>
                    <a:lnTo>
                      <a:pt x="33" y="0"/>
                    </a:lnTo>
                    <a:lnTo>
                      <a:pt x="0" y="99"/>
                    </a:lnTo>
                    <a:lnTo>
                      <a:pt x="33" y="68"/>
                    </a:lnTo>
                    <a:lnTo>
                      <a:pt x="67" y="99"/>
                    </a:lnTo>
                    <a:close/>
                  </a:path>
                </a:pathLst>
              </a:custGeom>
              <a:solidFill>
                <a:srgbClr val="FF0000"/>
              </a:solidFill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25"/>
              <p:cNvSpPr>
                <a:spLocks noChangeShapeType="1"/>
              </p:cNvSpPr>
              <p:nvPr/>
            </p:nvSpPr>
            <p:spPr bwMode="auto">
              <a:xfrm flipH="1" flipV="1">
                <a:off x="3871" y="2018"/>
                <a:ext cx="808" cy="186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26"/>
              <p:cNvSpPr>
                <a:spLocks/>
              </p:cNvSpPr>
              <p:nvPr/>
            </p:nvSpPr>
            <p:spPr bwMode="auto">
              <a:xfrm>
                <a:off x="4641" y="3846"/>
                <a:ext cx="62" cy="92"/>
              </a:xfrm>
              <a:custGeom>
                <a:avLst/>
                <a:gdLst>
                  <a:gd name="T0" fmla="*/ 0 w 72"/>
                  <a:gd name="T1" fmla="*/ 28 h 104"/>
                  <a:gd name="T2" fmla="*/ 72 w 72"/>
                  <a:gd name="T3" fmla="*/ 104 h 104"/>
                  <a:gd name="T4" fmla="*/ 61 w 72"/>
                  <a:gd name="T5" fmla="*/ 0 h 104"/>
                  <a:gd name="T6" fmla="*/ 44 w 72"/>
                  <a:gd name="T7" fmla="*/ 42 h 104"/>
                  <a:gd name="T8" fmla="*/ 0 w 72"/>
                  <a:gd name="T9" fmla="*/ 28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" h="104">
                    <a:moveTo>
                      <a:pt x="0" y="28"/>
                    </a:moveTo>
                    <a:lnTo>
                      <a:pt x="72" y="104"/>
                    </a:lnTo>
                    <a:lnTo>
                      <a:pt x="61" y="0"/>
                    </a:lnTo>
                    <a:lnTo>
                      <a:pt x="44" y="42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0000"/>
              </a:solidFill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27"/>
              <p:cNvSpPr>
                <a:spLocks/>
              </p:cNvSpPr>
              <p:nvPr/>
            </p:nvSpPr>
            <p:spPr bwMode="auto">
              <a:xfrm>
                <a:off x="3847" y="1965"/>
                <a:ext cx="62" cy="92"/>
              </a:xfrm>
              <a:custGeom>
                <a:avLst/>
                <a:gdLst>
                  <a:gd name="T0" fmla="*/ 72 w 72"/>
                  <a:gd name="T1" fmla="*/ 76 h 104"/>
                  <a:gd name="T2" fmla="*/ 0 w 72"/>
                  <a:gd name="T3" fmla="*/ 0 h 104"/>
                  <a:gd name="T4" fmla="*/ 11 w 72"/>
                  <a:gd name="T5" fmla="*/ 104 h 104"/>
                  <a:gd name="T6" fmla="*/ 28 w 72"/>
                  <a:gd name="T7" fmla="*/ 62 h 104"/>
                  <a:gd name="T8" fmla="*/ 72 w 72"/>
                  <a:gd name="T9" fmla="*/ 76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" h="104">
                    <a:moveTo>
                      <a:pt x="72" y="76"/>
                    </a:moveTo>
                    <a:lnTo>
                      <a:pt x="0" y="0"/>
                    </a:lnTo>
                    <a:lnTo>
                      <a:pt x="11" y="104"/>
                    </a:lnTo>
                    <a:lnTo>
                      <a:pt x="28" y="62"/>
                    </a:lnTo>
                    <a:lnTo>
                      <a:pt x="72" y="76"/>
                    </a:lnTo>
                    <a:close/>
                  </a:path>
                </a:pathLst>
              </a:custGeom>
              <a:solidFill>
                <a:srgbClr val="FF0000"/>
              </a:solidFill>
              <a:ln w="28575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" name="Group 28"/>
            <p:cNvGrpSpPr>
              <a:grpSpLocks/>
            </p:cNvGrpSpPr>
            <p:nvPr/>
          </p:nvGrpSpPr>
          <p:grpSpPr bwMode="auto">
            <a:xfrm>
              <a:off x="1462" y="2561"/>
              <a:ext cx="242" cy="380"/>
              <a:chOff x="4176" y="528"/>
              <a:chExt cx="242" cy="380"/>
            </a:xfrm>
          </p:grpSpPr>
          <p:sp>
            <p:nvSpPr>
              <p:cNvPr id="6" name="Oval 29"/>
              <p:cNvSpPr>
                <a:spLocks noChangeArrowheads="1"/>
              </p:cNvSpPr>
              <p:nvPr/>
            </p:nvSpPr>
            <p:spPr bwMode="auto">
              <a:xfrm>
                <a:off x="4176" y="575"/>
                <a:ext cx="242" cy="248"/>
              </a:xfrm>
              <a:prstGeom prst="ellipse">
                <a:avLst/>
              </a:prstGeom>
              <a:solidFill>
                <a:schemeClr val="folHlink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Rectangle 30"/>
              <p:cNvSpPr>
                <a:spLocks noChangeArrowheads="1"/>
              </p:cNvSpPr>
              <p:nvPr/>
            </p:nvSpPr>
            <p:spPr bwMode="auto">
              <a:xfrm>
                <a:off x="4212" y="528"/>
                <a:ext cx="190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kumimoji="1" lang="en-US" altLang="zh-CN" sz="3600" b="1">
                    <a:solidFill>
                      <a:srgbClr val="CC0000"/>
                    </a:solidFill>
                    <a:latin typeface="Bookman Old Style" panose="02050604050505020204" pitchFamily="18" charset="0"/>
                  </a:rPr>
                  <a:t>+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2" name="Group 32"/>
          <p:cNvGrpSpPr>
            <a:grpSpLocks/>
          </p:cNvGrpSpPr>
          <p:nvPr/>
        </p:nvGrpSpPr>
        <p:grpSpPr bwMode="auto">
          <a:xfrm>
            <a:off x="4491274" y="3483819"/>
            <a:ext cx="2514600" cy="1752600"/>
            <a:chOff x="3744" y="2448"/>
            <a:chExt cx="1824" cy="1152"/>
          </a:xfrm>
        </p:grpSpPr>
        <p:sp>
          <p:nvSpPr>
            <p:cNvPr id="33" name="Oval 33"/>
            <p:cNvSpPr>
              <a:spLocks noChangeArrowheads="1"/>
            </p:cNvSpPr>
            <p:nvPr/>
          </p:nvSpPr>
          <p:spPr bwMode="auto">
            <a:xfrm>
              <a:off x="3744" y="2448"/>
              <a:ext cx="1824" cy="432"/>
            </a:xfrm>
            <a:prstGeom prst="ellipse">
              <a:avLst/>
            </a:prstGeom>
            <a:gradFill rotWithShape="0">
              <a:gsLst>
                <a:gs pos="0">
                  <a:srgbClr val="B2B2B2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34"/>
            <p:cNvSpPr>
              <a:spLocks noChangeArrowheads="1"/>
            </p:cNvSpPr>
            <p:nvPr/>
          </p:nvSpPr>
          <p:spPr bwMode="auto">
            <a:xfrm>
              <a:off x="4272" y="3360"/>
              <a:ext cx="720" cy="240"/>
            </a:xfrm>
            <a:prstGeom prst="ellipse">
              <a:avLst/>
            </a:prstGeom>
            <a:gradFill rotWithShape="0">
              <a:gsLst>
                <a:gs pos="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Rectangle 35"/>
            <p:cNvSpPr>
              <a:spLocks noChangeArrowheads="1"/>
            </p:cNvSpPr>
            <p:nvPr/>
          </p:nvSpPr>
          <p:spPr bwMode="auto">
            <a:xfrm>
              <a:off x="4560" y="2880"/>
              <a:ext cx="144" cy="576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50000">
                  <a:srgbClr val="DDDDDD"/>
                </a:gs>
                <a:gs pos="100000">
                  <a:schemeClr val="tx1"/>
                </a:gs>
              </a:gsLst>
              <a:lin ang="0" scaled="1"/>
            </a:gradFill>
            <a:ln w="2857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" name="Group 73"/>
          <p:cNvGrpSpPr>
            <a:grpSpLocks/>
          </p:cNvGrpSpPr>
          <p:nvPr/>
        </p:nvGrpSpPr>
        <p:grpSpPr bwMode="auto">
          <a:xfrm>
            <a:off x="4550011" y="3445719"/>
            <a:ext cx="2363788" cy="676275"/>
            <a:chOff x="3144" y="981"/>
            <a:chExt cx="1489" cy="426"/>
          </a:xfrm>
        </p:grpSpPr>
        <p:grpSp>
          <p:nvGrpSpPr>
            <p:cNvPr id="37" name="Group 36"/>
            <p:cNvGrpSpPr>
              <a:grpSpLocks/>
            </p:cNvGrpSpPr>
            <p:nvPr/>
          </p:nvGrpSpPr>
          <p:grpSpPr bwMode="auto">
            <a:xfrm>
              <a:off x="3228" y="1165"/>
              <a:ext cx="166" cy="184"/>
              <a:chOff x="5088" y="2592"/>
              <a:chExt cx="192" cy="192"/>
            </a:xfrm>
          </p:grpSpPr>
          <p:sp>
            <p:nvSpPr>
              <p:cNvPr id="59" name="Oval 37"/>
              <p:cNvSpPr>
                <a:spLocks noChangeArrowheads="1"/>
              </p:cNvSpPr>
              <p:nvPr/>
            </p:nvSpPr>
            <p:spPr bwMode="auto">
              <a:xfrm>
                <a:off x="5088" y="259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99CC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Line 38"/>
              <p:cNvSpPr>
                <a:spLocks noChangeShapeType="1"/>
              </p:cNvSpPr>
              <p:nvPr/>
            </p:nvSpPr>
            <p:spPr bwMode="auto">
              <a:xfrm>
                <a:off x="5121" y="2688"/>
                <a:ext cx="12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" name="Group 39"/>
            <p:cNvGrpSpPr>
              <a:grpSpLocks/>
            </p:cNvGrpSpPr>
            <p:nvPr/>
          </p:nvGrpSpPr>
          <p:grpSpPr bwMode="auto">
            <a:xfrm>
              <a:off x="3353" y="1119"/>
              <a:ext cx="167" cy="184"/>
              <a:chOff x="5088" y="2592"/>
              <a:chExt cx="192" cy="192"/>
            </a:xfrm>
          </p:grpSpPr>
          <p:sp>
            <p:nvSpPr>
              <p:cNvPr id="57" name="Oval 40"/>
              <p:cNvSpPr>
                <a:spLocks noChangeArrowheads="1"/>
              </p:cNvSpPr>
              <p:nvPr/>
            </p:nvSpPr>
            <p:spPr bwMode="auto">
              <a:xfrm>
                <a:off x="5088" y="259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99CC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Line 41"/>
              <p:cNvSpPr>
                <a:spLocks noChangeShapeType="1"/>
              </p:cNvSpPr>
              <p:nvPr/>
            </p:nvSpPr>
            <p:spPr bwMode="auto">
              <a:xfrm>
                <a:off x="5121" y="2688"/>
                <a:ext cx="12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9" name="Group 42"/>
            <p:cNvGrpSpPr>
              <a:grpSpLocks/>
            </p:cNvGrpSpPr>
            <p:nvPr/>
          </p:nvGrpSpPr>
          <p:grpSpPr bwMode="auto">
            <a:xfrm>
              <a:off x="4145" y="1073"/>
              <a:ext cx="225" cy="288"/>
              <a:chOff x="5295" y="2784"/>
              <a:chExt cx="259" cy="301"/>
            </a:xfrm>
          </p:grpSpPr>
          <p:sp>
            <p:nvSpPr>
              <p:cNvPr id="55" name="Oval 43"/>
              <p:cNvSpPr>
                <a:spLocks noChangeArrowheads="1"/>
              </p:cNvSpPr>
              <p:nvPr/>
            </p:nvSpPr>
            <p:spPr bwMode="auto">
              <a:xfrm>
                <a:off x="5302" y="283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9999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Text Box 44"/>
              <p:cNvSpPr txBox="1">
                <a:spLocks noChangeArrowheads="1"/>
              </p:cNvSpPr>
              <p:nvPr/>
            </p:nvSpPr>
            <p:spPr bwMode="auto">
              <a:xfrm>
                <a:off x="5295" y="2784"/>
                <a:ext cx="259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  <p:grpSp>
          <p:nvGrpSpPr>
            <p:cNvPr id="40" name="Group 45"/>
            <p:cNvGrpSpPr>
              <a:grpSpLocks/>
            </p:cNvGrpSpPr>
            <p:nvPr/>
          </p:nvGrpSpPr>
          <p:grpSpPr bwMode="auto">
            <a:xfrm>
              <a:off x="3269" y="1027"/>
              <a:ext cx="167" cy="184"/>
              <a:chOff x="5088" y="2592"/>
              <a:chExt cx="192" cy="192"/>
            </a:xfrm>
          </p:grpSpPr>
          <p:sp>
            <p:nvSpPr>
              <p:cNvPr id="53" name="Oval 46"/>
              <p:cNvSpPr>
                <a:spLocks noChangeArrowheads="1"/>
              </p:cNvSpPr>
              <p:nvPr/>
            </p:nvSpPr>
            <p:spPr bwMode="auto">
              <a:xfrm>
                <a:off x="5088" y="259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99CC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Line 47"/>
              <p:cNvSpPr>
                <a:spLocks noChangeShapeType="1"/>
              </p:cNvSpPr>
              <p:nvPr/>
            </p:nvSpPr>
            <p:spPr bwMode="auto">
              <a:xfrm>
                <a:off x="5121" y="2688"/>
                <a:ext cx="12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1" name="Group 48"/>
            <p:cNvGrpSpPr>
              <a:grpSpLocks/>
            </p:cNvGrpSpPr>
            <p:nvPr/>
          </p:nvGrpSpPr>
          <p:grpSpPr bwMode="auto">
            <a:xfrm>
              <a:off x="4408" y="1027"/>
              <a:ext cx="225" cy="288"/>
              <a:chOff x="5295" y="2784"/>
              <a:chExt cx="259" cy="301"/>
            </a:xfrm>
          </p:grpSpPr>
          <p:sp>
            <p:nvSpPr>
              <p:cNvPr id="51" name="Oval 49"/>
              <p:cNvSpPr>
                <a:spLocks noChangeArrowheads="1"/>
              </p:cNvSpPr>
              <p:nvPr/>
            </p:nvSpPr>
            <p:spPr bwMode="auto">
              <a:xfrm>
                <a:off x="5302" y="283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9999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Text Box 50"/>
              <p:cNvSpPr txBox="1">
                <a:spLocks noChangeArrowheads="1"/>
              </p:cNvSpPr>
              <p:nvPr/>
            </p:nvSpPr>
            <p:spPr bwMode="auto">
              <a:xfrm>
                <a:off x="5295" y="2784"/>
                <a:ext cx="259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  <p:grpSp>
          <p:nvGrpSpPr>
            <p:cNvPr id="42" name="Group 51"/>
            <p:cNvGrpSpPr>
              <a:grpSpLocks/>
            </p:cNvGrpSpPr>
            <p:nvPr/>
          </p:nvGrpSpPr>
          <p:grpSpPr bwMode="auto">
            <a:xfrm>
              <a:off x="3144" y="1073"/>
              <a:ext cx="167" cy="184"/>
              <a:chOff x="5088" y="2592"/>
              <a:chExt cx="192" cy="192"/>
            </a:xfrm>
          </p:grpSpPr>
          <p:sp>
            <p:nvSpPr>
              <p:cNvPr id="49" name="Oval 52"/>
              <p:cNvSpPr>
                <a:spLocks noChangeArrowheads="1"/>
              </p:cNvSpPr>
              <p:nvPr/>
            </p:nvSpPr>
            <p:spPr bwMode="auto">
              <a:xfrm>
                <a:off x="5088" y="259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99CC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" name="Line 53"/>
              <p:cNvSpPr>
                <a:spLocks noChangeShapeType="1"/>
              </p:cNvSpPr>
              <p:nvPr/>
            </p:nvSpPr>
            <p:spPr bwMode="auto">
              <a:xfrm>
                <a:off x="5121" y="2688"/>
                <a:ext cx="12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" name="Group 54"/>
            <p:cNvGrpSpPr>
              <a:grpSpLocks/>
            </p:cNvGrpSpPr>
            <p:nvPr/>
          </p:nvGrpSpPr>
          <p:grpSpPr bwMode="auto">
            <a:xfrm>
              <a:off x="4258" y="981"/>
              <a:ext cx="225" cy="288"/>
              <a:chOff x="5296" y="2784"/>
              <a:chExt cx="259" cy="301"/>
            </a:xfrm>
          </p:grpSpPr>
          <p:sp>
            <p:nvSpPr>
              <p:cNvPr id="47" name="Oval 55"/>
              <p:cNvSpPr>
                <a:spLocks noChangeArrowheads="1"/>
              </p:cNvSpPr>
              <p:nvPr/>
            </p:nvSpPr>
            <p:spPr bwMode="auto">
              <a:xfrm>
                <a:off x="5302" y="283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9999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Text Box 56"/>
              <p:cNvSpPr txBox="1">
                <a:spLocks noChangeArrowheads="1"/>
              </p:cNvSpPr>
              <p:nvPr/>
            </p:nvSpPr>
            <p:spPr bwMode="auto">
              <a:xfrm>
                <a:off x="5296" y="2784"/>
                <a:ext cx="259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  <p:grpSp>
          <p:nvGrpSpPr>
            <p:cNvPr id="44" name="Group 57"/>
            <p:cNvGrpSpPr>
              <a:grpSpLocks/>
            </p:cNvGrpSpPr>
            <p:nvPr/>
          </p:nvGrpSpPr>
          <p:grpSpPr bwMode="auto">
            <a:xfrm>
              <a:off x="4283" y="1119"/>
              <a:ext cx="225" cy="288"/>
              <a:chOff x="5295" y="2784"/>
              <a:chExt cx="259" cy="301"/>
            </a:xfrm>
          </p:grpSpPr>
          <p:sp>
            <p:nvSpPr>
              <p:cNvPr id="45" name="Oval 58"/>
              <p:cNvSpPr>
                <a:spLocks noChangeArrowheads="1"/>
              </p:cNvSpPr>
              <p:nvPr/>
            </p:nvSpPr>
            <p:spPr bwMode="auto">
              <a:xfrm>
                <a:off x="5302" y="283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9999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" name="Text Box 59"/>
              <p:cNvSpPr txBox="1">
                <a:spLocks noChangeArrowheads="1"/>
              </p:cNvSpPr>
              <p:nvPr/>
            </p:nvSpPr>
            <p:spPr bwMode="auto">
              <a:xfrm>
                <a:off x="5295" y="2784"/>
                <a:ext cx="259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</p:grpSp>
      <p:grpSp>
        <p:nvGrpSpPr>
          <p:cNvPr id="61" name="Group 76"/>
          <p:cNvGrpSpPr>
            <a:grpSpLocks/>
          </p:cNvGrpSpPr>
          <p:nvPr/>
        </p:nvGrpSpPr>
        <p:grpSpPr bwMode="auto">
          <a:xfrm>
            <a:off x="4896086" y="2132856"/>
            <a:ext cx="1576388" cy="1395413"/>
            <a:chOff x="2738" y="1678"/>
            <a:chExt cx="993" cy="879"/>
          </a:xfrm>
        </p:grpSpPr>
        <p:sp>
          <p:nvSpPr>
            <p:cNvPr id="62" name="Text Box 61"/>
            <p:cNvSpPr txBox="1">
              <a:spLocks noChangeArrowheads="1"/>
            </p:cNvSpPr>
            <p:nvPr/>
          </p:nvSpPr>
          <p:spPr bwMode="auto">
            <a:xfrm>
              <a:off x="2738" y="1678"/>
              <a:ext cx="993" cy="30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楷体_GB2312" pitchFamily="49" charset="-122"/>
                </a:rPr>
                <a:t>感应电荷</a:t>
              </a:r>
            </a:p>
          </p:txBody>
        </p:sp>
        <p:sp>
          <p:nvSpPr>
            <p:cNvPr id="63" name="Line 62"/>
            <p:cNvSpPr>
              <a:spLocks noChangeShapeType="1"/>
            </p:cNvSpPr>
            <p:nvPr/>
          </p:nvSpPr>
          <p:spPr bwMode="auto">
            <a:xfrm flipH="1">
              <a:off x="2767" y="1990"/>
              <a:ext cx="113" cy="56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63"/>
            <p:cNvSpPr>
              <a:spLocks noChangeShapeType="1"/>
            </p:cNvSpPr>
            <p:nvPr/>
          </p:nvSpPr>
          <p:spPr bwMode="auto">
            <a:xfrm>
              <a:off x="2908" y="2018"/>
              <a:ext cx="822" cy="53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5" name="Group 72"/>
          <p:cNvGrpSpPr>
            <a:grpSpLocks/>
          </p:cNvGrpSpPr>
          <p:nvPr/>
        </p:nvGrpSpPr>
        <p:grpSpPr bwMode="auto">
          <a:xfrm>
            <a:off x="2225911" y="3329831"/>
            <a:ext cx="1143000" cy="1930400"/>
            <a:chOff x="1056" y="2432"/>
            <a:chExt cx="720" cy="1216"/>
          </a:xfrm>
        </p:grpSpPr>
        <p:sp>
          <p:nvSpPr>
            <p:cNvPr id="66" name="Oval 68"/>
            <p:cNvSpPr>
              <a:spLocks noChangeArrowheads="1"/>
            </p:cNvSpPr>
            <p:nvPr/>
          </p:nvSpPr>
          <p:spPr bwMode="auto">
            <a:xfrm>
              <a:off x="1156" y="2432"/>
              <a:ext cx="509" cy="47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7" name="Group 71"/>
            <p:cNvGrpSpPr>
              <a:grpSpLocks/>
            </p:cNvGrpSpPr>
            <p:nvPr/>
          </p:nvGrpSpPr>
          <p:grpSpPr bwMode="auto">
            <a:xfrm>
              <a:off x="1056" y="2496"/>
              <a:ext cx="720" cy="1152"/>
              <a:chOff x="1056" y="2496"/>
              <a:chExt cx="720" cy="1152"/>
            </a:xfrm>
          </p:grpSpPr>
          <p:sp>
            <p:nvSpPr>
              <p:cNvPr id="68" name="Oval 66"/>
              <p:cNvSpPr>
                <a:spLocks noChangeArrowheads="1"/>
              </p:cNvSpPr>
              <p:nvPr/>
            </p:nvSpPr>
            <p:spPr bwMode="auto">
              <a:xfrm>
                <a:off x="1056" y="3408"/>
                <a:ext cx="720" cy="240"/>
              </a:xfrm>
              <a:prstGeom prst="ellipse">
                <a:avLst/>
              </a:prstGeom>
              <a:gradFill rotWithShape="0">
                <a:gsLst>
                  <a:gs pos="0">
                    <a:schemeClr val="tx1"/>
                  </a:gs>
                  <a:gs pos="100000">
                    <a:schemeClr val="bg1"/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Rectangle 67"/>
              <p:cNvSpPr>
                <a:spLocks noChangeArrowheads="1"/>
              </p:cNvSpPr>
              <p:nvPr/>
            </p:nvSpPr>
            <p:spPr bwMode="auto">
              <a:xfrm>
                <a:off x="1338" y="2886"/>
                <a:ext cx="144" cy="672"/>
              </a:xfrm>
              <a:prstGeom prst="rect">
                <a:avLst/>
              </a:prstGeom>
              <a:gradFill rotWithShape="0">
                <a:gsLst>
                  <a:gs pos="0">
                    <a:schemeClr val="tx1"/>
                  </a:gs>
                  <a:gs pos="5000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Text Box 69"/>
              <p:cNvSpPr txBox="1">
                <a:spLocks noChangeArrowheads="1"/>
              </p:cNvSpPr>
              <p:nvPr/>
            </p:nvSpPr>
            <p:spPr bwMode="auto">
              <a:xfrm>
                <a:off x="1296" y="2496"/>
                <a:ext cx="26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</p:grpSp>
      <p:sp>
        <p:nvSpPr>
          <p:cNvPr id="71" name="Text Box 74"/>
          <p:cNvSpPr txBox="1">
            <a:spLocks noChangeArrowheads="1"/>
          </p:cNvSpPr>
          <p:nvPr/>
        </p:nvSpPr>
        <p:spPr bwMode="auto">
          <a:xfrm>
            <a:off x="7147161" y="2132856"/>
            <a:ext cx="1576388" cy="4857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感应电场</a:t>
            </a:r>
          </a:p>
        </p:txBody>
      </p:sp>
      <p:sp>
        <p:nvSpPr>
          <p:cNvPr id="72" name="AutoShape 75"/>
          <p:cNvSpPr>
            <a:spLocks noChangeArrowheads="1"/>
          </p:cNvSpPr>
          <p:nvPr/>
        </p:nvSpPr>
        <p:spPr bwMode="auto">
          <a:xfrm>
            <a:off x="6607411" y="2267794"/>
            <a:ext cx="404813" cy="134937"/>
          </a:xfrm>
          <a:prstGeom prst="notched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标题 1"/>
          <p:cNvSpPr txBox="1">
            <a:spLocks/>
          </p:cNvSpPr>
          <p:nvPr/>
        </p:nvSpPr>
        <p:spPr>
          <a:xfrm>
            <a:off x="251520" y="399047"/>
            <a:ext cx="8640960" cy="936104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b="1" kern="0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一、</a:t>
            </a:r>
            <a:r>
              <a:rPr lang="zh-CN" altLang="en-US" sz="3600" b="1" kern="0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静电平衡</a:t>
            </a:r>
          </a:p>
        </p:txBody>
      </p:sp>
    </p:spTree>
    <p:extLst>
      <p:ext uri="{BB962C8B-B14F-4D97-AF65-F5344CB8AC3E}">
        <p14:creationId xmlns:p14="http://schemas.microsoft.com/office/powerpoint/2010/main" val="2338830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584684"/>
            <a:ext cx="8298922" cy="5613572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定义：</a:t>
            </a:r>
            <a:endParaRPr lang="en-US" altLang="zh-CN" sz="28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处在静电场中的导体，若导体中电荷的定向运动完全停止，则称该导体处于</a:t>
            </a:r>
            <a:r>
              <a:rPr lang="zh-CN" altLang="en-US" sz="28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静电平衡</a:t>
            </a:r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状态。</a:t>
            </a:r>
            <a:endParaRPr lang="en-US" altLang="zh-CN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dirty="0"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如果导体原来未带电，那么自由电子的定向运动就会使导体局部带电。这就是所谓的静电感应。</a:t>
            </a:r>
            <a:endParaRPr lang="en-US" altLang="zh-CN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dirty="0"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静电感应产生的电荷叫做</a:t>
            </a:r>
            <a:r>
              <a:rPr lang="zh-CN" altLang="en-US" sz="28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感应电荷</a:t>
            </a:r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，感应电荷在导体内部就会产生附加的电场矢量   。此时导体内的总电场          由于   与   方向相反，则有：</a:t>
            </a:r>
            <a:endParaRPr lang="en-US" altLang="zh-CN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zh-CN" altLang="en-US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59918"/>
              </p:ext>
            </p:extLst>
          </p:nvPr>
        </p:nvGraphicFramePr>
        <p:xfrm>
          <a:off x="6300192" y="3969060"/>
          <a:ext cx="360040" cy="384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0440" imgH="203040" progId="Equation.3">
                  <p:embed/>
                </p:oleObj>
              </mc:Choice>
              <mc:Fallback>
                <p:oleObj name="公式" r:id="rId2" imgW="19044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00192" y="3969060"/>
                        <a:ext cx="360040" cy="3840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570887"/>
              </p:ext>
            </p:extLst>
          </p:nvPr>
        </p:nvGraphicFramePr>
        <p:xfrm>
          <a:off x="2375756" y="4495696"/>
          <a:ext cx="1584176" cy="537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49160" imgH="253800" progId="Equation.3">
                  <p:embed/>
                </p:oleObj>
              </mc:Choice>
              <mc:Fallback>
                <p:oleObj name="公式" r:id="rId4" imgW="749160" imgH="253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75756" y="4495696"/>
                        <a:ext cx="1584176" cy="5370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891169"/>
              </p:ext>
            </p:extLst>
          </p:nvPr>
        </p:nvGraphicFramePr>
        <p:xfrm>
          <a:off x="4860032" y="4495696"/>
          <a:ext cx="378042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0440" imgH="253800" progId="Equation.3">
                  <p:embed/>
                </p:oleObj>
              </mc:Choice>
              <mc:Fallback>
                <p:oleObj name="公式" r:id="rId6" imgW="190440" imgH="253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60032" y="4495696"/>
                        <a:ext cx="378042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896992"/>
              </p:ext>
            </p:extLst>
          </p:nvPr>
        </p:nvGraphicFramePr>
        <p:xfrm>
          <a:off x="5702895" y="4495696"/>
          <a:ext cx="405044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0440" imgH="203040" progId="Equation.3">
                  <p:embed/>
                </p:oleObj>
              </mc:Choice>
              <mc:Fallback>
                <p:oleObj name="公式" r:id="rId8" imgW="19044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02895" y="4495696"/>
                        <a:ext cx="405044" cy="432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896661"/>
              </p:ext>
            </p:extLst>
          </p:nvPr>
        </p:nvGraphicFramePr>
        <p:xfrm>
          <a:off x="1403648" y="5032704"/>
          <a:ext cx="1440160" cy="446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36560" imgH="228600" progId="Equation.3">
                  <p:embed/>
                </p:oleObj>
              </mc:Choice>
              <mc:Fallback>
                <p:oleObj name="公式" r:id="rId10" imgW="73656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03648" y="5032704"/>
                        <a:ext cx="1440160" cy="4469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3065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788988" y="1720850"/>
            <a:ext cx="1841500" cy="3994150"/>
            <a:chOff x="520700" y="1720850"/>
            <a:chExt cx="1841500" cy="3994150"/>
          </a:xfrm>
        </p:grpSpPr>
        <p:grpSp>
          <p:nvGrpSpPr>
            <p:cNvPr id="37914" name="Group 38"/>
            <p:cNvGrpSpPr>
              <a:grpSpLocks/>
            </p:cNvGrpSpPr>
            <p:nvPr/>
          </p:nvGrpSpPr>
          <p:grpSpPr bwMode="auto">
            <a:xfrm>
              <a:off x="609600" y="1720850"/>
              <a:ext cx="1752600" cy="488950"/>
              <a:chOff x="2112" y="1152"/>
              <a:chExt cx="3216" cy="308"/>
            </a:xfrm>
          </p:grpSpPr>
          <p:sp>
            <p:nvSpPr>
              <p:cNvPr id="37925" name="AutoShape 20"/>
              <p:cNvSpPr>
                <a:spLocks noChangeArrowheads="1"/>
              </p:cNvSpPr>
              <p:nvPr/>
            </p:nvSpPr>
            <p:spPr bwMode="gray">
              <a:xfrm>
                <a:off x="2112" y="1152"/>
                <a:ext cx="3216" cy="3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8F8F8"/>
                  </a:gs>
                  <a:gs pos="100000">
                    <a:srgbClr val="BEBEBE"/>
                  </a:gs>
                </a:gsLst>
                <a:lin ang="5400000" scaled="1"/>
              </a:gradFill>
              <a:ln w="19050">
                <a:solidFill>
                  <a:srgbClr val="C0C0C0"/>
                </a:solidFill>
                <a:round/>
                <a:headEnd/>
                <a:tailEnd/>
              </a:ln>
              <a:effectLst>
                <a:outerShdw dist="53882" dir="2700000" algn="ctr" rotWithShape="0">
                  <a:srgbClr val="292929">
                    <a:alpha val="50000"/>
                  </a:srgbClr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37926" name="Rectangle 21">
                <a:hlinkClick r:id="" action="ppaction://noaction" highlightClick="1"/>
              </p:cNvPr>
              <p:cNvSpPr>
                <a:spLocks noChangeArrowheads="1"/>
              </p:cNvSpPr>
              <p:nvPr/>
            </p:nvSpPr>
            <p:spPr bwMode="auto">
              <a:xfrm>
                <a:off x="2552" y="1187"/>
                <a:ext cx="2642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sz="22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平衡条件</a:t>
                </a:r>
              </a:p>
            </p:txBody>
          </p:sp>
        </p:grpSp>
        <p:sp>
          <p:nvSpPr>
            <p:cNvPr id="37915" name="AutoShape 22"/>
            <p:cNvSpPr>
              <a:spLocks noChangeArrowheads="1"/>
            </p:cNvSpPr>
            <p:nvPr/>
          </p:nvSpPr>
          <p:spPr bwMode="gray">
            <a:xfrm>
              <a:off x="609600" y="2836862"/>
              <a:ext cx="1752600" cy="48895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8F8F8"/>
                </a:gs>
                <a:gs pos="100000">
                  <a:srgbClr val="BEBEBE"/>
                </a:gs>
              </a:gsLst>
              <a:lin ang="5400000" scaled="1"/>
            </a:gradFill>
            <a:ln w="19050">
              <a:solidFill>
                <a:srgbClr val="C0C0C0"/>
              </a:solidFill>
              <a:round/>
              <a:headEnd/>
              <a:tailEnd/>
            </a:ln>
            <a:effectLst>
              <a:outerShdw dist="53882" dir="2700000" algn="ctr" rotWithShape="0">
                <a:srgbClr val="292929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37916" name="AutoShape 24"/>
            <p:cNvSpPr>
              <a:spLocks noChangeArrowheads="1"/>
            </p:cNvSpPr>
            <p:nvPr/>
          </p:nvSpPr>
          <p:spPr bwMode="gray">
            <a:xfrm>
              <a:off x="606425" y="4113212"/>
              <a:ext cx="1755775" cy="48895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8F8F8"/>
                </a:gs>
                <a:gs pos="100000">
                  <a:srgbClr val="BEBEBE"/>
                </a:gs>
              </a:gsLst>
              <a:lin ang="5400000" scaled="1"/>
            </a:gradFill>
            <a:ln w="19050">
              <a:solidFill>
                <a:srgbClr val="C0C0C0"/>
              </a:solidFill>
              <a:round/>
              <a:headEnd/>
              <a:tailEnd/>
            </a:ln>
            <a:effectLst>
              <a:outerShdw dist="53882" dir="2700000" algn="ctr" rotWithShape="0">
                <a:srgbClr val="292929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37917" name="Oval 26"/>
            <p:cNvSpPr>
              <a:spLocks noChangeArrowheads="1"/>
            </p:cNvSpPr>
            <p:nvPr/>
          </p:nvSpPr>
          <p:spPr bwMode="gray">
            <a:xfrm>
              <a:off x="520700" y="1838325"/>
              <a:ext cx="228600" cy="228600"/>
            </a:xfrm>
            <a:prstGeom prst="ellipse">
              <a:avLst/>
            </a:prstGeom>
            <a:gradFill rotWithShape="1">
              <a:gsLst>
                <a:gs pos="0">
                  <a:srgbClr val="E96E29"/>
                </a:gs>
                <a:gs pos="100000">
                  <a:srgbClr val="9B491B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37918" name="Oval 27"/>
            <p:cNvSpPr>
              <a:spLocks noChangeArrowheads="1"/>
            </p:cNvSpPr>
            <p:nvPr/>
          </p:nvSpPr>
          <p:spPr bwMode="gray">
            <a:xfrm>
              <a:off x="533400" y="2970212"/>
              <a:ext cx="228600" cy="228600"/>
            </a:xfrm>
            <a:prstGeom prst="ellipse">
              <a:avLst/>
            </a:prstGeom>
            <a:gradFill rotWithShape="1">
              <a:gsLst>
                <a:gs pos="0">
                  <a:srgbClr val="DCDC48"/>
                </a:gs>
                <a:gs pos="100000">
                  <a:srgbClr val="93933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4" name="Oval 28"/>
            <p:cNvSpPr>
              <a:spLocks noChangeArrowheads="1"/>
            </p:cNvSpPr>
            <p:nvPr/>
          </p:nvSpPr>
          <p:spPr bwMode="gray">
            <a:xfrm>
              <a:off x="533400" y="4259263"/>
              <a:ext cx="228600" cy="228600"/>
            </a:xfrm>
            <a:prstGeom prst="ellipse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2">
                    <a:gamma/>
                    <a:shade val="66667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7920" name="AutoShape 29"/>
            <p:cNvSpPr>
              <a:spLocks noChangeArrowheads="1"/>
            </p:cNvSpPr>
            <p:nvPr/>
          </p:nvSpPr>
          <p:spPr bwMode="gray">
            <a:xfrm>
              <a:off x="609600" y="5226050"/>
              <a:ext cx="1752600" cy="48895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8F8F8"/>
                </a:gs>
                <a:gs pos="100000">
                  <a:srgbClr val="BEBEBE"/>
                </a:gs>
              </a:gsLst>
              <a:lin ang="5400000" scaled="1"/>
            </a:gradFill>
            <a:ln w="19050">
              <a:solidFill>
                <a:srgbClr val="C0C0C0"/>
              </a:solidFill>
              <a:round/>
              <a:headEnd/>
              <a:tailEnd/>
            </a:ln>
            <a:effectLst>
              <a:outerShdw dist="53882" dir="2700000" algn="ctr" rotWithShape="0">
                <a:srgbClr val="292929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37921" name="Oval 31"/>
            <p:cNvSpPr>
              <a:spLocks noChangeArrowheads="1"/>
            </p:cNvSpPr>
            <p:nvPr/>
          </p:nvSpPr>
          <p:spPr bwMode="gray">
            <a:xfrm>
              <a:off x="520700" y="5364162"/>
              <a:ext cx="228600" cy="228600"/>
            </a:xfrm>
            <a:prstGeom prst="ellipse">
              <a:avLst/>
            </a:prstGeom>
            <a:gradFill rotWithShape="1">
              <a:gsLst>
                <a:gs pos="0">
                  <a:srgbClr val="92FE8A"/>
                </a:gs>
                <a:gs pos="100000">
                  <a:srgbClr val="047E18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37922" name="Rectangle 21">
              <a:hlinkClick r:id="" action="ppaction://noaction" highlightClick="1"/>
            </p:cNvPr>
            <p:cNvSpPr>
              <a:spLocks noChangeArrowheads="1"/>
            </p:cNvSpPr>
            <p:nvPr/>
          </p:nvSpPr>
          <p:spPr bwMode="auto">
            <a:xfrm>
              <a:off x="858838" y="2874963"/>
              <a:ext cx="1439862" cy="42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场强分布</a:t>
              </a:r>
            </a:p>
          </p:txBody>
        </p:sp>
        <p:sp>
          <p:nvSpPr>
            <p:cNvPr id="37923" name="Rectangle 21">
              <a:hlinkClick r:id="" action="ppaction://noaction" highlightClick="1"/>
            </p:cNvPr>
            <p:cNvSpPr>
              <a:spLocks noChangeArrowheads="1"/>
            </p:cNvSpPr>
            <p:nvPr/>
          </p:nvSpPr>
          <p:spPr bwMode="auto">
            <a:xfrm>
              <a:off x="863600" y="4157663"/>
              <a:ext cx="1441450" cy="42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电势分布</a:t>
              </a:r>
            </a:p>
          </p:txBody>
        </p:sp>
        <p:sp>
          <p:nvSpPr>
            <p:cNvPr id="37924" name="Rectangle 21">
              <a:hlinkClick r:id="" action="ppaction://noaction" highlightClick="1"/>
            </p:cNvPr>
            <p:cNvSpPr>
              <a:spLocks noChangeArrowheads="1"/>
            </p:cNvSpPr>
            <p:nvPr/>
          </p:nvSpPr>
          <p:spPr bwMode="auto">
            <a:xfrm>
              <a:off x="863600" y="5268913"/>
              <a:ext cx="1441450" cy="42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电荷分布</a:t>
              </a:r>
            </a:p>
          </p:txBody>
        </p:sp>
      </p:grp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163888" y="1733550"/>
          <a:ext cx="8921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3529" imgH="253890" progId="Equation.DSMT4">
                  <p:embed/>
                </p:oleObj>
              </mc:Choice>
              <mc:Fallback>
                <p:oleObj name="Equation" r:id="rId2" imgW="393529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888" y="1733550"/>
                        <a:ext cx="89217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3163888" y="2836863"/>
          <a:ext cx="8921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529" imgH="253890" progId="Equation.DSMT4">
                  <p:embed/>
                </p:oleObj>
              </mc:Choice>
              <mc:Fallback>
                <p:oleObj name="Equation" r:id="rId4" imgW="393529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888" y="2836863"/>
                        <a:ext cx="89217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3055938" y="3397250"/>
            <a:ext cx="1098550" cy="1220788"/>
            <a:chOff x="2787688" y="3396524"/>
            <a:chExt cx="1098472" cy="1221083"/>
          </a:xfrm>
        </p:grpSpPr>
        <p:sp>
          <p:nvSpPr>
            <p:cNvPr id="37912" name="文本框 3"/>
            <p:cNvSpPr txBox="1">
              <a:spLocks noChangeArrowheads="1"/>
            </p:cNvSpPr>
            <p:nvPr/>
          </p:nvSpPr>
          <p:spPr bwMode="auto">
            <a:xfrm>
              <a:off x="2787688" y="4160297"/>
              <a:ext cx="1098472" cy="457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等势体</a:t>
              </a:r>
            </a:p>
          </p:txBody>
        </p:sp>
        <p:sp>
          <p:nvSpPr>
            <p:cNvPr id="5" name="下箭头 4"/>
            <p:cNvSpPr/>
            <p:nvPr/>
          </p:nvSpPr>
          <p:spPr>
            <a:xfrm>
              <a:off x="3189296" y="3396524"/>
              <a:ext cx="304778" cy="746305"/>
            </a:xfrm>
            <a:prstGeom prst="downArrow">
              <a:avLst/>
            </a:prstGeom>
            <a:gradFill>
              <a:gsLst>
                <a:gs pos="0">
                  <a:srgbClr val="C6E6E8"/>
                </a:gs>
                <a:gs pos="100000">
                  <a:srgbClr val="00B0F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4164013" y="4160838"/>
            <a:ext cx="1844675" cy="457200"/>
            <a:chOff x="3881688" y="4160706"/>
            <a:chExt cx="1844468" cy="456906"/>
          </a:xfrm>
        </p:grpSpPr>
        <p:sp>
          <p:nvSpPr>
            <p:cNvPr id="37910" name="文本框 46"/>
            <p:cNvSpPr txBox="1">
              <a:spLocks noChangeArrowheads="1"/>
            </p:cNvSpPr>
            <p:nvPr/>
          </p:nvSpPr>
          <p:spPr bwMode="auto">
            <a:xfrm>
              <a:off x="4627729" y="4160706"/>
              <a:ext cx="1098427" cy="456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等势面</a:t>
              </a:r>
            </a:p>
          </p:txBody>
        </p:sp>
        <p:sp>
          <p:nvSpPr>
            <p:cNvPr id="37911" name="下箭头 47"/>
            <p:cNvSpPr>
              <a:spLocks noChangeArrowheads="1"/>
            </p:cNvSpPr>
            <p:nvPr/>
          </p:nvSpPr>
          <p:spPr bwMode="auto">
            <a:xfrm rot="-5400000">
              <a:off x="4102407" y="4038349"/>
              <a:ext cx="304604" cy="746041"/>
            </a:xfrm>
            <a:prstGeom prst="downArrow">
              <a:avLst>
                <a:gd name="adj1" fmla="val 50000"/>
                <a:gd name="adj2" fmla="val 50005"/>
              </a:avLst>
            </a:prstGeom>
            <a:gradFill rotWithShape="0">
              <a:gsLst>
                <a:gs pos="0">
                  <a:srgbClr val="C6E6E8"/>
                </a:gs>
                <a:gs pos="100000">
                  <a:srgbClr val="00B0F0"/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4649788" y="2843213"/>
            <a:ext cx="1628775" cy="1298575"/>
            <a:chOff x="4381664" y="2843184"/>
            <a:chExt cx="1628026" cy="1299336"/>
          </a:xfrm>
        </p:grpSpPr>
        <p:sp>
          <p:nvSpPr>
            <p:cNvPr id="37908" name="下箭头 49"/>
            <p:cNvSpPr>
              <a:spLocks noChangeArrowheads="1"/>
            </p:cNvSpPr>
            <p:nvPr/>
          </p:nvSpPr>
          <p:spPr bwMode="auto">
            <a:xfrm rot="10800000">
              <a:off x="5043348" y="3395958"/>
              <a:ext cx="304660" cy="746562"/>
            </a:xfrm>
            <a:prstGeom prst="downArrow">
              <a:avLst>
                <a:gd name="adj1" fmla="val 50000"/>
                <a:gd name="adj2" fmla="val 49997"/>
              </a:avLst>
            </a:prstGeom>
            <a:gradFill rotWithShape="0">
              <a:gsLst>
                <a:gs pos="0">
                  <a:srgbClr val="C6E6E8"/>
                </a:gs>
                <a:gs pos="100000">
                  <a:srgbClr val="00B0F0"/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rgbClr val="FFFFFF"/>
                </a:solidFill>
              </a:endParaRPr>
            </a:p>
          </p:txBody>
        </p:sp>
        <p:graphicFrame>
          <p:nvGraphicFramePr>
            <p:cNvPr id="37909" name="对象 7"/>
            <p:cNvGraphicFramePr>
              <a:graphicFrameLocks noChangeAspect="1"/>
            </p:cNvGraphicFramePr>
            <p:nvPr/>
          </p:nvGraphicFramePr>
          <p:xfrm>
            <a:off x="4381664" y="2843184"/>
            <a:ext cx="1628026" cy="5087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12447" imgH="253890" progId="Equation.DSMT4">
                    <p:embed/>
                  </p:oleObj>
                </mc:Choice>
                <mc:Fallback>
                  <p:oleObj name="Equation" r:id="rId6" imgW="812447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1664" y="2843184"/>
                          <a:ext cx="1628026" cy="5087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2946400" y="3489325"/>
            <a:ext cx="1512888" cy="2206625"/>
            <a:chOff x="2678634" y="3490077"/>
            <a:chExt cx="1512197" cy="2206518"/>
          </a:xfrm>
        </p:grpSpPr>
        <p:sp>
          <p:nvSpPr>
            <p:cNvPr id="37906" name="文本框 53"/>
            <p:cNvSpPr txBox="1">
              <a:spLocks noChangeArrowheads="1"/>
            </p:cNvSpPr>
            <p:nvPr/>
          </p:nvSpPr>
          <p:spPr bwMode="auto">
            <a:xfrm>
              <a:off x="2788121" y="5239417"/>
              <a:ext cx="1402710" cy="457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内无电荷</a:t>
              </a:r>
            </a:p>
          </p:txBody>
        </p:sp>
        <p:sp>
          <p:nvSpPr>
            <p:cNvPr id="11" name="左弧形箭头 10"/>
            <p:cNvSpPr/>
            <p:nvPr/>
          </p:nvSpPr>
          <p:spPr>
            <a:xfrm>
              <a:off x="2678634" y="3490077"/>
              <a:ext cx="510942" cy="1842999"/>
            </a:xfrm>
            <a:prstGeom prst="curvedRightArrow">
              <a:avLst/>
            </a:prstGeom>
            <a:gradFill>
              <a:gsLst>
                <a:gs pos="0">
                  <a:srgbClr val="C6E6E8"/>
                </a:gs>
                <a:gs pos="100000">
                  <a:srgbClr val="00B0F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4565650" y="5240338"/>
            <a:ext cx="2149475" cy="457200"/>
            <a:chOff x="4297282" y="5239692"/>
            <a:chExt cx="2149132" cy="458481"/>
          </a:xfrm>
        </p:grpSpPr>
        <p:sp>
          <p:nvSpPr>
            <p:cNvPr id="37904" name="文本框 57"/>
            <p:cNvSpPr txBox="1">
              <a:spLocks noChangeArrowheads="1"/>
            </p:cNvSpPr>
            <p:nvPr/>
          </p:nvSpPr>
          <p:spPr bwMode="auto">
            <a:xfrm>
              <a:off x="5043287" y="5239692"/>
              <a:ext cx="1403127" cy="458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表面电荷</a:t>
              </a:r>
            </a:p>
          </p:txBody>
        </p:sp>
        <p:sp>
          <p:nvSpPr>
            <p:cNvPr id="37905" name="下箭头 58"/>
            <p:cNvSpPr>
              <a:spLocks noChangeArrowheads="1"/>
            </p:cNvSpPr>
            <p:nvPr/>
          </p:nvSpPr>
          <p:spPr bwMode="auto">
            <a:xfrm rot="-5400000">
              <a:off x="4518254" y="5117420"/>
              <a:ext cx="304062" cy="746006"/>
            </a:xfrm>
            <a:prstGeom prst="downArrow">
              <a:avLst>
                <a:gd name="adj1" fmla="val 50000"/>
                <a:gd name="adj2" fmla="val 50001"/>
              </a:avLst>
            </a:prstGeom>
            <a:gradFill rotWithShape="0">
              <a:gsLst>
                <a:gs pos="0">
                  <a:srgbClr val="C6E6E8"/>
                </a:gs>
                <a:gs pos="100000">
                  <a:srgbClr val="00B0F0"/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8201" name="对象 9"/>
          <p:cNvGraphicFramePr>
            <a:graphicFrameLocks noChangeAspect="1"/>
          </p:cNvGraphicFramePr>
          <p:nvPr/>
        </p:nvGraphicFramePr>
        <p:xfrm>
          <a:off x="6743700" y="2647950"/>
          <a:ext cx="1262063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9336" imgH="431613" progId="Equation.DSMT4">
                  <p:embed/>
                </p:oleObj>
              </mc:Choice>
              <mc:Fallback>
                <p:oleObj name="Equation" r:id="rId8" imgW="609336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0" y="2647950"/>
                        <a:ext cx="1262063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4" name="下箭头 62"/>
          <p:cNvSpPr>
            <a:spLocks noChangeArrowheads="1"/>
          </p:cNvSpPr>
          <p:nvPr/>
        </p:nvSpPr>
        <p:spPr bwMode="auto">
          <a:xfrm rot="-9556150">
            <a:off x="6683375" y="3441700"/>
            <a:ext cx="304800" cy="1766888"/>
          </a:xfrm>
          <a:prstGeom prst="downArrow">
            <a:avLst>
              <a:gd name="adj1" fmla="val 50000"/>
              <a:gd name="adj2" fmla="val 49998"/>
            </a:avLst>
          </a:prstGeom>
          <a:gradFill rotWithShape="0">
            <a:gsLst>
              <a:gs pos="0">
                <a:srgbClr val="C6E6E8"/>
              </a:gs>
              <a:gs pos="100000">
                <a:srgbClr val="00B0F0"/>
              </a:gs>
            </a:gsLst>
            <a:path path="rect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FFFFFF"/>
              </a:solidFill>
            </a:endParaRPr>
          </a:p>
        </p:txBody>
      </p: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7054850" y="1838325"/>
            <a:ext cx="1403350" cy="868363"/>
            <a:chOff x="6785890" y="1839109"/>
            <a:chExt cx="1404705" cy="867266"/>
          </a:xfrm>
        </p:grpSpPr>
        <p:sp>
          <p:nvSpPr>
            <p:cNvPr id="37902" name="下箭头 63"/>
            <p:cNvSpPr>
              <a:spLocks noChangeArrowheads="1"/>
            </p:cNvSpPr>
            <p:nvPr/>
          </p:nvSpPr>
          <p:spPr bwMode="auto">
            <a:xfrm rot="10800000">
              <a:off x="7421503" y="2308415"/>
              <a:ext cx="150958" cy="397960"/>
            </a:xfrm>
            <a:prstGeom prst="downArrow">
              <a:avLst>
                <a:gd name="adj1" fmla="val 50000"/>
                <a:gd name="adj2" fmla="val 50003"/>
              </a:avLst>
            </a:prstGeom>
            <a:gradFill rotWithShape="0">
              <a:gsLst>
                <a:gs pos="0">
                  <a:srgbClr val="C6E6E8"/>
                </a:gs>
                <a:gs pos="100000">
                  <a:srgbClr val="00B0F0"/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903" name="文本框 64"/>
            <p:cNvSpPr txBox="1">
              <a:spLocks noChangeArrowheads="1"/>
            </p:cNvSpPr>
            <p:nvPr/>
          </p:nvSpPr>
          <p:spPr bwMode="auto">
            <a:xfrm>
              <a:off x="6785890" y="1839109"/>
              <a:ext cx="1404705" cy="456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表面曲率</a:t>
              </a:r>
            </a:p>
          </p:txBody>
        </p:sp>
      </p:grpSp>
      <p:sp>
        <p:nvSpPr>
          <p:cNvPr id="36879" name="Rectangle 23"/>
          <p:cNvSpPr>
            <a:spLocks noChangeArrowheads="1"/>
          </p:cNvSpPr>
          <p:nvPr/>
        </p:nvSpPr>
        <p:spPr bwMode="auto">
          <a:xfrm>
            <a:off x="674329" y="584200"/>
            <a:ext cx="39917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latin typeface="Arial Unicode MS" panose="020B0604020202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Arial Unicode MS" panose="020B0604020202020204" pitchFamily="34" charset="-122"/>
                <a:ea typeface="微软雅黑" panose="020B0503020204020204" pitchFamily="34" charset="-122"/>
              </a:rPr>
              <a:t>静电平衡条件及性质</a:t>
            </a:r>
          </a:p>
        </p:txBody>
      </p:sp>
    </p:spTree>
    <p:extLst>
      <p:ext uri="{BB962C8B-B14F-4D97-AF65-F5344CB8AC3E}">
        <p14:creationId xmlns:p14="http://schemas.microsoft.com/office/powerpoint/2010/main" val="3753543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直接连接符 90"/>
          <p:cNvCxnSpPr/>
          <p:nvPr/>
        </p:nvCxnSpPr>
        <p:spPr>
          <a:xfrm>
            <a:off x="3124200" y="2061245"/>
            <a:ext cx="2379663" cy="0"/>
          </a:xfrm>
          <a:prstGeom prst="line">
            <a:avLst/>
          </a:prstGeom>
          <a:ln w="38100">
            <a:solidFill>
              <a:srgbClr val="B4C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603" name="Group 127"/>
          <p:cNvGrpSpPr>
            <a:grpSpLocks/>
          </p:cNvGrpSpPr>
          <p:nvPr/>
        </p:nvGrpSpPr>
        <p:grpSpPr bwMode="auto">
          <a:xfrm>
            <a:off x="2625725" y="1777083"/>
            <a:ext cx="533400" cy="654050"/>
            <a:chOff x="2064" y="1008"/>
            <a:chExt cx="722" cy="872"/>
          </a:xfrm>
        </p:grpSpPr>
        <p:sp>
          <p:nvSpPr>
            <p:cNvPr id="38964" name="Oval 128"/>
            <p:cNvSpPr>
              <a:spLocks noChangeArrowheads="1"/>
            </p:cNvSpPr>
            <p:nvPr/>
          </p:nvSpPr>
          <p:spPr bwMode="gray">
            <a:xfrm>
              <a:off x="2064" y="1008"/>
              <a:ext cx="722" cy="727"/>
            </a:xfrm>
            <a:prstGeom prst="ellipse">
              <a:avLst/>
            </a:prstGeom>
            <a:solidFill>
              <a:srgbClr val="EAEAEA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38965" name="Group 129"/>
            <p:cNvGrpSpPr>
              <a:grpSpLocks/>
            </p:cNvGrpSpPr>
            <p:nvPr/>
          </p:nvGrpSpPr>
          <p:grpSpPr bwMode="auto">
            <a:xfrm>
              <a:off x="2086" y="1031"/>
              <a:ext cx="680" cy="849"/>
              <a:chOff x="3975" y="1593"/>
              <a:chExt cx="931" cy="1163"/>
            </a:xfrm>
          </p:grpSpPr>
          <p:pic>
            <p:nvPicPr>
              <p:cNvPr id="38977" name="Picture 130" descr="circuler_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975" y="1593"/>
                <a:ext cx="925" cy="9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8978" name="Oval 131"/>
              <p:cNvSpPr>
                <a:spLocks noChangeArrowheads="1"/>
              </p:cNvSpPr>
              <p:nvPr/>
            </p:nvSpPr>
            <p:spPr bwMode="gray">
              <a:xfrm>
                <a:off x="3975" y="1593"/>
                <a:ext cx="931" cy="937"/>
              </a:xfrm>
              <a:prstGeom prst="ellipse">
                <a:avLst/>
              </a:prstGeom>
              <a:solidFill>
                <a:schemeClr val="folHlink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pic>
            <p:nvPicPr>
              <p:cNvPr id="38979" name="Picture 132" descr="light_shadow1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285"/>
              <a:stretch>
                <a:fillRect/>
              </a:stretch>
            </p:blipFill>
            <p:spPr bwMode="gray">
              <a:xfrm>
                <a:off x="3984" y="1632"/>
                <a:ext cx="682" cy="5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8980" name="Group 133"/>
              <p:cNvGrpSpPr>
                <a:grpSpLocks/>
              </p:cNvGrpSpPr>
              <p:nvPr/>
            </p:nvGrpSpPr>
            <p:grpSpPr bwMode="auto">
              <a:xfrm rot="-3733502" flipH="1" flipV="1">
                <a:off x="4256" y="2247"/>
                <a:ext cx="820" cy="198"/>
                <a:chOff x="2532" y="1051"/>
                <a:chExt cx="893" cy="246"/>
              </a:xfrm>
            </p:grpSpPr>
            <p:grpSp>
              <p:nvGrpSpPr>
                <p:cNvPr id="38981" name="Group 134"/>
                <p:cNvGrpSpPr>
                  <a:grpSpLocks/>
                </p:cNvGrpSpPr>
                <p:nvPr/>
              </p:nvGrpSpPr>
              <p:grpSpPr bwMode="auto">
                <a:xfrm>
                  <a:off x="2532" y="1051"/>
                  <a:ext cx="743" cy="185"/>
                  <a:chOff x="1565" y="2568"/>
                  <a:chExt cx="1118" cy="279"/>
                </a:xfrm>
              </p:grpSpPr>
              <p:sp>
                <p:nvSpPr>
                  <p:cNvPr id="38987" name="AutoShape 135"/>
                  <p:cNvSpPr>
                    <a:spLocks noChangeArrowheads="1"/>
                  </p:cNvSpPr>
                  <p:nvPr/>
                </p:nvSpPr>
                <p:spPr bwMode="white">
                  <a:xfrm rot="5263130">
                    <a:off x="1859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38988" name="AutoShape 136"/>
                  <p:cNvSpPr>
                    <a:spLocks noChangeArrowheads="1"/>
                  </p:cNvSpPr>
                  <p:nvPr/>
                </p:nvSpPr>
                <p:spPr bwMode="white">
                  <a:xfrm rot="6078281">
                    <a:off x="1995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38989" name="AutoShape 137"/>
                  <p:cNvSpPr>
                    <a:spLocks noChangeArrowheads="1"/>
                  </p:cNvSpPr>
                  <p:nvPr/>
                </p:nvSpPr>
                <p:spPr bwMode="white">
                  <a:xfrm rot="6373927">
                    <a:off x="2071" y="229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38990" name="AutoShape 138"/>
                  <p:cNvSpPr>
                    <a:spLocks noChangeArrowheads="1"/>
                  </p:cNvSpPr>
                  <p:nvPr/>
                </p:nvSpPr>
                <p:spPr bwMode="white">
                  <a:xfrm rot="6906312">
                    <a:off x="2161" y="232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</p:grpSp>
            <p:grpSp>
              <p:nvGrpSpPr>
                <p:cNvPr id="38982" name="Group 139"/>
                <p:cNvGrpSpPr>
                  <a:grpSpLocks/>
                </p:cNvGrpSpPr>
                <p:nvPr/>
              </p:nvGrpSpPr>
              <p:grpSpPr bwMode="auto">
                <a:xfrm rot="1353540">
                  <a:off x="2682" y="1111"/>
                  <a:ext cx="743" cy="186"/>
                  <a:chOff x="1565" y="2568"/>
                  <a:chExt cx="1118" cy="279"/>
                </a:xfrm>
              </p:grpSpPr>
              <p:sp>
                <p:nvSpPr>
                  <p:cNvPr id="38983" name="AutoShape 140"/>
                  <p:cNvSpPr>
                    <a:spLocks noChangeArrowheads="1"/>
                  </p:cNvSpPr>
                  <p:nvPr/>
                </p:nvSpPr>
                <p:spPr bwMode="white">
                  <a:xfrm rot="5263130">
                    <a:off x="1859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38984" name="AutoShape 141"/>
                  <p:cNvSpPr>
                    <a:spLocks noChangeArrowheads="1"/>
                  </p:cNvSpPr>
                  <p:nvPr/>
                </p:nvSpPr>
                <p:spPr bwMode="white">
                  <a:xfrm rot="6078281">
                    <a:off x="1995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38985" name="AutoShape 142"/>
                  <p:cNvSpPr>
                    <a:spLocks noChangeArrowheads="1"/>
                  </p:cNvSpPr>
                  <p:nvPr/>
                </p:nvSpPr>
                <p:spPr bwMode="white">
                  <a:xfrm rot="6373927">
                    <a:off x="2071" y="229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38986" name="AutoShape 143"/>
                  <p:cNvSpPr>
                    <a:spLocks noChangeArrowheads="1"/>
                  </p:cNvSpPr>
                  <p:nvPr/>
                </p:nvSpPr>
                <p:spPr bwMode="white">
                  <a:xfrm rot="6906312">
                    <a:off x="2161" y="232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</p:grpSp>
          </p:grpSp>
        </p:grpSp>
        <p:grpSp>
          <p:nvGrpSpPr>
            <p:cNvPr id="38966" name="Group 144"/>
            <p:cNvGrpSpPr>
              <a:grpSpLocks/>
            </p:cNvGrpSpPr>
            <p:nvPr/>
          </p:nvGrpSpPr>
          <p:grpSpPr bwMode="auto">
            <a:xfrm rot="-3733502" flipH="1" flipV="1">
              <a:off x="2362" y="1505"/>
              <a:ext cx="527" cy="128"/>
              <a:chOff x="2532" y="1051"/>
              <a:chExt cx="893" cy="246"/>
            </a:xfrm>
          </p:grpSpPr>
          <p:grpSp>
            <p:nvGrpSpPr>
              <p:cNvPr id="38967" name="Group 145"/>
              <p:cNvGrpSpPr>
                <a:grpSpLocks/>
              </p:cNvGrpSpPr>
              <p:nvPr/>
            </p:nvGrpSpPr>
            <p:grpSpPr bwMode="auto">
              <a:xfrm>
                <a:off x="2532" y="1051"/>
                <a:ext cx="743" cy="185"/>
                <a:chOff x="1565" y="2568"/>
                <a:chExt cx="1118" cy="279"/>
              </a:xfrm>
            </p:grpSpPr>
            <p:sp>
              <p:nvSpPr>
                <p:cNvPr id="38973" name="AutoShape 146"/>
                <p:cNvSpPr>
                  <a:spLocks noChangeArrowheads="1"/>
                </p:cNvSpPr>
                <p:nvPr/>
              </p:nvSpPr>
              <p:spPr bwMode="white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22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38974" name="AutoShape 147"/>
                <p:cNvSpPr>
                  <a:spLocks noChangeArrowheads="1"/>
                </p:cNvSpPr>
                <p:nvPr/>
              </p:nvSpPr>
              <p:spPr bwMode="white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22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38975" name="AutoShape 148"/>
                <p:cNvSpPr>
                  <a:spLocks noChangeArrowheads="1"/>
                </p:cNvSpPr>
                <p:nvPr/>
              </p:nvSpPr>
              <p:spPr bwMode="white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22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38976" name="AutoShape 149"/>
                <p:cNvSpPr>
                  <a:spLocks noChangeArrowheads="1"/>
                </p:cNvSpPr>
                <p:nvPr/>
              </p:nvSpPr>
              <p:spPr bwMode="white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22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</p:grpSp>
          <p:grpSp>
            <p:nvGrpSpPr>
              <p:cNvPr id="38968" name="Group 150"/>
              <p:cNvGrpSpPr>
                <a:grpSpLocks/>
              </p:cNvGrpSpPr>
              <p:nvPr/>
            </p:nvGrpSpPr>
            <p:grpSpPr bwMode="auto">
              <a:xfrm rot="1353540">
                <a:off x="2682" y="1111"/>
                <a:ext cx="743" cy="186"/>
                <a:chOff x="1565" y="2568"/>
                <a:chExt cx="1118" cy="279"/>
              </a:xfrm>
            </p:grpSpPr>
            <p:sp>
              <p:nvSpPr>
                <p:cNvPr id="38969" name="AutoShape 151"/>
                <p:cNvSpPr>
                  <a:spLocks noChangeArrowheads="1"/>
                </p:cNvSpPr>
                <p:nvPr/>
              </p:nvSpPr>
              <p:spPr bwMode="white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22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38970" name="AutoShape 152"/>
                <p:cNvSpPr>
                  <a:spLocks noChangeArrowheads="1"/>
                </p:cNvSpPr>
                <p:nvPr/>
              </p:nvSpPr>
              <p:spPr bwMode="white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22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38971" name="AutoShape 153"/>
                <p:cNvSpPr>
                  <a:spLocks noChangeArrowheads="1"/>
                </p:cNvSpPr>
                <p:nvPr/>
              </p:nvSpPr>
              <p:spPr bwMode="white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22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38972" name="AutoShape 154"/>
                <p:cNvSpPr>
                  <a:spLocks noChangeArrowheads="1"/>
                </p:cNvSpPr>
                <p:nvPr/>
              </p:nvSpPr>
              <p:spPr bwMode="white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22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</p:grpSp>
        </p:grpSp>
      </p:grpSp>
      <p:grpSp>
        <p:nvGrpSpPr>
          <p:cNvPr id="25604" name="Group 127"/>
          <p:cNvGrpSpPr>
            <a:grpSpLocks/>
          </p:cNvGrpSpPr>
          <p:nvPr/>
        </p:nvGrpSpPr>
        <p:grpSpPr bwMode="auto">
          <a:xfrm>
            <a:off x="5445125" y="1396083"/>
            <a:ext cx="1146175" cy="1384300"/>
            <a:chOff x="2064" y="1008"/>
            <a:chExt cx="722" cy="872"/>
          </a:xfrm>
        </p:grpSpPr>
        <p:sp>
          <p:nvSpPr>
            <p:cNvPr id="38937" name="Oval 128"/>
            <p:cNvSpPr>
              <a:spLocks noChangeArrowheads="1"/>
            </p:cNvSpPr>
            <p:nvPr/>
          </p:nvSpPr>
          <p:spPr bwMode="gray">
            <a:xfrm>
              <a:off x="2064" y="1008"/>
              <a:ext cx="722" cy="727"/>
            </a:xfrm>
            <a:prstGeom prst="ellipse">
              <a:avLst/>
            </a:prstGeom>
            <a:solidFill>
              <a:srgbClr val="EAEAEA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38938" name="Group 129"/>
            <p:cNvGrpSpPr>
              <a:grpSpLocks/>
            </p:cNvGrpSpPr>
            <p:nvPr/>
          </p:nvGrpSpPr>
          <p:grpSpPr bwMode="auto">
            <a:xfrm>
              <a:off x="2086" y="1031"/>
              <a:ext cx="680" cy="849"/>
              <a:chOff x="3975" y="1593"/>
              <a:chExt cx="931" cy="1163"/>
            </a:xfrm>
          </p:grpSpPr>
          <p:pic>
            <p:nvPicPr>
              <p:cNvPr id="38950" name="Picture 130" descr="circuler_1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975" y="1593"/>
                <a:ext cx="925" cy="9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8951" name="Oval 131"/>
              <p:cNvSpPr>
                <a:spLocks noChangeArrowheads="1"/>
              </p:cNvSpPr>
              <p:nvPr/>
            </p:nvSpPr>
            <p:spPr bwMode="gray">
              <a:xfrm>
                <a:off x="3975" y="1593"/>
                <a:ext cx="931" cy="937"/>
              </a:xfrm>
              <a:prstGeom prst="ellipse">
                <a:avLst/>
              </a:prstGeom>
              <a:solidFill>
                <a:schemeClr val="folHlink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pic>
            <p:nvPicPr>
              <p:cNvPr id="38952" name="Picture 132" descr="light_shadow1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285"/>
              <a:stretch>
                <a:fillRect/>
              </a:stretch>
            </p:blipFill>
            <p:spPr bwMode="gray">
              <a:xfrm>
                <a:off x="3984" y="1632"/>
                <a:ext cx="682" cy="5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8953" name="Group 133"/>
              <p:cNvGrpSpPr>
                <a:grpSpLocks/>
              </p:cNvGrpSpPr>
              <p:nvPr/>
            </p:nvGrpSpPr>
            <p:grpSpPr bwMode="auto">
              <a:xfrm rot="-3733502" flipH="1" flipV="1">
                <a:off x="4256" y="2247"/>
                <a:ext cx="820" cy="198"/>
                <a:chOff x="2532" y="1051"/>
                <a:chExt cx="893" cy="246"/>
              </a:xfrm>
            </p:grpSpPr>
            <p:grpSp>
              <p:nvGrpSpPr>
                <p:cNvPr id="38954" name="Group 134"/>
                <p:cNvGrpSpPr>
                  <a:grpSpLocks/>
                </p:cNvGrpSpPr>
                <p:nvPr/>
              </p:nvGrpSpPr>
              <p:grpSpPr bwMode="auto">
                <a:xfrm>
                  <a:off x="2532" y="1051"/>
                  <a:ext cx="743" cy="185"/>
                  <a:chOff x="1565" y="2568"/>
                  <a:chExt cx="1118" cy="279"/>
                </a:xfrm>
              </p:grpSpPr>
              <p:sp>
                <p:nvSpPr>
                  <p:cNvPr id="38960" name="AutoShape 135"/>
                  <p:cNvSpPr>
                    <a:spLocks noChangeArrowheads="1"/>
                  </p:cNvSpPr>
                  <p:nvPr/>
                </p:nvSpPr>
                <p:spPr bwMode="white">
                  <a:xfrm rot="5263130">
                    <a:off x="1859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38961" name="AutoShape 136"/>
                  <p:cNvSpPr>
                    <a:spLocks noChangeArrowheads="1"/>
                  </p:cNvSpPr>
                  <p:nvPr/>
                </p:nvSpPr>
                <p:spPr bwMode="white">
                  <a:xfrm rot="6078281">
                    <a:off x="1995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38962" name="AutoShape 137"/>
                  <p:cNvSpPr>
                    <a:spLocks noChangeArrowheads="1"/>
                  </p:cNvSpPr>
                  <p:nvPr/>
                </p:nvSpPr>
                <p:spPr bwMode="white">
                  <a:xfrm rot="6373927">
                    <a:off x="2071" y="229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38963" name="AutoShape 138"/>
                  <p:cNvSpPr>
                    <a:spLocks noChangeArrowheads="1"/>
                  </p:cNvSpPr>
                  <p:nvPr/>
                </p:nvSpPr>
                <p:spPr bwMode="white">
                  <a:xfrm rot="6906312">
                    <a:off x="2161" y="232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</p:grpSp>
            <p:grpSp>
              <p:nvGrpSpPr>
                <p:cNvPr id="38955" name="Group 139"/>
                <p:cNvGrpSpPr>
                  <a:grpSpLocks/>
                </p:cNvGrpSpPr>
                <p:nvPr/>
              </p:nvGrpSpPr>
              <p:grpSpPr bwMode="auto">
                <a:xfrm rot="1353540">
                  <a:off x="2682" y="1111"/>
                  <a:ext cx="743" cy="186"/>
                  <a:chOff x="1565" y="2568"/>
                  <a:chExt cx="1118" cy="279"/>
                </a:xfrm>
              </p:grpSpPr>
              <p:sp>
                <p:nvSpPr>
                  <p:cNvPr id="38956" name="AutoShape 140"/>
                  <p:cNvSpPr>
                    <a:spLocks noChangeArrowheads="1"/>
                  </p:cNvSpPr>
                  <p:nvPr/>
                </p:nvSpPr>
                <p:spPr bwMode="white">
                  <a:xfrm rot="5263130">
                    <a:off x="1859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38957" name="AutoShape 141"/>
                  <p:cNvSpPr>
                    <a:spLocks noChangeArrowheads="1"/>
                  </p:cNvSpPr>
                  <p:nvPr/>
                </p:nvSpPr>
                <p:spPr bwMode="white">
                  <a:xfrm rot="6078281">
                    <a:off x="1995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38958" name="AutoShape 142"/>
                  <p:cNvSpPr>
                    <a:spLocks noChangeArrowheads="1"/>
                  </p:cNvSpPr>
                  <p:nvPr/>
                </p:nvSpPr>
                <p:spPr bwMode="white">
                  <a:xfrm rot="6373927">
                    <a:off x="2071" y="229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38959" name="AutoShape 143"/>
                  <p:cNvSpPr>
                    <a:spLocks noChangeArrowheads="1"/>
                  </p:cNvSpPr>
                  <p:nvPr/>
                </p:nvSpPr>
                <p:spPr bwMode="white">
                  <a:xfrm rot="6906312">
                    <a:off x="2161" y="232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</p:grpSp>
          </p:grpSp>
        </p:grpSp>
        <p:grpSp>
          <p:nvGrpSpPr>
            <p:cNvPr id="38939" name="Group 144"/>
            <p:cNvGrpSpPr>
              <a:grpSpLocks/>
            </p:cNvGrpSpPr>
            <p:nvPr/>
          </p:nvGrpSpPr>
          <p:grpSpPr bwMode="auto">
            <a:xfrm rot="-3733502" flipH="1" flipV="1">
              <a:off x="2362" y="1505"/>
              <a:ext cx="527" cy="128"/>
              <a:chOff x="2532" y="1051"/>
              <a:chExt cx="893" cy="246"/>
            </a:xfrm>
          </p:grpSpPr>
          <p:grpSp>
            <p:nvGrpSpPr>
              <p:cNvPr id="38940" name="Group 145"/>
              <p:cNvGrpSpPr>
                <a:grpSpLocks/>
              </p:cNvGrpSpPr>
              <p:nvPr/>
            </p:nvGrpSpPr>
            <p:grpSpPr bwMode="auto">
              <a:xfrm>
                <a:off x="2532" y="1051"/>
                <a:ext cx="743" cy="185"/>
                <a:chOff x="1565" y="2568"/>
                <a:chExt cx="1118" cy="279"/>
              </a:xfrm>
            </p:grpSpPr>
            <p:sp>
              <p:nvSpPr>
                <p:cNvPr id="38946" name="AutoShape 146"/>
                <p:cNvSpPr>
                  <a:spLocks noChangeArrowheads="1"/>
                </p:cNvSpPr>
                <p:nvPr/>
              </p:nvSpPr>
              <p:spPr bwMode="white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22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38947" name="AutoShape 147"/>
                <p:cNvSpPr>
                  <a:spLocks noChangeArrowheads="1"/>
                </p:cNvSpPr>
                <p:nvPr/>
              </p:nvSpPr>
              <p:spPr bwMode="white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22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38948" name="AutoShape 148"/>
                <p:cNvSpPr>
                  <a:spLocks noChangeArrowheads="1"/>
                </p:cNvSpPr>
                <p:nvPr/>
              </p:nvSpPr>
              <p:spPr bwMode="white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22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38949" name="AutoShape 149"/>
                <p:cNvSpPr>
                  <a:spLocks noChangeArrowheads="1"/>
                </p:cNvSpPr>
                <p:nvPr/>
              </p:nvSpPr>
              <p:spPr bwMode="white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22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</p:grpSp>
          <p:grpSp>
            <p:nvGrpSpPr>
              <p:cNvPr id="38941" name="Group 150"/>
              <p:cNvGrpSpPr>
                <a:grpSpLocks/>
              </p:cNvGrpSpPr>
              <p:nvPr/>
            </p:nvGrpSpPr>
            <p:grpSpPr bwMode="auto">
              <a:xfrm rot="1353540">
                <a:off x="2682" y="1111"/>
                <a:ext cx="743" cy="186"/>
                <a:chOff x="1565" y="2568"/>
                <a:chExt cx="1118" cy="279"/>
              </a:xfrm>
            </p:grpSpPr>
            <p:sp>
              <p:nvSpPr>
                <p:cNvPr id="38942" name="AutoShape 151"/>
                <p:cNvSpPr>
                  <a:spLocks noChangeArrowheads="1"/>
                </p:cNvSpPr>
                <p:nvPr/>
              </p:nvSpPr>
              <p:spPr bwMode="white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22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38943" name="AutoShape 152"/>
                <p:cNvSpPr>
                  <a:spLocks noChangeArrowheads="1"/>
                </p:cNvSpPr>
                <p:nvPr/>
              </p:nvSpPr>
              <p:spPr bwMode="white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22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38944" name="AutoShape 153"/>
                <p:cNvSpPr>
                  <a:spLocks noChangeArrowheads="1"/>
                </p:cNvSpPr>
                <p:nvPr/>
              </p:nvSpPr>
              <p:spPr bwMode="white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22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38945" name="AutoShape 154"/>
                <p:cNvSpPr>
                  <a:spLocks noChangeArrowheads="1"/>
                </p:cNvSpPr>
                <p:nvPr/>
              </p:nvSpPr>
              <p:spPr bwMode="white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22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</p:grpSp>
        </p:grpSp>
      </p:grpSp>
      <p:graphicFrame>
        <p:nvGraphicFramePr>
          <p:cNvPr id="95" name="对象 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677179"/>
              </p:ext>
            </p:extLst>
          </p:nvPr>
        </p:nvGraphicFramePr>
        <p:xfrm>
          <a:off x="3249302" y="1170341"/>
          <a:ext cx="14446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20474" imgH="203112" progId="Equation.DSMT4">
                  <p:embed/>
                </p:oleObj>
              </mc:Choice>
              <mc:Fallback>
                <p:oleObj name="Equation" r:id="rId6" imgW="520474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302" y="1170341"/>
                        <a:ext cx="1444625" cy="5635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bg1"/>
                          </a:gs>
                          <a:gs pos="100000">
                            <a:srgbClr val="FF7979"/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对象 1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429770"/>
              </p:ext>
            </p:extLst>
          </p:nvPr>
        </p:nvGraphicFramePr>
        <p:xfrm>
          <a:off x="2071688" y="1758033"/>
          <a:ext cx="395287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5028" imgH="228501" progId="Equation.DSMT4">
                  <p:embed/>
                </p:oleObj>
              </mc:Choice>
              <mc:Fallback>
                <p:oleObj name="Equation" r:id="rId8" imgW="165028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1758033"/>
                        <a:ext cx="395287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对象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034720"/>
              </p:ext>
            </p:extLst>
          </p:nvPr>
        </p:nvGraphicFramePr>
        <p:xfrm>
          <a:off x="6710363" y="1699295"/>
          <a:ext cx="455612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500" imgH="228600" progId="Equation.DSMT4">
                  <p:embed/>
                </p:oleObj>
              </mc:Choice>
              <mc:Fallback>
                <p:oleObj name="Equation" r:id="rId10" imgW="190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0363" y="1699295"/>
                        <a:ext cx="455612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对象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170575"/>
              </p:ext>
            </p:extLst>
          </p:nvPr>
        </p:nvGraphicFramePr>
        <p:xfrm>
          <a:off x="3908425" y="2059658"/>
          <a:ext cx="99377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57200" imgH="228600" progId="Equation.DSMT4">
                  <p:embed/>
                </p:oleObj>
              </mc:Choice>
              <mc:Fallback>
                <p:oleObj name="Equation" r:id="rId12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425" y="2059658"/>
                        <a:ext cx="993775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对象 1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08571"/>
              </p:ext>
            </p:extLst>
          </p:nvPr>
        </p:nvGraphicFramePr>
        <p:xfrm>
          <a:off x="2867025" y="2812133"/>
          <a:ext cx="121126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58558" imgH="431613" progId="Equation.DSMT4">
                  <p:embed/>
                </p:oleObj>
              </mc:Choice>
              <mc:Fallback>
                <p:oleObj name="Equation" r:id="rId14" imgW="558558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7025" y="2812133"/>
                        <a:ext cx="1211263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" name="下箭头 105"/>
          <p:cNvSpPr/>
          <p:nvPr/>
        </p:nvSpPr>
        <p:spPr bwMode="auto">
          <a:xfrm rot="16200000">
            <a:off x="4406901" y="2889920"/>
            <a:ext cx="304800" cy="746125"/>
          </a:xfrm>
          <a:prstGeom prst="downArrow">
            <a:avLst/>
          </a:prstGeom>
          <a:gradFill>
            <a:gsLst>
              <a:gs pos="0">
                <a:srgbClr val="EBEBF9"/>
              </a:gs>
              <a:gs pos="100000">
                <a:schemeClr val="accent2">
                  <a:lumMod val="40000"/>
                  <a:lumOff val="6000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graphicFrame>
        <p:nvGraphicFramePr>
          <p:cNvPr id="107" name="对象 1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080557"/>
              </p:ext>
            </p:extLst>
          </p:nvPr>
        </p:nvGraphicFramePr>
        <p:xfrm>
          <a:off x="5116513" y="2780383"/>
          <a:ext cx="12080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33169" imgH="431613" progId="Equation.DSMT4">
                  <p:embed/>
                </p:oleObj>
              </mc:Choice>
              <mc:Fallback>
                <p:oleObj name="Equation" r:id="rId16" imgW="533169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513" y="2780383"/>
                        <a:ext cx="120808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524000" y="3834483"/>
            <a:ext cx="5121275" cy="2297112"/>
            <a:chOff x="1524790" y="3962400"/>
            <a:chExt cx="5120485" cy="2297113"/>
          </a:xfrm>
        </p:grpSpPr>
        <p:pic>
          <p:nvPicPr>
            <p:cNvPr id="38931" name="图片 103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1738" y="3962400"/>
              <a:ext cx="4173537" cy="2297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8932" name="组合 2"/>
            <p:cNvGrpSpPr>
              <a:grpSpLocks/>
            </p:cNvGrpSpPr>
            <p:nvPr/>
          </p:nvGrpSpPr>
          <p:grpSpPr bwMode="auto">
            <a:xfrm>
              <a:off x="1524790" y="4063206"/>
              <a:ext cx="553938" cy="2095499"/>
              <a:chOff x="1524790" y="4063206"/>
              <a:chExt cx="553938" cy="2095499"/>
            </a:xfrm>
          </p:grpSpPr>
          <p:grpSp>
            <p:nvGrpSpPr>
              <p:cNvPr id="38933" name="Group 18"/>
              <p:cNvGrpSpPr>
                <a:grpSpLocks/>
              </p:cNvGrpSpPr>
              <p:nvPr/>
            </p:nvGrpSpPr>
            <p:grpSpPr bwMode="auto">
              <a:xfrm rot="5400000">
                <a:off x="771969" y="4858987"/>
                <a:ext cx="2095499" cy="503938"/>
                <a:chOff x="744" y="1407"/>
                <a:chExt cx="3988" cy="444"/>
              </a:xfrm>
            </p:grpSpPr>
            <p:sp>
              <p:nvSpPr>
                <p:cNvPr id="71" name="AutoShape 19"/>
                <p:cNvSpPr>
                  <a:spLocks noChangeArrowheads="1"/>
                </p:cNvSpPr>
                <p:nvPr/>
              </p:nvSpPr>
              <p:spPr bwMode="gray">
                <a:xfrm>
                  <a:off x="694" y="1760"/>
                  <a:ext cx="3988" cy="11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chemeClr val="hlink">
                        <a:gamma/>
                        <a:tint val="41176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defRPr/>
                  </a:pPr>
                  <a:endParaRPr lang="zh-CN" altLang="en-US" sz="1800" dirty="0">
                    <a:latin typeface="Arial" charset="0"/>
                    <a:ea typeface="宋体" charset="-122"/>
                  </a:endParaRPr>
                </a:p>
              </p:txBody>
            </p:sp>
            <p:sp>
              <p:nvSpPr>
                <p:cNvPr id="38936" name="AutoShape 20"/>
                <p:cNvSpPr>
                  <a:spLocks noChangeArrowheads="1"/>
                </p:cNvSpPr>
                <p:nvPr/>
              </p:nvSpPr>
              <p:spPr bwMode="gray">
                <a:xfrm>
                  <a:off x="744" y="1407"/>
                  <a:ext cx="3988" cy="11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91D0D3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</p:grpSp>
          <p:sp>
            <p:nvSpPr>
              <p:cNvPr id="38934" name="文本框 1"/>
              <p:cNvSpPr txBox="1">
                <a:spLocks noChangeArrowheads="1"/>
              </p:cNvSpPr>
              <p:nvPr/>
            </p:nvSpPr>
            <p:spPr bwMode="auto">
              <a:xfrm>
                <a:off x="1524790" y="4446328"/>
                <a:ext cx="553938" cy="1323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尖端放电</a:t>
                </a:r>
              </a:p>
            </p:txBody>
          </p:sp>
        </p:grpSp>
      </p:grpSp>
      <p:pic>
        <p:nvPicPr>
          <p:cNvPr id="38925" name="图片 1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785"/>
          <a:stretch>
            <a:fillRect/>
          </a:stretch>
        </p:blipFill>
        <p:spPr bwMode="auto">
          <a:xfrm>
            <a:off x="637864" y="1189391"/>
            <a:ext cx="720725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28" name="文本框 1"/>
          <p:cNvSpPr txBox="1">
            <a:spLocks noChangeArrowheads="1"/>
          </p:cNvSpPr>
          <p:nvPr/>
        </p:nvSpPr>
        <p:spPr bwMode="auto">
          <a:xfrm>
            <a:off x="1230002" y="1227491"/>
            <a:ext cx="1981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表面曲率：</a:t>
            </a:r>
          </a:p>
        </p:txBody>
      </p:sp>
    </p:spTree>
    <p:extLst>
      <p:ext uri="{BB962C8B-B14F-4D97-AF65-F5344CB8AC3E}">
        <p14:creationId xmlns:p14="http://schemas.microsoft.com/office/powerpoint/2010/main" val="1893179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5" name="Text Box 35"/>
          <p:cNvSpPr txBox="1">
            <a:spLocks noChangeArrowheads="1"/>
          </p:cNvSpPr>
          <p:nvPr/>
        </p:nvSpPr>
        <p:spPr bwMode="gray">
          <a:xfrm>
            <a:off x="838200" y="5114764"/>
            <a:ext cx="7924800" cy="76993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4400" b="1">
                <a:solidFill>
                  <a:schemeClr val="folHlink"/>
                </a:solidFill>
                <a:latin typeface="Arial‘"/>
                <a:ea typeface="微软雅黑" panose="020B0503020204020204" pitchFamily="34" charset="-122"/>
              </a:rPr>
              <a:t>尖端放电（</a:t>
            </a:r>
            <a:r>
              <a:rPr lang="en-US" altLang="zh-CN" sz="4400" b="1">
                <a:solidFill>
                  <a:schemeClr val="folHlink"/>
                </a:solidFill>
                <a:latin typeface="Arial‘"/>
                <a:ea typeface="微软雅黑" panose="020B0503020204020204" pitchFamily="34" charset="-122"/>
              </a:rPr>
              <a:t>point discharge</a:t>
            </a:r>
            <a:r>
              <a:rPr lang="zh-CN" altLang="en-US" sz="4400" b="1">
                <a:solidFill>
                  <a:schemeClr val="folHlink"/>
                </a:solidFill>
                <a:latin typeface="Arial‘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6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46077"/>
            <a:ext cx="4386263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304764"/>
            <a:ext cx="2819400" cy="36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1191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8640960" cy="936104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二、静电屏蔽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863" y="1600200"/>
            <a:ext cx="4605337" cy="362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0737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6000" y="1088739"/>
            <a:ext cx="5619158" cy="533249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静电平衡条件下，导体空腔除了具有一般导体的基本性质外 ，还有一些特殊的性质，分两种情况：</a:t>
            </a:r>
            <a:endParaRPr lang="en-US" altLang="zh-CN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6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6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、腔内无电荷：</a:t>
            </a:r>
            <a:endParaRPr lang="en-US" altLang="zh-CN" sz="26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）空腔的内表面不存在电荷；</a:t>
            </a:r>
            <a:endParaRPr lang="en-US" altLang="zh-CN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）腔内无电场；</a:t>
            </a:r>
            <a:endParaRPr lang="en-US" altLang="zh-CN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）腔内电势为常数。</a:t>
            </a:r>
            <a:endParaRPr lang="en-US" altLang="zh-CN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zh-CN" altLang="en-US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6057900" y="1200460"/>
            <a:ext cx="2620963" cy="2768600"/>
            <a:chOff x="6019800" y="914400"/>
            <a:chExt cx="2620962" cy="2768600"/>
          </a:xfrm>
        </p:grpSpPr>
        <p:pic>
          <p:nvPicPr>
            <p:cNvPr id="6" name="Picture 19" descr="YG_circle00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4425" y="1522412"/>
              <a:ext cx="1882775" cy="187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" name="Group 40"/>
            <p:cNvGrpSpPr>
              <a:grpSpLocks/>
            </p:cNvGrpSpPr>
            <p:nvPr/>
          </p:nvGrpSpPr>
          <p:grpSpPr bwMode="auto">
            <a:xfrm>
              <a:off x="7950200" y="914400"/>
              <a:ext cx="690562" cy="831850"/>
              <a:chOff x="2064" y="1008"/>
              <a:chExt cx="722" cy="872"/>
            </a:xfrm>
          </p:grpSpPr>
          <p:sp>
            <p:nvSpPr>
              <p:cNvPr id="14" name="Oval 41"/>
              <p:cNvSpPr>
                <a:spLocks noChangeArrowheads="1"/>
              </p:cNvSpPr>
              <p:nvPr/>
            </p:nvSpPr>
            <p:spPr bwMode="gray">
              <a:xfrm>
                <a:off x="2064" y="1008"/>
                <a:ext cx="722" cy="727"/>
              </a:xfrm>
              <a:prstGeom prst="ellipse">
                <a:avLst/>
              </a:prstGeom>
              <a:solidFill>
                <a:srgbClr val="EAEAEA">
                  <a:alpha val="50195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grpSp>
            <p:nvGrpSpPr>
              <p:cNvPr id="15" name="Group 42"/>
              <p:cNvGrpSpPr>
                <a:grpSpLocks/>
              </p:cNvGrpSpPr>
              <p:nvPr/>
            </p:nvGrpSpPr>
            <p:grpSpPr bwMode="auto">
              <a:xfrm>
                <a:off x="2086" y="1031"/>
                <a:ext cx="680" cy="849"/>
                <a:chOff x="3975" y="1593"/>
                <a:chExt cx="931" cy="1163"/>
              </a:xfrm>
            </p:grpSpPr>
            <p:pic>
              <p:nvPicPr>
                <p:cNvPr id="28" name="Picture 43" descr="circuler_1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3975" y="1593"/>
                  <a:ext cx="925" cy="9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9" name="Oval 44"/>
                <p:cNvSpPr>
                  <a:spLocks noChangeArrowheads="1"/>
                </p:cNvSpPr>
                <p:nvPr/>
              </p:nvSpPr>
              <p:spPr bwMode="gray">
                <a:xfrm>
                  <a:off x="3975" y="1593"/>
                  <a:ext cx="931" cy="937"/>
                </a:xfrm>
                <a:prstGeom prst="ellipse">
                  <a:avLst/>
                </a:prstGeom>
                <a:solidFill>
                  <a:schemeClr val="accent2">
                    <a:alpha val="50195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/>
                </a:p>
              </p:txBody>
            </p:sp>
            <p:pic>
              <p:nvPicPr>
                <p:cNvPr id="30" name="Picture 45" descr="light_shadow1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4285"/>
                <a:stretch>
                  <a:fillRect/>
                </a:stretch>
              </p:blipFill>
              <p:spPr bwMode="gray">
                <a:xfrm>
                  <a:off x="3984" y="1632"/>
                  <a:ext cx="682" cy="5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31" name="Group 46"/>
                <p:cNvGrpSpPr>
                  <a:grpSpLocks/>
                </p:cNvGrpSpPr>
                <p:nvPr/>
              </p:nvGrpSpPr>
              <p:grpSpPr bwMode="auto">
                <a:xfrm rot="-3733502" flipH="1" flipV="1">
                  <a:off x="4256" y="2247"/>
                  <a:ext cx="820" cy="198"/>
                  <a:chOff x="2532" y="1051"/>
                  <a:chExt cx="893" cy="246"/>
                </a:xfrm>
              </p:grpSpPr>
              <p:grpSp>
                <p:nvGrpSpPr>
                  <p:cNvPr id="32" name="Group 47"/>
                  <p:cNvGrpSpPr>
                    <a:grpSpLocks/>
                  </p:cNvGrpSpPr>
                  <p:nvPr/>
                </p:nvGrpSpPr>
                <p:grpSpPr bwMode="auto">
                  <a:xfrm>
                    <a:off x="2532" y="1051"/>
                    <a:ext cx="743" cy="185"/>
                    <a:chOff x="1565" y="2568"/>
                    <a:chExt cx="1118" cy="279"/>
                  </a:xfrm>
                </p:grpSpPr>
                <p:sp>
                  <p:nvSpPr>
                    <p:cNvPr id="38" name="AutoShape 48"/>
                    <p:cNvSpPr>
                      <a:spLocks noChangeArrowheads="1"/>
                    </p:cNvSpPr>
                    <p:nvPr/>
                  </p:nvSpPr>
                  <p:spPr bwMode="white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22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800"/>
                    </a:p>
                  </p:txBody>
                </p:sp>
                <p:sp>
                  <p:nvSpPr>
                    <p:cNvPr id="39" name="AutoShape 49"/>
                    <p:cNvSpPr>
                      <a:spLocks noChangeArrowheads="1"/>
                    </p:cNvSpPr>
                    <p:nvPr/>
                  </p:nvSpPr>
                  <p:spPr bwMode="white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22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800"/>
                    </a:p>
                  </p:txBody>
                </p:sp>
                <p:sp>
                  <p:nvSpPr>
                    <p:cNvPr id="40" name="AutoShape 50"/>
                    <p:cNvSpPr>
                      <a:spLocks noChangeArrowheads="1"/>
                    </p:cNvSpPr>
                    <p:nvPr/>
                  </p:nvSpPr>
                  <p:spPr bwMode="white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22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800"/>
                    </a:p>
                  </p:txBody>
                </p:sp>
                <p:sp>
                  <p:nvSpPr>
                    <p:cNvPr id="41" name="AutoShape 51"/>
                    <p:cNvSpPr>
                      <a:spLocks noChangeArrowheads="1"/>
                    </p:cNvSpPr>
                    <p:nvPr/>
                  </p:nvSpPr>
                  <p:spPr bwMode="white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22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800"/>
                    </a:p>
                  </p:txBody>
                </p:sp>
              </p:grpSp>
              <p:grpSp>
                <p:nvGrpSpPr>
                  <p:cNvPr id="33" name="Group 52"/>
                  <p:cNvGrpSpPr>
                    <a:grpSpLocks/>
                  </p:cNvGrpSpPr>
                  <p:nvPr/>
                </p:nvGrpSpPr>
                <p:grpSpPr bwMode="auto">
                  <a:xfrm rot="1353540">
                    <a:off x="2682" y="1111"/>
                    <a:ext cx="743" cy="186"/>
                    <a:chOff x="1565" y="2568"/>
                    <a:chExt cx="1118" cy="279"/>
                  </a:xfrm>
                </p:grpSpPr>
                <p:sp>
                  <p:nvSpPr>
                    <p:cNvPr id="34" name="AutoShape 53"/>
                    <p:cNvSpPr>
                      <a:spLocks noChangeArrowheads="1"/>
                    </p:cNvSpPr>
                    <p:nvPr/>
                  </p:nvSpPr>
                  <p:spPr bwMode="white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22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800"/>
                    </a:p>
                  </p:txBody>
                </p:sp>
                <p:sp>
                  <p:nvSpPr>
                    <p:cNvPr id="35" name="AutoShape 54"/>
                    <p:cNvSpPr>
                      <a:spLocks noChangeArrowheads="1"/>
                    </p:cNvSpPr>
                    <p:nvPr/>
                  </p:nvSpPr>
                  <p:spPr bwMode="white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22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800"/>
                    </a:p>
                  </p:txBody>
                </p:sp>
                <p:sp>
                  <p:nvSpPr>
                    <p:cNvPr id="36" name="AutoShape 55"/>
                    <p:cNvSpPr>
                      <a:spLocks noChangeArrowheads="1"/>
                    </p:cNvSpPr>
                    <p:nvPr/>
                  </p:nvSpPr>
                  <p:spPr bwMode="white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22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800"/>
                    </a:p>
                  </p:txBody>
                </p:sp>
                <p:sp>
                  <p:nvSpPr>
                    <p:cNvPr id="37" name="AutoShape 56"/>
                    <p:cNvSpPr>
                      <a:spLocks noChangeArrowheads="1"/>
                    </p:cNvSpPr>
                    <p:nvPr/>
                  </p:nvSpPr>
                  <p:spPr bwMode="white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22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800"/>
                    </a:p>
                  </p:txBody>
                </p:sp>
              </p:grpSp>
            </p:grpSp>
          </p:grpSp>
          <p:grpSp>
            <p:nvGrpSpPr>
              <p:cNvPr id="16" name="Group 57"/>
              <p:cNvGrpSpPr>
                <a:grpSpLocks/>
              </p:cNvGrpSpPr>
              <p:nvPr/>
            </p:nvGrpSpPr>
            <p:grpSpPr bwMode="auto">
              <a:xfrm rot="-3733502" flipH="1" flipV="1">
                <a:off x="2362" y="1505"/>
                <a:ext cx="527" cy="128"/>
                <a:chOff x="2532" y="1051"/>
                <a:chExt cx="893" cy="246"/>
              </a:xfrm>
            </p:grpSpPr>
            <p:grpSp>
              <p:nvGrpSpPr>
                <p:cNvPr id="18" name="Group 58"/>
                <p:cNvGrpSpPr>
                  <a:grpSpLocks/>
                </p:cNvGrpSpPr>
                <p:nvPr/>
              </p:nvGrpSpPr>
              <p:grpSpPr bwMode="auto">
                <a:xfrm>
                  <a:off x="2532" y="1051"/>
                  <a:ext cx="743" cy="185"/>
                  <a:chOff x="1565" y="2568"/>
                  <a:chExt cx="1118" cy="279"/>
                </a:xfrm>
              </p:grpSpPr>
              <p:sp>
                <p:nvSpPr>
                  <p:cNvPr id="24" name="AutoShape 59"/>
                  <p:cNvSpPr>
                    <a:spLocks noChangeArrowheads="1"/>
                  </p:cNvSpPr>
                  <p:nvPr/>
                </p:nvSpPr>
                <p:spPr bwMode="white">
                  <a:xfrm rot="5263130">
                    <a:off x="1859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25" name="AutoShape 60"/>
                  <p:cNvSpPr>
                    <a:spLocks noChangeArrowheads="1"/>
                  </p:cNvSpPr>
                  <p:nvPr/>
                </p:nvSpPr>
                <p:spPr bwMode="white">
                  <a:xfrm rot="6078281">
                    <a:off x="1995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26" name="AutoShape 61"/>
                  <p:cNvSpPr>
                    <a:spLocks noChangeArrowheads="1"/>
                  </p:cNvSpPr>
                  <p:nvPr/>
                </p:nvSpPr>
                <p:spPr bwMode="white">
                  <a:xfrm rot="6373927">
                    <a:off x="2071" y="229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27" name="AutoShape 62"/>
                  <p:cNvSpPr>
                    <a:spLocks noChangeArrowheads="1"/>
                  </p:cNvSpPr>
                  <p:nvPr/>
                </p:nvSpPr>
                <p:spPr bwMode="white">
                  <a:xfrm rot="6906312">
                    <a:off x="2161" y="232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</p:grpSp>
            <p:grpSp>
              <p:nvGrpSpPr>
                <p:cNvPr id="19" name="Group 63"/>
                <p:cNvGrpSpPr>
                  <a:grpSpLocks/>
                </p:cNvGrpSpPr>
                <p:nvPr/>
              </p:nvGrpSpPr>
              <p:grpSpPr bwMode="auto">
                <a:xfrm rot="1353540">
                  <a:off x="2682" y="1111"/>
                  <a:ext cx="743" cy="186"/>
                  <a:chOff x="1565" y="2568"/>
                  <a:chExt cx="1118" cy="279"/>
                </a:xfrm>
              </p:grpSpPr>
              <p:sp>
                <p:nvSpPr>
                  <p:cNvPr id="20" name="AutoShape 64"/>
                  <p:cNvSpPr>
                    <a:spLocks noChangeArrowheads="1"/>
                  </p:cNvSpPr>
                  <p:nvPr/>
                </p:nvSpPr>
                <p:spPr bwMode="white">
                  <a:xfrm rot="5263130">
                    <a:off x="1859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21" name="AutoShape 65"/>
                  <p:cNvSpPr>
                    <a:spLocks noChangeArrowheads="1"/>
                  </p:cNvSpPr>
                  <p:nvPr/>
                </p:nvSpPr>
                <p:spPr bwMode="white">
                  <a:xfrm rot="6078281">
                    <a:off x="1995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22" name="AutoShape 66"/>
                  <p:cNvSpPr>
                    <a:spLocks noChangeArrowheads="1"/>
                  </p:cNvSpPr>
                  <p:nvPr/>
                </p:nvSpPr>
                <p:spPr bwMode="white">
                  <a:xfrm rot="6373927">
                    <a:off x="2071" y="229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  <p:sp>
                <p:nvSpPr>
                  <p:cNvPr id="23" name="AutoShape 67"/>
                  <p:cNvSpPr>
                    <a:spLocks noChangeArrowheads="1"/>
                  </p:cNvSpPr>
                  <p:nvPr/>
                </p:nvSpPr>
                <p:spPr bwMode="white">
                  <a:xfrm rot="6906312">
                    <a:off x="2161" y="232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22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</p:grpSp>
          </p:grpSp>
          <p:sp>
            <p:nvSpPr>
              <p:cNvPr id="17" name="Rectangle 68"/>
              <p:cNvSpPr>
                <a:spLocks noChangeArrowheads="1"/>
              </p:cNvSpPr>
              <p:nvPr/>
            </p:nvSpPr>
            <p:spPr bwMode="gray">
              <a:xfrm>
                <a:off x="2173" y="1161"/>
                <a:ext cx="518" cy="3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rgbClr val="88A3A5"/>
                        </a:gs>
                        <a:gs pos="100000">
                          <a:schemeClr val="accent1"/>
                        </a:gs>
                      </a:gsLst>
                      <a:lin ang="18900000" scaled="1"/>
                    </a:gra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292929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+Q</a:t>
                </a:r>
                <a:endParaRPr lang="zh-CN" altLang="en-US" sz="1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" name="文本框 92"/>
            <p:cNvSpPr txBox="1">
              <a:spLocks noChangeArrowheads="1"/>
            </p:cNvSpPr>
            <p:nvPr/>
          </p:nvSpPr>
          <p:spPr bwMode="auto">
            <a:xfrm>
              <a:off x="6019800" y="2630487"/>
              <a:ext cx="395287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+</a:t>
              </a:r>
              <a:endParaRPr lang="zh-CN" altLang="en-US" sz="2800"/>
            </a:p>
          </p:txBody>
        </p:sp>
        <p:sp>
          <p:nvSpPr>
            <p:cNvPr id="9" name="文本框 93"/>
            <p:cNvSpPr txBox="1">
              <a:spLocks noChangeArrowheads="1"/>
            </p:cNvSpPr>
            <p:nvPr/>
          </p:nvSpPr>
          <p:spPr bwMode="auto">
            <a:xfrm>
              <a:off x="6240462" y="2919412"/>
              <a:ext cx="393700" cy="52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+</a:t>
              </a:r>
              <a:endParaRPr lang="zh-CN" altLang="en-US" sz="2800"/>
            </a:p>
          </p:txBody>
        </p:sp>
        <p:sp>
          <p:nvSpPr>
            <p:cNvPr id="10" name="文本框 94"/>
            <p:cNvSpPr txBox="1">
              <a:spLocks noChangeArrowheads="1"/>
            </p:cNvSpPr>
            <p:nvPr/>
          </p:nvSpPr>
          <p:spPr bwMode="auto">
            <a:xfrm>
              <a:off x="6543675" y="3160712"/>
              <a:ext cx="395287" cy="52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+</a:t>
              </a:r>
              <a:endParaRPr lang="zh-CN" altLang="en-US" sz="2800"/>
            </a:p>
          </p:txBody>
        </p:sp>
        <p:sp>
          <p:nvSpPr>
            <p:cNvPr id="11" name="文本框 95"/>
            <p:cNvSpPr txBox="1">
              <a:spLocks noChangeArrowheads="1"/>
            </p:cNvSpPr>
            <p:nvPr/>
          </p:nvSpPr>
          <p:spPr bwMode="auto">
            <a:xfrm>
              <a:off x="7202487" y="1189037"/>
              <a:ext cx="304800" cy="52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-</a:t>
              </a:r>
              <a:endParaRPr lang="zh-CN" altLang="en-US" sz="2800"/>
            </a:p>
          </p:txBody>
        </p:sp>
        <p:sp>
          <p:nvSpPr>
            <p:cNvPr id="12" name="文本框 97"/>
            <p:cNvSpPr txBox="1">
              <a:spLocks noChangeArrowheads="1"/>
            </p:cNvSpPr>
            <p:nvPr/>
          </p:nvSpPr>
          <p:spPr bwMode="auto">
            <a:xfrm>
              <a:off x="7518400" y="1330325"/>
              <a:ext cx="304800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-</a:t>
              </a:r>
              <a:endParaRPr lang="zh-CN" altLang="en-US" sz="2800"/>
            </a:p>
          </p:txBody>
        </p:sp>
        <p:sp>
          <p:nvSpPr>
            <p:cNvPr id="13" name="文本框 98"/>
            <p:cNvSpPr txBox="1">
              <a:spLocks noChangeArrowheads="1"/>
            </p:cNvSpPr>
            <p:nvPr/>
          </p:nvSpPr>
          <p:spPr bwMode="auto">
            <a:xfrm>
              <a:off x="7780337" y="1519237"/>
              <a:ext cx="3048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-</a:t>
              </a:r>
              <a:endParaRPr lang="zh-CN" altLang="en-US" sz="2800"/>
            </a:p>
          </p:txBody>
        </p:sp>
      </p:grpSp>
      <p:sp>
        <p:nvSpPr>
          <p:cNvPr id="42" name="Oval 63"/>
          <p:cNvSpPr>
            <a:spLocks noChangeArrowheads="1"/>
          </p:cNvSpPr>
          <p:nvPr/>
        </p:nvSpPr>
        <p:spPr bwMode="auto">
          <a:xfrm>
            <a:off x="6362700" y="1960873"/>
            <a:ext cx="1600200" cy="1590675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44" name="Group 73"/>
          <p:cNvGrpSpPr>
            <a:grpSpLocks/>
          </p:cNvGrpSpPr>
          <p:nvPr/>
        </p:nvGrpSpPr>
        <p:grpSpPr bwMode="auto">
          <a:xfrm>
            <a:off x="6438900" y="1898960"/>
            <a:ext cx="1293813" cy="1647825"/>
            <a:chOff x="3984" y="1641"/>
            <a:chExt cx="815" cy="1038"/>
          </a:xfrm>
        </p:grpSpPr>
        <p:grpSp>
          <p:nvGrpSpPr>
            <p:cNvPr id="45" name="Group 70"/>
            <p:cNvGrpSpPr>
              <a:grpSpLocks/>
            </p:cNvGrpSpPr>
            <p:nvPr/>
          </p:nvGrpSpPr>
          <p:grpSpPr bwMode="auto">
            <a:xfrm>
              <a:off x="3984" y="2169"/>
              <a:ext cx="480" cy="510"/>
              <a:chOff x="3984" y="2169"/>
              <a:chExt cx="480" cy="510"/>
            </a:xfrm>
          </p:grpSpPr>
          <p:sp>
            <p:nvSpPr>
              <p:cNvPr id="51" name="文本框 92"/>
              <p:cNvSpPr txBox="1">
                <a:spLocks noChangeArrowheads="1"/>
              </p:cNvSpPr>
              <p:nvPr/>
            </p:nvSpPr>
            <p:spPr bwMode="auto">
              <a:xfrm>
                <a:off x="3984" y="2169"/>
                <a:ext cx="24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FF0000"/>
                    </a:solidFill>
                  </a:rPr>
                  <a:t>+</a:t>
                </a:r>
                <a:endParaRPr lang="zh-CN" altLang="en-US" sz="2800">
                  <a:solidFill>
                    <a:srgbClr val="FF0000"/>
                  </a:solidFill>
                </a:endParaRPr>
              </a:p>
            </p:txBody>
          </p:sp>
          <p:sp>
            <p:nvSpPr>
              <p:cNvPr id="52" name="文本框 92"/>
              <p:cNvSpPr txBox="1">
                <a:spLocks noChangeArrowheads="1"/>
              </p:cNvSpPr>
              <p:nvPr/>
            </p:nvSpPr>
            <p:spPr bwMode="auto">
              <a:xfrm>
                <a:off x="4080" y="2304"/>
                <a:ext cx="24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FF0000"/>
                    </a:solidFill>
                  </a:rPr>
                  <a:t>+</a:t>
                </a:r>
                <a:endParaRPr lang="zh-CN" altLang="en-US" sz="2800">
                  <a:solidFill>
                    <a:srgbClr val="FF0000"/>
                  </a:solidFill>
                </a:endParaRPr>
              </a:p>
            </p:txBody>
          </p:sp>
          <p:sp>
            <p:nvSpPr>
              <p:cNvPr id="53" name="文本框 92"/>
              <p:cNvSpPr txBox="1">
                <a:spLocks noChangeArrowheads="1"/>
              </p:cNvSpPr>
              <p:nvPr/>
            </p:nvSpPr>
            <p:spPr bwMode="auto">
              <a:xfrm>
                <a:off x="4217" y="2352"/>
                <a:ext cx="24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FF0000"/>
                    </a:solidFill>
                  </a:rPr>
                  <a:t>+</a:t>
                </a:r>
                <a:endParaRPr lang="zh-CN" altLang="en-US" sz="280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6" name="Group 72"/>
            <p:cNvGrpSpPr>
              <a:grpSpLocks/>
            </p:cNvGrpSpPr>
            <p:nvPr/>
          </p:nvGrpSpPr>
          <p:grpSpPr bwMode="auto">
            <a:xfrm>
              <a:off x="4368" y="1641"/>
              <a:ext cx="431" cy="462"/>
              <a:chOff x="4368" y="1641"/>
              <a:chExt cx="431" cy="462"/>
            </a:xfrm>
          </p:grpSpPr>
          <p:grpSp>
            <p:nvGrpSpPr>
              <p:cNvPr id="47" name="Group 71"/>
              <p:cNvGrpSpPr>
                <a:grpSpLocks/>
              </p:cNvGrpSpPr>
              <p:nvPr/>
            </p:nvGrpSpPr>
            <p:grpSpPr bwMode="auto">
              <a:xfrm>
                <a:off x="4368" y="1641"/>
                <a:ext cx="335" cy="366"/>
                <a:chOff x="4368" y="1641"/>
                <a:chExt cx="335" cy="366"/>
              </a:xfrm>
            </p:grpSpPr>
            <p:sp>
              <p:nvSpPr>
                <p:cNvPr id="49" name="文本框 92"/>
                <p:cNvSpPr txBox="1">
                  <a:spLocks noChangeArrowheads="1"/>
                </p:cNvSpPr>
                <p:nvPr/>
              </p:nvSpPr>
              <p:spPr bwMode="auto">
                <a:xfrm>
                  <a:off x="4368" y="1641"/>
                  <a:ext cx="191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solidFill>
                        <a:srgbClr val="FF0000"/>
                      </a:solidFill>
                    </a:rPr>
                    <a:t>-</a:t>
                  </a:r>
                  <a:endParaRPr lang="zh-CN" altLang="en-US" sz="28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0" name="文本框 92"/>
                <p:cNvSpPr txBox="1">
                  <a:spLocks noChangeArrowheads="1"/>
                </p:cNvSpPr>
                <p:nvPr/>
              </p:nvSpPr>
              <p:spPr bwMode="auto">
                <a:xfrm>
                  <a:off x="4512" y="1680"/>
                  <a:ext cx="191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solidFill>
                        <a:srgbClr val="FF0000"/>
                      </a:solidFill>
                    </a:rPr>
                    <a:t>-</a:t>
                  </a:r>
                  <a:endParaRPr lang="zh-CN" altLang="en-US" sz="280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48" name="文本框 92"/>
              <p:cNvSpPr txBox="1">
                <a:spLocks noChangeArrowheads="1"/>
              </p:cNvSpPr>
              <p:nvPr/>
            </p:nvSpPr>
            <p:spPr bwMode="auto">
              <a:xfrm>
                <a:off x="4608" y="1776"/>
                <a:ext cx="19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FF0000"/>
                    </a:solidFill>
                  </a:rPr>
                  <a:t>-</a:t>
                </a:r>
                <a:endParaRPr lang="zh-CN" altLang="en-US" sz="280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54" name="Group 77"/>
          <p:cNvGrpSpPr>
            <a:grpSpLocks/>
          </p:cNvGrpSpPr>
          <p:nvPr/>
        </p:nvGrpSpPr>
        <p:grpSpPr bwMode="auto">
          <a:xfrm>
            <a:off x="6667500" y="2189473"/>
            <a:ext cx="990600" cy="990600"/>
            <a:chOff x="4128" y="1824"/>
            <a:chExt cx="624" cy="624"/>
          </a:xfrm>
        </p:grpSpPr>
        <p:sp>
          <p:nvSpPr>
            <p:cNvPr id="55" name="Line 74"/>
            <p:cNvSpPr>
              <a:spLocks noChangeShapeType="1"/>
            </p:cNvSpPr>
            <p:nvPr/>
          </p:nvSpPr>
          <p:spPr bwMode="auto">
            <a:xfrm flipV="1">
              <a:off x="4128" y="1824"/>
              <a:ext cx="336" cy="432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75"/>
            <p:cNvSpPr>
              <a:spLocks noChangeShapeType="1"/>
            </p:cNvSpPr>
            <p:nvPr/>
          </p:nvSpPr>
          <p:spPr bwMode="auto">
            <a:xfrm flipV="1">
              <a:off x="4272" y="1920"/>
              <a:ext cx="336" cy="432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76"/>
            <p:cNvSpPr>
              <a:spLocks noChangeShapeType="1"/>
            </p:cNvSpPr>
            <p:nvPr/>
          </p:nvSpPr>
          <p:spPr bwMode="auto">
            <a:xfrm flipV="1">
              <a:off x="4416" y="2016"/>
              <a:ext cx="336" cy="432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611560" y="4503651"/>
            <a:ext cx="7787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一个空腔的导体，如果内部没有带电体，则它能起到一个重要的作用：使得外部电场、电荷对腔内无影响，即具有保护内部空间的作用。称为</a:t>
            </a:r>
            <a:r>
              <a:rPr lang="zh-CN" altLang="en-US"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静电屏蔽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34468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1" y="2564904"/>
            <a:ext cx="9135703" cy="3384376"/>
          </a:xfrm>
        </p:spPr>
        <p:txBody>
          <a:bodyPr/>
          <a:lstStyle/>
          <a:p>
            <a:pPr marL="1077913" indent="-1077913">
              <a:lnSpc>
                <a:spcPct val="125000"/>
              </a:lnSpc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）导体空腔的内表面上的电荷与腔内的电荷等值异号；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077913" indent="-1077913">
              <a:lnSpc>
                <a:spcPct val="125000"/>
              </a:lnSpc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）腔内的电场与电势分布都由腔内电荷决定；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077913" indent="-1077913">
              <a:lnSpc>
                <a:spcPct val="125000"/>
              </a:lnSpc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）腔内表面电荷分布与腔外情况无关，整个空间的电场和电势分布都仅受腔内电荷影响；</a:t>
            </a:r>
            <a:endParaRPr lang="en-US" altLang="zh-CN" sz="24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077913" indent="-1077913">
              <a:lnSpc>
                <a:spcPct val="125000"/>
              </a:lnSpc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）将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空腔外壁接地，腔外电场及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电势分布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不受腔内电荷影响。</a:t>
            </a:r>
          </a:p>
        </p:txBody>
      </p:sp>
      <p:sp>
        <p:nvSpPr>
          <p:cNvPr id="2" name="矩形 1"/>
          <p:cNvSpPr/>
          <p:nvPr/>
        </p:nvSpPr>
        <p:spPr>
          <a:xfrm>
            <a:off x="215516" y="5239668"/>
            <a:ext cx="8712460" cy="828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总而言之，一个空腔导体，无论内部是否有带电体，它都能有效的隔绝或说排斥外电场的作用，起到静电屏蔽的作用。</a:t>
            </a:r>
            <a:endParaRPr lang="zh-CN" alt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215516" y="584684"/>
            <a:ext cx="2698175" cy="5236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sz="26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6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、腔内有电荷：</a:t>
            </a:r>
            <a:endParaRPr lang="en-US" altLang="zh-CN" sz="26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19972" y="288526"/>
            <a:ext cx="3996444" cy="23431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22387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例题</a:t>
            </a:r>
            <a:endParaRPr lang="zh-CN" altLang="en-US" sz="2400" b="1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5163202" y="1256184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" name="Group 1"/>
          <p:cNvGrpSpPr>
            <a:grpSpLocks/>
          </p:cNvGrpSpPr>
          <p:nvPr/>
        </p:nvGrpSpPr>
        <p:grpSpPr bwMode="auto">
          <a:xfrm>
            <a:off x="6862762" y="2780928"/>
            <a:ext cx="1285875" cy="1228725"/>
            <a:chOff x="6056" y="12278"/>
            <a:chExt cx="2025" cy="1935"/>
          </a:xfrm>
        </p:grpSpPr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6056" y="12278"/>
              <a:ext cx="2025" cy="1935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6146" y="12353"/>
              <a:ext cx="1860" cy="1770"/>
            </a:xfrm>
            <a:prstGeom prst="ellipse">
              <a:avLst/>
            </a:prstGeom>
            <a:solidFill>
              <a:srgbClr val="FF6600"/>
            </a:solidFill>
            <a:ln w="19050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Oval 3"/>
            <p:cNvSpPr>
              <a:spLocks noChangeArrowheads="1"/>
            </p:cNvSpPr>
            <p:nvPr/>
          </p:nvSpPr>
          <p:spPr bwMode="auto">
            <a:xfrm>
              <a:off x="6266" y="12458"/>
              <a:ext cx="1605" cy="15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Oval 2"/>
            <p:cNvSpPr>
              <a:spLocks noChangeArrowheads="1"/>
            </p:cNvSpPr>
            <p:nvPr/>
          </p:nvSpPr>
          <p:spPr bwMode="auto">
            <a:xfrm>
              <a:off x="6791" y="12968"/>
              <a:ext cx="510" cy="510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432000" y="1218520"/>
            <a:ext cx="8316225" cy="966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带电量为＋</a:t>
            </a:r>
            <a:r>
              <a:rPr kumimoji="0" lang="en-US" altLang="zh-CN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zh-CN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的导体球和与它同心的带电量为－</a:t>
            </a:r>
            <a:r>
              <a:rPr kumimoji="0" lang="en-US" altLang="zh-CN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Q(Q&gt;q)</a:t>
            </a:r>
            <a:r>
              <a:rPr kumimoji="0" lang="zh-CN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的导体球壳组成一导体组。</a:t>
            </a:r>
            <a:endParaRPr kumimoji="0" lang="zh-CN" altLang="en-US" sz="24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仿宋" panose="020106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9572" y="2304921"/>
            <a:ext cx="52132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求：达到平衡时，各表面上电荷分布</a:t>
            </a:r>
            <a:r>
              <a:rPr kumimoji="0" lang="zh-CN" altLang="en-US" sz="2400" dirty="0"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27148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例题</a:t>
            </a:r>
            <a:endParaRPr lang="zh-CN" altLang="en-US" sz="2400" b="1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5163202" y="1256184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" name="Group 1"/>
          <p:cNvGrpSpPr>
            <a:grpSpLocks/>
          </p:cNvGrpSpPr>
          <p:nvPr/>
        </p:nvGrpSpPr>
        <p:grpSpPr bwMode="auto">
          <a:xfrm>
            <a:off x="6862762" y="2780928"/>
            <a:ext cx="1285875" cy="1228725"/>
            <a:chOff x="6056" y="12278"/>
            <a:chExt cx="2025" cy="1935"/>
          </a:xfrm>
        </p:grpSpPr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6056" y="12278"/>
              <a:ext cx="2025" cy="1935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6146" y="12353"/>
              <a:ext cx="1860" cy="1770"/>
            </a:xfrm>
            <a:prstGeom prst="ellipse">
              <a:avLst/>
            </a:prstGeom>
            <a:solidFill>
              <a:srgbClr val="FF6600"/>
            </a:solidFill>
            <a:ln w="19050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Oval 3"/>
            <p:cNvSpPr>
              <a:spLocks noChangeArrowheads="1"/>
            </p:cNvSpPr>
            <p:nvPr/>
          </p:nvSpPr>
          <p:spPr bwMode="auto">
            <a:xfrm>
              <a:off x="6266" y="12458"/>
              <a:ext cx="1605" cy="15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Oval 2"/>
            <p:cNvSpPr>
              <a:spLocks noChangeArrowheads="1"/>
            </p:cNvSpPr>
            <p:nvPr/>
          </p:nvSpPr>
          <p:spPr bwMode="auto">
            <a:xfrm>
              <a:off x="6791" y="12968"/>
              <a:ext cx="510" cy="510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432000" y="1218520"/>
            <a:ext cx="8316225" cy="966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带电量为＋</a:t>
            </a:r>
            <a:r>
              <a:rPr kumimoji="0" lang="en-US" altLang="zh-CN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zh-CN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的导体球和与它同心的带电量为－</a:t>
            </a:r>
            <a:r>
              <a:rPr kumimoji="0" lang="en-US" altLang="zh-CN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Q(Q&gt;q)</a:t>
            </a:r>
            <a:r>
              <a:rPr kumimoji="0" lang="zh-CN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的导体球壳组成一导体组。</a:t>
            </a:r>
            <a:endParaRPr kumimoji="0" lang="zh-CN" altLang="en-US" sz="24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仿宋" panose="020106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9572" y="2304921"/>
            <a:ext cx="52132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求：达到平衡时，各表面上电荷分布</a:t>
            </a:r>
            <a:r>
              <a:rPr kumimoji="0" lang="zh-CN" altLang="en-US" sz="2400" dirty="0"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4" name="矩形 13"/>
          <p:cNvSpPr/>
          <p:nvPr/>
        </p:nvSpPr>
        <p:spPr>
          <a:xfrm>
            <a:off x="719571" y="2885991"/>
            <a:ext cx="521325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解：静电感应，球壳内表面感应出负</a:t>
            </a: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电荷－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q’</a:t>
            </a: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。在导体壳内作一同心高斯</a:t>
            </a: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面球面，因为导体内电场强度为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0" lang="en-US" altLang="zh-CN" sz="2400" dirty="0"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∴ ∯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0" lang="en-US" altLang="zh-CN" sz="2400" dirty="0" err="1">
                <a:ea typeface="仿宋" panose="02010609060101010101" pitchFamily="49" charset="-122"/>
                <a:cs typeface="Times New Roman" panose="02020603050405020304" pitchFamily="18" charset="0"/>
              </a:rPr>
              <a:t>dS</a:t>
            </a: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0 </a:t>
            </a:r>
            <a:endParaRPr kumimoji="0" lang="zh-CN" altLang="zh-CN" sz="2400" dirty="0"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∴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q’</a:t>
            </a: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∴球壳外表面电量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Q’</a:t>
            </a: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endParaRPr kumimoji="0" lang="zh-CN" altLang="zh-CN" sz="24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663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例题</a:t>
            </a:r>
            <a:endParaRPr lang="zh-CN" altLang="en-US" sz="2400" b="1" dirty="0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635785" y="1214257"/>
            <a:ext cx="8112440" cy="975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hangingPunct="0">
              <a:lnSpc>
                <a:spcPct val="125000"/>
              </a:lnSpc>
            </a:pPr>
            <a:r>
              <a:rPr kumimoji="0" lang="zh-CN" altLang="en-US" sz="2400" dirty="0">
                <a:ea typeface="仿宋" panose="02010609060101010101" pitchFamily="49" charset="-122"/>
                <a:cs typeface="Times New Roman" panose="02020603050405020304" pitchFamily="18" charset="0"/>
              </a:rPr>
              <a:t>两平行导电板，面积为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400" dirty="0">
                <a:ea typeface="仿宋" panose="02010609060101010101" pitchFamily="49" charset="-122"/>
                <a:cs typeface="Times New Roman" panose="02020603050405020304" pitchFamily="18" charset="0"/>
              </a:rPr>
              <a:t>，间距为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2400" dirty="0">
                <a:ea typeface="仿宋" panose="02010609060101010101" pitchFamily="49" charset="-122"/>
                <a:cs typeface="Times New Roman" panose="02020603050405020304" pitchFamily="18" charset="0"/>
              </a:rPr>
              <a:t>，且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S&gt;&gt;d</a:t>
            </a:r>
            <a:r>
              <a:rPr kumimoji="0" lang="en-US" altLang="zh-CN" sz="2400" baseline="30000" dirty="0"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dirty="0">
                <a:ea typeface="仿宋" panose="02010609060101010101" pitchFamily="49" charset="-122"/>
                <a:cs typeface="Times New Roman" panose="02020603050405020304" pitchFamily="18" charset="0"/>
              </a:rPr>
              <a:t>，带电量分别为</a:t>
            </a:r>
            <a:r>
              <a:rPr kumimoji="0" lang="en-US" altLang="zh-CN" sz="2400" i="1" dirty="0"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400" i="1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400" dirty="0"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i="1" dirty="0" err="1"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400" i="1" baseline="-25000" dirty="0" err="1">
                <a:ea typeface="仿宋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仿宋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2192142"/>
            <a:ext cx="1903579" cy="2753605"/>
          </a:xfrm>
          <a:prstGeom prst="rect">
            <a:avLst/>
          </a:prstGeom>
        </p:spPr>
      </p:pic>
      <p:sp>
        <p:nvSpPr>
          <p:cNvPr id="9" name="矩形 7"/>
          <p:cNvSpPr/>
          <p:nvPr/>
        </p:nvSpPr>
        <p:spPr>
          <a:xfrm>
            <a:off x="642715" y="2317429"/>
            <a:ext cx="4572000" cy="968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求：静电平衡时，各面上电荷的面密度。</a:t>
            </a:r>
          </a:p>
        </p:txBody>
      </p:sp>
    </p:spTree>
    <p:extLst>
      <p:ext uri="{BB962C8B-B14F-4D97-AF65-F5344CB8AC3E}">
        <p14:creationId xmlns:p14="http://schemas.microsoft.com/office/powerpoint/2010/main" val="268728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例题</a:t>
            </a:r>
            <a:endParaRPr lang="zh-CN" altLang="en-US" sz="2400" b="1" dirty="0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635785" y="1214257"/>
            <a:ext cx="8112440" cy="975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hangingPunct="0">
              <a:lnSpc>
                <a:spcPct val="125000"/>
              </a:lnSpc>
            </a:pPr>
            <a:r>
              <a:rPr kumimoji="0" lang="zh-CN" altLang="en-US" sz="2400" dirty="0">
                <a:ea typeface="仿宋" panose="02010609060101010101" pitchFamily="49" charset="-122"/>
                <a:cs typeface="Times New Roman" panose="02020603050405020304" pitchFamily="18" charset="0"/>
              </a:rPr>
              <a:t>两平行导电板，面积为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400" dirty="0">
                <a:ea typeface="仿宋" panose="02010609060101010101" pitchFamily="49" charset="-122"/>
                <a:cs typeface="Times New Roman" panose="02020603050405020304" pitchFamily="18" charset="0"/>
              </a:rPr>
              <a:t>，间距为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2400" dirty="0">
                <a:ea typeface="仿宋" panose="02010609060101010101" pitchFamily="49" charset="-122"/>
                <a:cs typeface="Times New Roman" panose="02020603050405020304" pitchFamily="18" charset="0"/>
              </a:rPr>
              <a:t>，且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S&gt;&gt;d</a:t>
            </a:r>
            <a:r>
              <a:rPr kumimoji="0" lang="en-US" altLang="zh-CN" sz="2400" baseline="30000" dirty="0"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dirty="0">
                <a:ea typeface="仿宋" panose="02010609060101010101" pitchFamily="49" charset="-122"/>
                <a:cs typeface="Times New Roman" panose="02020603050405020304" pitchFamily="18" charset="0"/>
              </a:rPr>
              <a:t>，带电量分别为</a:t>
            </a:r>
            <a:r>
              <a:rPr kumimoji="0" lang="en-US" altLang="zh-CN" sz="2400" i="1" dirty="0"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400" i="1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400" dirty="0"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i="1" dirty="0" err="1"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400" i="1" baseline="-25000" dirty="0" err="1">
                <a:ea typeface="仿宋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仿宋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2192142"/>
            <a:ext cx="1903579" cy="275360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42715" y="2317429"/>
            <a:ext cx="4572000" cy="968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求：静电平衡时，各面上电荷的面密度。</a:t>
            </a:r>
          </a:p>
        </p:txBody>
      </p:sp>
      <p:sp>
        <p:nvSpPr>
          <p:cNvPr id="9" name="矩形 8"/>
          <p:cNvSpPr/>
          <p:nvPr/>
        </p:nvSpPr>
        <p:spPr>
          <a:xfrm>
            <a:off x="634974" y="3418005"/>
            <a:ext cx="5197166" cy="1898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zh-CN" altLang="zh-CN" sz="2400" kern="100" dirty="0">
                <a:ea typeface="仿宋" panose="02010609060101010101" pitchFamily="49" charset="-122"/>
              </a:rPr>
              <a:t>解：导体表面上的电荷面密度分别为：</a:t>
            </a: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1</a:t>
            </a:r>
            <a:r>
              <a:rPr lang="zh-CN" altLang="zh-CN" sz="2400" kern="100" dirty="0"/>
              <a:t>、</a:t>
            </a: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2</a:t>
            </a:r>
            <a:r>
              <a:rPr lang="zh-CN" altLang="zh-CN" sz="2400" kern="100" dirty="0"/>
              <a:t>、</a:t>
            </a: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3</a:t>
            </a:r>
            <a:r>
              <a:rPr lang="zh-CN" altLang="zh-CN" sz="2400" kern="100" baseline="-25000" dirty="0"/>
              <a:t>、</a:t>
            </a: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4</a:t>
            </a:r>
            <a:r>
              <a:rPr lang="zh-CN" altLang="zh-CN" sz="2400" kern="100" dirty="0"/>
              <a:t>，</a:t>
            </a:r>
            <a:r>
              <a:rPr lang="zh-CN" altLang="zh-CN" sz="2400" kern="100" dirty="0">
                <a:ea typeface="仿宋" panose="02010609060101010101" pitchFamily="49" charset="-122"/>
              </a:rPr>
              <a:t>由电荷守恒</a:t>
            </a:r>
            <a:r>
              <a:rPr lang="zh-CN" altLang="zh-CN" sz="2400" kern="100" dirty="0"/>
              <a:t>：</a:t>
            </a:r>
          </a:p>
          <a:p>
            <a:pPr indent="26670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1</a:t>
            </a:r>
            <a:r>
              <a:rPr lang="en-US" altLang="zh-CN" sz="2400" kern="100" dirty="0"/>
              <a:t>S</a:t>
            </a:r>
            <a:r>
              <a:rPr lang="zh-CN" altLang="zh-CN" sz="2400" kern="100" dirty="0"/>
              <a:t>＋</a:t>
            </a: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2</a:t>
            </a:r>
            <a:r>
              <a:rPr lang="en-US" altLang="zh-CN" sz="2400" kern="100" dirty="0"/>
              <a:t>S</a:t>
            </a:r>
            <a:r>
              <a:rPr lang="zh-CN" altLang="zh-CN" sz="2400" kern="100" dirty="0"/>
              <a:t>＝</a:t>
            </a:r>
            <a:r>
              <a:rPr lang="en-US" altLang="zh-CN" sz="2400" kern="100" dirty="0" err="1"/>
              <a:t>q</a:t>
            </a:r>
            <a:r>
              <a:rPr lang="en-US" altLang="zh-CN" sz="2400" kern="100" baseline="-25000" dirty="0" err="1"/>
              <a:t>A</a:t>
            </a:r>
            <a:endParaRPr lang="zh-CN" altLang="zh-CN" sz="2400" kern="100" dirty="0"/>
          </a:p>
          <a:p>
            <a:pPr indent="26670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3</a:t>
            </a:r>
            <a:r>
              <a:rPr lang="en-US" altLang="zh-CN" sz="2400" kern="100" dirty="0"/>
              <a:t>S</a:t>
            </a:r>
            <a:r>
              <a:rPr lang="zh-CN" altLang="zh-CN" sz="2400" kern="100" dirty="0"/>
              <a:t>＋</a:t>
            </a: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4</a:t>
            </a:r>
            <a:r>
              <a:rPr lang="en-US" altLang="zh-CN" sz="2400" kern="100" dirty="0"/>
              <a:t>S</a:t>
            </a:r>
            <a:r>
              <a:rPr lang="zh-CN" altLang="zh-CN" sz="2400" kern="100" dirty="0"/>
              <a:t>＝</a:t>
            </a:r>
            <a:r>
              <a:rPr lang="en-US" altLang="zh-CN" sz="2400" kern="100" dirty="0" err="1"/>
              <a:t>q</a:t>
            </a:r>
            <a:r>
              <a:rPr lang="en-US" altLang="zh-CN" sz="2400" kern="100" baseline="-25000" dirty="0" err="1"/>
              <a:t>B</a:t>
            </a:r>
            <a:endParaRPr lang="zh-CN" altLang="zh-CN" sz="2400" kern="100" dirty="0"/>
          </a:p>
        </p:txBody>
      </p:sp>
    </p:spTree>
    <p:extLst>
      <p:ext uri="{BB962C8B-B14F-4D97-AF65-F5344CB8AC3E}">
        <p14:creationId xmlns:p14="http://schemas.microsoft.com/office/powerpoint/2010/main" val="2178994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5" name="Rectangle 18"/>
          <p:cNvSpPr>
            <a:spLocks noChangeArrowheads="1"/>
          </p:cNvSpPr>
          <p:nvPr/>
        </p:nvSpPr>
        <p:spPr bwMode="auto">
          <a:xfrm>
            <a:off x="894558" y="1100674"/>
            <a:ext cx="692907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4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400" dirty="0"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4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400" dirty="0">
                <a:ea typeface="仿宋" panose="02010609060101010101" pitchFamily="49" charset="-122"/>
                <a:cs typeface="Times New Roman" panose="02020603050405020304" pitchFamily="18" charset="0"/>
              </a:rPr>
              <a:t>分别在金属板内，这两点的电场强度为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dirty="0"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Group 1"/>
          <p:cNvGrpSpPr>
            <a:grpSpLocks/>
          </p:cNvGrpSpPr>
          <p:nvPr/>
        </p:nvGrpSpPr>
        <p:grpSpPr bwMode="auto">
          <a:xfrm>
            <a:off x="7164288" y="3212976"/>
            <a:ext cx="1066800" cy="1552575"/>
            <a:chOff x="6510" y="930"/>
            <a:chExt cx="1680" cy="2445"/>
          </a:xfrm>
        </p:grpSpPr>
        <p:sp>
          <p:nvSpPr>
            <p:cNvPr id="7" name="Rectangle 17"/>
            <p:cNvSpPr>
              <a:spLocks noChangeArrowheads="1"/>
            </p:cNvSpPr>
            <p:nvPr/>
          </p:nvSpPr>
          <p:spPr bwMode="auto">
            <a:xfrm>
              <a:off x="6975" y="1575"/>
              <a:ext cx="585" cy="106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Text Box 16"/>
            <p:cNvSpPr txBox="1">
              <a:spLocks noChangeArrowheads="1"/>
            </p:cNvSpPr>
            <p:nvPr/>
          </p:nvSpPr>
          <p:spPr bwMode="auto">
            <a:xfrm>
              <a:off x="7035" y="930"/>
              <a:ext cx="600" cy="2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＋</a:t>
              </a:r>
              <a:endPara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＋</a:t>
              </a:r>
              <a:endPara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＋</a:t>
              </a:r>
              <a:endPara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＋</a:t>
              </a:r>
              <a:endPara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＋</a:t>
              </a:r>
              <a:endPara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＋</a:t>
              </a:r>
              <a:endPara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＋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Line 15"/>
            <p:cNvSpPr>
              <a:spLocks noChangeShapeType="1"/>
            </p:cNvSpPr>
            <p:nvPr/>
          </p:nvSpPr>
          <p:spPr bwMode="auto">
            <a:xfrm>
              <a:off x="7560" y="1140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Line 14"/>
            <p:cNvSpPr>
              <a:spLocks noChangeShapeType="1"/>
            </p:cNvSpPr>
            <p:nvPr/>
          </p:nvSpPr>
          <p:spPr bwMode="auto">
            <a:xfrm>
              <a:off x="7620" y="3015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7605" y="2730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7605" y="2415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7590" y="2100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7590" y="1785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7575" y="1470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Line 8"/>
            <p:cNvSpPr>
              <a:spLocks noChangeShapeType="1"/>
            </p:cNvSpPr>
            <p:nvPr/>
          </p:nvSpPr>
          <p:spPr bwMode="auto">
            <a:xfrm>
              <a:off x="6555" y="1155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Line 7"/>
            <p:cNvSpPr>
              <a:spLocks noChangeShapeType="1"/>
            </p:cNvSpPr>
            <p:nvPr/>
          </p:nvSpPr>
          <p:spPr bwMode="auto">
            <a:xfrm>
              <a:off x="6525" y="3030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Line 6"/>
            <p:cNvSpPr>
              <a:spLocks noChangeShapeType="1"/>
            </p:cNvSpPr>
            <p:nvPr/>
          </p:nvSpPr>
          <p:spPr bwMode="auto">
            <a:xfrm>
              <a:off x="6510" y="2715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Line 5"/>
            <p:cNvSpPr>
              <a:spLocks noChangeShapeType="1"/>
            </p:cNvSpPr>
            <p:nvPr/>
          </p:nvSpPr>
          <p:spPr bwMode="auto">
            <a:xfrm>
              <a:off x="6525" y="2415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Line 4"/>
            <p:cNvSpPr>
              <a:spLocks noChangeShapeType="1"/>
            </p:cNvSpPr>
            <p:nvPr/>
          </p:nvSpPr>
          <p:spPr bwMode="auto">
            <a:xfrm>
              <a:off x="6525" y="2100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Line 3"/>
            <p:cNvSpPr>
              <a:spLocks noChangeShapeType="1"/>
            </p:cNvSpPr>
            <p:nvPr/>
          </p:nvSpPr>
          <p:spPr bwMode="auto">
            <a:xfrm>
              <a:off x="6540" y="1785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Line 2"/>
            <p:cNvSpPr>
              <a:spLocks noChangeShapeType="1"/>
            </p:cNvSpPr>
            <p:nvPr/>
          </p:nvSpPr>
          <p:spPr bwMode="auto">
            <a:xfrm>
              <a:off x="6555" y="1455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894558" y="1192359"/>
            <a:ext cx="7776864" cy="420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电荷分布在金属板的表面，对每一个表面单独存在时产生的电场可由高斯定理求得：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由电场的对称性得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0" lang="zh-CN" altLang="en-US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左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dS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＋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0" lang="zh-CN" altLang="en-US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右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dS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σdS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/ε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0" lang="zh-CN" altLang="en-US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左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0" lang="zh-CN" altLang="en-US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右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σ/2ε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两点的电场强度为四个带电面的叠加。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PA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σ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/2ε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σ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/2ε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σ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/2ε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σ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/2ε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PB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σ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/2ε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＋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σ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/2ε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＋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σ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/2ε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σ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/2ε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仿宋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331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1079612" y="1232756"/>
            <a:ext cx="4572000" cy="37455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zh-CN" altLang="zh-CN" sz="2400" kern="100" dirty="0"/>
              <a:t>整理得：</a:t>
            </a: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1</a:t>
            </a:r>
            <a:r>
              <a:rPr lang="zh-CN" altLang="zh-CN" sz="2400" kern="100" dirty="0"/>
              <a:t>＋</a:t>
            </a: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2</a:t>
            </a:r>
            <a:r>
              <a:rPr lang="zh-CN" altLang="zh-CN" sz="2400" kern="100" dirty="0"/>
              <a:t>＝</a:t>
            </a:r>
            <a:r>
              <a:rPr lang="en-US" altLang="zh-CN" sz="2400" kern="100" dirty="0" err="1"/>
              <a:t>q</a:t>
            </a:r>
            <a:r>
              <a:rPr lang="en-US" altLang="zh-CN" sz="2400" kern="100" baseline="-25000" dirty="0" err="1"/>
              <a:t>A</a:t>
            </a:r>
            <a:r>
              <a:rPr lang="en-US" altLang="zh-CN" sz="2400" kern="100" dirty="0"/>
              <a:t>/S</a:t>
            </a:r>
            <a:endParaRPr lang="zh-CN" altLang="zh-CN" sz="2400" kern="100" dirty="0"/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3</a:t>
            </a:r>
            <a:r>
              <a:rPr lang="zh-CN" altLang="zh-CN" sz="2400" kern="100" dirty="0"/>
              <a:t>＋</a:t>
            </a: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4</a:t>
            </a:r>
            <a:r>
              <a:rPr lang="zh-CN" altLang="zh-CN" sz="2400" kern="100" dirty="0"/>
              <a:t>＝</a:t>
            </a:r>
            <a:r>
              <a:rPr lang="en-US" altLang="zh-CN" sz="2400" kern="100" dirty="0" err="1"/>
              <a:t>q</a:t>
            </a:r>
            <a:r>
              <a:rPr lang="en-US" altLang="zh-CN" sz="2400" kern="100" baseline="-25000" dirty="0" err="1"/>
              <a:t>B</a:t>
            </a:r>
            <a:r>
              <a:rPr lang="en-US" altLang="zh-CN" sz="2400" kern="100" dirty="0"/>
              <a:t>/S</a:t>
            </a:r>
            <a:endParaRPr lang="zh-CN" altLang="zh-CN" sz="2400" kern="100" dirty="0"/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1</a:t>
            </a:r>
            <a:r>
              <a:rPr lang="zh-CN" altLang="zh-CN" sz="2400" kern="100" dirty="0"/>
              <a:t>－</a:t>
            </a: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2</a:t>
            </a:r>
            <a:r>
              <a:rPr lang="zh-CN" altLang="zh-CN" sz="2400" kern="100" dirty="0"/>
              <a:t>－</a:t>
            </a: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3</a:t>
            </a:r>
            <a:r>
              <a:rPr lang="zh-CN" altLang="zh-CN" sz="2400" kern="100" dirty="0"/>
              <a:t>－</a:t>
            </a: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4</a:t>
            </a:r>
            <a:r>
              <a:rPr lang="zh-CN" altLang="zh-CN" sz="2400" kern="100" dirty="0"/>
              <a:t>＝</a:t>
            </a:r>
            <a:r>
              <a:rPr lang="en-US" altLang="zh-CN" sz="2400" kern="100" dirty="0"/>
              <a:t>0</a:t>
            </a:r>
            <a:endParaRPr lang="zh-CN" altLang="zh-CN" sz="2400" kern="100" dirty="0"/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1</a:t>
            </a:r>
            <a:r>
              <a:rPr lang="zh-CN" altLang="zh-CN" sz="2400" kern="100" dirty="0"/>
              <a:t>＋</a:t>
            </a: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2</a:t>
            </a:r>
            <a:r>
              <a:rPr lang="zh-CN" altLang="zh-CN" sz="2400" kern="100" dirty="0"/>
              <a:t>＋</a:t>
            </a: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3</a:t>
            </a:r>
            <a:r>
              <a:rPr lang="zh-CN" altLang="zh-CN" sz="2400" kern="100" dirty="0"/>
              <a:t>－</a:t>
            </a: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4</a:t>
            </a:r>
            <a:r>
              <a:rPr lang="zh-CN" altLang="zh-CN" sz="2400" kern="100" dirty="0"/>
              <a:t>＝</a:t>
            </a:r>
            <a:r>
              <a:rPr lang="en-US" altLang="zh-CN" sz="2400" kern="100" dirty="0"/>
              <a:t>0</a:t>
            </a:r>
            <a:endParaRPr lang="zh-CN" altLang="zh-CN" sz="2400" kern="100" dirty="0"/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zh-CN" altLang="zh-CN" sz="2400" kern="100" dirty="0"/>
              <a:t>解之得</a:t>
            </a: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1</a:t>
            </a:r>
            <a:r>
              <a:rPr lang="zh-CN" altLang="zh-CN" sz="2400" kern="100" dirty="0"/>
              <a:t>＝</a:t>
            </a: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4</a:t>
            </a:r>
            <a:r>
              <a:rPr lang="zh-CN" altLang="zh-CN" sz="2400" kern="100" dirty="0"/>
              <a:t>＝</a:t>
            </a:r>
            <a:r>
              <a:rPr lang="en-US" altLang="zh-CN" sz="2400" kern="100" dirty="0"/>
              <a:t>(</a:t>
            </a:r>
            <a:r>
              <a:rPr lang="en-US" altLang="zh-CN" sz="2400" kern="100" dirty="0" err="1"/>
              <a:t>q</a:t>
            </a:r>
            <a:r>
              <a:rPr lang="en-US" altLang="zh-CN" sz="2400" kern="100" baseline="-25000" dirty="0" err="1"/>
              <a:t>A</a:t>
            </a:r>
            <a:r>
              <a:rPr lang="zh-CN" altLang="zh-CN" sz="2400" kern="100" dirty="0"/>
              <a:t>＋</a:t>
            </a:r>
            <a:r>
              <a:rPr lang="en-US" altLang="zh-CN" sz="2400" kern="100" dirty="0" err="1"/>
              <a:t>q</a:t>
            </a:r>
            <a:r>
              <a:rPr lang="en-US" altLang="zh-CN" sz="2400" kern="100" baseline="-25000" dirty="0" err="1"/>
              <a:t>B</a:t>
            </a:r>
            <a:r>
              <a:rPr lang="en-US" altLang="zh-CN" sz="2400" kern="100" dirty="0"/>
              <a:t>)/2S</a:t>
            </a:r>
            <a:endParaRPr lang="zh-CN" altLang="zh-CN" sz="2400" kern="100" dirty="0"/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2</a:t>
            </a:r>
            <a:r>
              <a:rPr lang="zh-CN" altLang="zh-CN" sz="2400" kern="100" dirty="0"/>
              <a:t>＝－</a:t>
            </a:r>
            <a:r>
              <a:rPr lang="en-US" altLang="zh-CN" sz="2400" kern="100" dirty="0"/>
              <a:t>σ</a:t>
            </a:r>
            <a:r>
              <a:rPr lang="en-US" altLang="zh-CN" sz="2400" kern="100" baseline="-25000" dirty="0"/>
              <a:t>3</a:t>
            </a:r>
            <a:r>
              <a:rPr lang="zh-CN" altLang="zh-CN" sz="2400" kern="100" dirty="0"/>
              <a:t>＝</a:t>
            </a:r>
            <a:r>
              <a:rPr lang="en-US" altLang="zh-CN" sz="2400" kern="100" dirty="0"/>
              <a:t>(</a:t>
            </a:r>
            <a:r>
              <a:rPr lang="en-US" altLang="zh-CN" sz="2400" kern="100" dirty="0" err="1"/>
              <a:t>q</a:t>
            </a:r>
            <a:r>
              <a:rPr lang="en-US" altLang="zh-CN" sz="2400" kern="100" baseline="-25000" dirty="0" err="1"/>
              <a:t>A</a:t>
            </a:r>
            <a:r>
              <a:rPr lang="zh-CN" altLang="zh-CN" sz="2400" kern="100" dirty="0"/>
              <a:t>－</a:t>
            </a:r>
            <a:r>
              <a:rPr lang="en-US" altLang="zh-CN" sz="2400" kern="100" dirty="0" err="1"/>
              <a:t>q</a:t>
            </a:r>
            <a:r>
              <a:rPr lang="en-US" altLang="zh-CN" sz="2400" kern="100" baseline="-25000" dirty="0" err="1"/>
              <a:t>B</a:t>
            </a:r>
            <a:r>
              <a:rPr lang="en-US" altLang="zh-CN" sz="2400" kern="100" dirty="0"/>
              <a:t>)/2S</a:t>
            </a:r>
            <a:endParaRPr lang="zh-CN" altLang="zh-CN" sz="2400" kern="100" dirty="0"/>
          </a:p>
        </p:txBody>
      </p:sp>
    </p:spTree>
    <p:extLst>
      <p:ext uri="{BB962C8B-B14F-4D97-AF65-F5344CB8AC3E}">
        <p14:creationId xmlns:p14="http://schemas.microsoft.com/office/powerpoint/2010/main" val="2356495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标题 1"/>
          <p:cNvSpPr>
            <a:spLocks noGrp="1"/>
          </p:cNvSpPr>
          <p:nvPr>
            <p:ph type="title"/>
          </p:nvPr>
        </p:nvSpPr>
        <p:spPr>
          <a:xfrm>
            <a:off x="251520" y="332656"/>
            <a:ext cx="8640960" cy="936104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三、电容、电容器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39552" y="1052736"/>
                <a:ext cx="8424428" cy="55086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CN" sz="26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r>
                  <a:rPr lang="zh-CN" altLang="en-US" sz="26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、什么是电容</a:t>
                </a:r>
                <a:endParaRPr lang="en-US" altLang="zh-CN" sz="2600" b="1" dirty="0">
                  <a:solidFill>
                    <a:srgbClr val="C00000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sz="2600" b="1" dirty="0">
                    <a:solidFill>
                      <a:srgbClr val="7030A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（</a:t>
                </a:r>
                <a:r>
                  <a:rPr lang="en-US" altLang="zh-CN" sz="2600" b="1" dirty="0">
                    <a:solidFill>
                      <a:srgbClr val="7030A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r>
                  <a:rPr lang="zh-CN" altLang="en-US" sz="2600" b="1" dirty="0">
                    <a:solidFill>
                      <a:srgbClr val="7030A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）孤立导体的电容：</a:t>
                </a:r>
                <a:endParaRPr lang="en-US" altLang="zh-CN" sz="2600" b="1" dirty="0">
                  <a:solidFill>
                    <a:srgbClr val="7030A0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sz="2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孤立导体：导体的周围不存在其它导体和带电体。</a:t>
                </a:r>
                <a:endParaRPr lang="en-US" altLang="zh-CN" sz="2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sz="2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理论和实验证明，孤立导体的电量和其电位的比值只与该导体的形状、尺寸和导体周围的电介质有关，这个比值称为孤立导体的电容，即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C00000"/>
                        </a:solidFill>
                        <a:latin typeface="Cambria Math"/>
                      </a:rPr>
                      <m:t>𝑪</m:t>
                    </m:r>
                    <m:r>
                      <a:rPr lang="en-US" altLang="zh-CN" sz="2600" b="1" i="1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𝑸</m:t>
                        </m:r>
                      </m:num>
                      <m:den>
                        <m:r>
                          <a:rPr lang="en-US" altLang="zh-CN" sz="26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𝑼</m:t>
                        </m:r>
                      </m:den>
                    </m:f>
                    <m:r>
                      <a:rPr lang="zh-CN" altLang="en-US" sz="2600" b="0" i="1" smtClean="0">
                        <a:latin typeface="Cambria Math"/>
                      </a:rPr>
                      <m:t>。</m:t>
                    </m:r>
                  </m:oMath>
                </a14:m>
                <a:endParaRPr lang="en-US" altLang="zh-CN" sz="2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sz="2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例如，求半径为</a:t>
                </a:r>
                <a:r>
                  <a:rPr lang="en-US" altLang="zh-CN" sz="2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R</a:t>
                </a:r>
                <a:r>
                  <a:rPr lang="zh-CN" altLang="en-US" sz="2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带电量为</a:t>
                </a:r>
                <a:r>
                  <a:rPr lang="en-US" altLang="zh-CN" sz="2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Q</a:t>
                </a:r>
                <a:r>
                  <a:rPr lang="zh-CN" altLang="en-US" sz="2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的孤立导体球的电容。</a:t>
                </a:r>
                <a:endParaRPr lang="en-US" altLang="zh-CN" sz="2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sz="2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导体球的电位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/>
                      </a:rPr>
                      <m:t>𝑈</m:t>
                    </m:r>
                    <m:r>
                      <a:rPr lang="en-US" altLang="zh-CN" sz="2600" b="0" i="1" smtClean="0">
                        <a:latin typeface="Cambria Math"/>
                      </a:rPr>
                      <m:t>=</m:t>
                    </m:r>
                    <m:r>
                      <a:rPr lang="en-US" altLang="zh-CN" sz="2600" b="0" i="1" smtClean="0">
                        <a:latin typeface="Cambria Math"/>
                      </a:rPr>
                      <m:t>𝑘</m:t>
                    </m:r>
                    <m:f>
                      <m:f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latin typeface="Cambria Math"/>
                          </a:rPr>
                          <m:t>𝑄</m:t>
                        </m:r>
                      </m:num>
                      <m:den>
                        <m:r>
                          <a:rPr lang="en-US" altLang="zh-CN" sz="2600" b="0" i="1" smtClean="0">
                            <a:latin typeface="Cambria Math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altLang="zh-CN" sz="2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 ,</a:t>
                </a:r>
                <a14:m>
                  <m:oMath xmlns:m="http://schemas.openxmlformats.org/officeDocument/2006/math">
                    <m:r>
                      <a:rPr lang="en-US" altLang="zh-CN" sz="2600" b="0" i="1" dirty="0" smtClean="0">
                        <a:latin typeface="Cambria Math"/>
                      </a:rPr>
                      <m:t>𝐶</m:t>
                    </m:r>
                    <m:r>
                      <a:rPr lang="en-US" altLang="zh-CN" sz="2600" b="0" i="1" dirty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0" i="1" dirty="0" smtClean="0">
                            <a:latin typeface="Cambria Math"/>
                          </a:rPr>
                          <m:t>𝑄</m:t>
                        </m:r>
                      </m:num>
                      <m:den>
                        <m:r>
                          <a:rPr lang="en-US" altLang="zh-CN" sz="2600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den>
                    </m:f>
                    <m:r>
                      <a:rPr lang="en-US" altLang="zh-CN" sz="2600" b="0" i="1" dirty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0" i="1" dirty="0" smtClean="0">
                            <a:latin typeface="Cambria Math"/>
                          </a:rPr>
                          <m:t>𝑅</m:t>
                        </m:r>
                      </m:num>
                      <m:den>
                        <m:r>
                          <a:rPr lang="en-US" altLang="zh-CN" sz="2600" b="0" i="1" dirty="0" smtClean="0">
                            <a:latin typeface="Cambria Math"/>
                          </a:rPr>
                          <m:t>𝑘</m:t>
                        </m:r>
                      </m:den>
                    </m:f>
                    <m:r>
                      <a:rPr lang="en-US" altLang="zh-CN" sz="2600" b="0" i="1" dirty="0" smtClean="0">
                        <a:latin typeface="Cambria Math"/>
                      </a:rPr>
                      <m:t>=4</m:t>
                    </m:r>
                    <m:r>
                      <a:rPr lang="zh-CN" altLang="en-US" sz="2600" b="0" i="1" dirty="0" smtClean="0">
                        <a:latin typeface="Cambria Math"/>
                      </a:rPr>
                      <m:t>𝜋</m:t>
                    </m:r>
                    <m:sSub>
                      <m:sSubPr>
                        <m:ctrlPr>
                          <a:rPr lang="en-US" altLang="zh-CN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b="0" i="1" dirty="0" smtClean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CN" sz="2600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altLang="zh-CN" sz="2600" b="0" i="1" dirty="0" smtClean="0">
                        <a:latin typeface="Cambria Math"/>
                      </a:rPr>
                      <m:t>𝑅</m:t>
                    </m:r>
                  </m:oMath>
                </a14:m>
                <a:endParaRPr lang="en-US" altLang="zh-CN" sz="2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sz="2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可见，电容</a:t>
                </a:r>
                <a:r>
                  <a:rPr lang="en-US" altLang="zh-CN" sz="2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C</a:t>
                </a:r>
                <a:r>
                  <a:rPr lang="zh-CN" altLang="en-US" sz="2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与</a:t>
                </a:r>
                <a:r>
                  <a:rPr lang="en-US" altLang="zh-CN" sz="2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q</a:t>
                </a:r>
                <a:r>
                  <a:rPr lang="zh-CN" altLang="en-US" sz="2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:r>
                  <a:rPr lang="en-US" altLang="zh-CN" sz="2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u</a:t>
                </a:r>
                <a:r>
                  <a:rPr lang="zh-CN" altLang="en-US" sz="2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无关，其值取决于导体的形状和大小。正如水桶的容量与水和水位无关，取决于水桶的大小和形状。</a:t>
                </a:r>
                <a:endParaRPr lang="en-US" altLang="zh-CN" sz="28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1052736"/>
                <a:ext cx="8424428" cy="5508612"/>
              </a:xfrm>
              <a:blipFill>
                <a:blip r:embed="rId2"/>
                <a:stretch>
                  <a:fillRect l="-1303" t="-997" r="-3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0918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47564" y="1052736"/>
                <a:ext cx="7992888" cy="547260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电容的单位：</a:t>
                </a:r>
                <a:endParaRPr lang="en-US" altLang="zh-CN" sz="2600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国际单位制中，单位为法拉（</a:t>
                </a:r>
                <a:r>
                  <a:rPr lang="en-US" altLang="zh-CN" sz="2600" i="1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F</a:t>
                </a:r>
                <a:r>
                  <a:rPr lang="zh-CN" altLang="en-US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）</a:t>
                </a:r>
                <a:endParaRPr lang="en-US" altLang="zh-CN" sz="2600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          法拉</a:t>
                </a:r>
                <a:r>
                  <a:rPr lang="en-US" altLang="zh-CN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=</a:t>
                </a:r>
                <a:r>
                  <a:rPr lang="zh-CN" altLang="en-US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库仑</a:t>
                </a:r>
                <a:r>
                  <a:rPr lang="en-US" altLang="zh-CN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/</a:t>
                </a:r>
                <a:r>
                  <a:rPr lang="zh-CN" altLang="en-US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伏特</a:t>
                </a:r>
                <a:endParaRPr lang="en-US" altLang="zh-CN" sz="2600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地球的电容：</a:t>
                </a:r>
                <a:r>
                  <a:rPr lang="en-US" altLang="zh-CN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7.1</a:t>
                </a:r>
                <a14:m>
                  <m:oMath xmlns:m="http://schemas.openxmlformats.org/officeDocument/2006/math">
                    <m:r>
                      <a:rPr lang="en-US" altLang="zh-CN" sz="260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US" altLang="zh-CN" sz="26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600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US" altLang="zh-CN" sz="2600" b="0" i="1" smtClean="0">
                            <a:latin typeface="Cambria Math"/>
                            <a:ea typeface="Cambria Math"/>
                          </a:rPr>
                          <m:t>−4</m:t>
                        </m:r>
                      </m:sup>
                    </m:sSup>
                    <m:r>
                      <a:rPr lang="en-US" altLang="zh-CN" sz="2600" b="0" i="1" smtClean="0">
                        <a:latin typeface="Cambria Math"/>
                        <a:ea typeface="Cambria Math"/>
                      </a:rPr>
                      <m:t>𝐹</m:t>
                    </m:r>
                  </m:oMath>
                </a14:m>
                <a:endParaRPr lang="en-US" altLang="zh-CN" sz="2600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其它单位：微法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latin typeface="Cambria Math"/>
                            <a:ea typeface="Cambria Math"/>
                          </a:rPr>
                          <m:t>𝜇</m:t>
                        </m:r>
                        <m:r>
                          <a:rPr lang="en-US" altLang="zh-CN" sz="2600" b="0" i="1" smtClean="0">
                            <a:latin typeface="Cambria Math"/>
                            <a:ea typeface="Cambria Math"/>
                          </a:rPr>
                          <m:t>𝐹</m:t>
                        </m:r>
                      </m:e>
                    </m:d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，皮法</a:t>
                </a:r>
                <a14:m>
                  <m:oMath xmlns:m="http://schemas.openxmlformats.org/officeDocument/2006/math">
                    <m:d>
                      <m:dPr>
                        <m:begChr m:val="（"/>
                        <m:endChr m:val="）"/>
                        <m:ctrlPr>
                          <a:rPr lang="zh-CN" altLang="en-US" sz="2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b="0" i="1" dirty="0" smtClean="0">
                            <a:latin typeface="Cambria Math"/>
                          </a:rPr>
                          <m:t>𝑃𝐹</m:t>
                        </m:r>
                      </m:e>
                    </m:d>
                  </m:oMath>
                </a14:m>
                <a:endParaRPr lang="en-US" altLang="zh-CN" sz="2600" b="0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0" i="1" smtClean="0">
                          <a:latin typeface="Cambria Math"/>
                        </a:rPr>
                        <m:t>1</m:t>
                      </m:r>
                      <m:r>
                        <a:rPr lang="en-US" altLang="zh-CN" sz="2600" b="0" i="1" smtClean="0">
                          <a:latin typeface="Cambria Math"/>
                        </a:rPr>
                        <m:t>𝐹</m:t>
                      </m:r>
                      <m:r>
                        <a:rPr lang="en-US" altLang="zh-CN" sz="26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600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600" b="0" i="1" smtClean="0">
                              <a:latin typeface="Cambria Math"/>
                            </a:rPr>
                            <m:t>6</m:t>
                          </m:r>
                        </m:sup>
                      </m:sSup>
                      <m:r>
                        <a:rPr lang="en-US" altLang="zh-CN" sz="2600" b="0" i="1" smtClean="0">
                          <a:latin typeface="Cambria Math"/>
                          <a:ea typeface="Cambria Math"/>
                        </a:rPr>
                        <m:t>𝜇</m:t>
                      </m:r>
                      <m:r>
                        <a:rPr lang="en-US" altLang="zh-CN" sz="2600" b="0" i="1" smtClean="0">
                          <a:latin typeface="Cambria Math"/>
                          <a:ea typeface="Cambria Math"/>
                        </a:rPr>
                        <m:t>𝐹</m:t>
                      </m:r>
                      <m:r>
                        <a:rPr lang="en-US" altLang="zh-CN" sz="2600" b="0" i="1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CN" sz="2600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600" b="0" i="1" smtClean="0">
                              <a:latin typeface="Cambria Math"/>
                              <a:ea typeface="Cambria Math"/>
                            </a:rPr>
                            <m:t>12</m:t>
                          </m:r>
                        </m:sup>
                      </m:sSup>
                      <m:r>
                        <a:rPr lang="en-US" altLang="zh-CN" sz="2600" b="0" i="1" smtClean="0">
                          <a:latin typeface="Cambria Math"/>
                          <a:ea typeface="Cambria Math"/>
                        </a:rPr>
                        <m:t>𝑃𝐹</m:t>
                      </m:r>
                    </m:oMath>
                  </m:oMathPara>
                </a14:m>
                <a:endParaRPr lang="en-US" altLang="zh-CN" sz="2600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电容等于导体单位电势所带电量，所以电容就是容纳电荷的能力，也是储存电能的能力。</a:t>
                </a:r>
                <a:endParaRPr lang="en-US" altLang="zh-CN" sz="2600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7564" y="1052736"/>
                <a:ext cx="7992888" cy="5472608"/>
              </a:xfrm>
              <a:blipFill rotWithShape="0">
                <a:blip r:embed="rId2"/>
                <a:stretch>
                  <a:fillRect l="-1373" t="-4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8928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540" y="620689"/>
            <a:ext cx="8208912" cy="5580619"/>
          </a:xfrm>
        </p:spPr>
        <p:txBody>
          <a:bodyPr>
            <a:no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zh-CN" altLang="en-US" sz="26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6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6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）电容器的电容：</a:t>
            </a:r>
            <a:endParaRPr lang="en-US" altLang="zh-CN" sz="2600" b="1" dirty="0">
              <a:solidFill>
                <a:srgbClr val="7030A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    孤立导体的电势是受外界条件影响的。用电屏蔽的方法，用一个封闭的导体壳</a:t>
            </a:r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B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把带电导体</a:t>
            </a:r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zh-CN" altLang="en-US" sz="2600" dirty="0">
                <a:latin typeface="仿宋" panose="02010609060101010101" pitchFamily="49" charset="-122"/>
                <a:ea typeface="仿宋" panose="02010609060101010101" pitchFamily="49" charset="-122"/>
              </a:rPr>
              <a:t>包围起来，使电场集中在两极板之间，这时两极板的电位差就不受外界条件影响。如此构成一个电容器。电容器的电容定义为：</a:t>
            </a:r>
            <a:endParaRPr lang="en-US" altLang="zh-CN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175241"/>
              </p:ext>
            </p:extLst>
          </p:nvPr>
        </p:nvGraphicFramePr>
        <p:xfrm>
          <a:off x="1547664" y="3284984"/>
          <a:ext cx="1526570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669" imgH="431613" progId="Equation.DSMT4">
                  <p:embed/>
                </p:oleObj>
              </mc:Choice>
              <mc:Fallback>
                <p:oleObj name="Equation" r:id="rId2" imgW="761669" imgH="431613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3284984"/>
                        <a:ext cx="1526570" cy="864096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431540" y="4545124"/>
            <a:ext cx="8208912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zh-CN" sz="2600" dirty="0">
                <a:latin typeface="仿宋" panose="02010609060101010101" pitchFamily="49" charset="-122"/>
                <a:ea typeface="仿宋" panose="02010609060101010101" pitchFamily="49" charset="-122"/>
              </a:rPr>
              <a:t>电容器的电容与极板大小、形状、相对位置及介质有关。</a:t>
            </a:r>
            <a:endParaRPr lang="zh-CN" altLang="en-US" sz="2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6007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8002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5576" y="1304764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求：平行板电容器的电容。</a:t>
            </a:r>
            <a:endParaRPr lang="zh-CN" altLang="en-US" sz="2400" kern="100" dirty="0"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236" y="1952836"/>
            <a:ext cx="1295400" cy="197167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53918" y="1904425"/>
            <a:ext cx="5799281" cy="2875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解：平行板电容器的面积很大，间距很小，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边界效应可以忽略。平行板电容器的电场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集中在极板之间，电容器外没有电场，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可作一高斯面，只有电容器内的面元有</a:t>
            </a:r>
          </a:p>
          <a:p>
            <a:pPr algn="l">
              <a:lnSpc>
                <a:spcPct val="125000"/>
              </a:lnSpc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电通量</a:t>
            </a:r>
            <a:r>
              <a:rPr lang="en-US" altLang="zh-CN" sz="2400" kern="100" dirty="0" err="1">
                <a:latin typeface="仿宋" panose="02010609060101010101" pitchFamily="49" charset="-122"/>
                <a:ea typeface="仿宋" panose="02010609060101010101" pitchFamily="49" charset="-122"/>
              </a:rPr>
              <a:t>EdS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，包围的电荷</a:t>
            </a:r>
            <a:r>
              <a:rPr lang="en-US" altLang="zh-CN" sz="2400" kern="100" dirty="0" err="1">
                <a:latin typeface="仿宋" panose="02010609060101010101" pitchFamily="49" charset="-122"/>
                <a:ea typeface="仿宋" panose="02010609060101010101" pitchFamily="49" charset="-122"/>
              </a:rPr>
              <a:t>σdS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，由高斯定理可得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E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σ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ε</a:t>
            </a:r>
            <a:r>
              <a:rPr lang="en-US" altLang="zh-CN" sz="2400" kern="100" baseline="-25000" dirty="0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两极板的电势差为：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237084"/>
              </p:ext>
            </p:extLst>
          </p:nvPr>
        </p:nvGraphicFramePr>
        <p:xfrm>
          <a:off x="1655676" y="4918208"/>
          <a:ext cx="3203447" cy="869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87500" imgH="431800" progId="Equation.DSMT4">
                  <p:embed/>
                </p:oleObj>
              </mc:Choice>
              <mc:Fallback>
                <p:oleObj name="Equation" r:id="rId3" imgW="1587500" imgH="431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676" y="4918208"/>
                        <a:ext cx="3203447" cy="8697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62840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76113" y="1049141"/>
            <a:ext cx="260840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电容器的电容：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892751"/>
              </p:ext>
            </p:extLst>
          </p:nvPr>
        </p:nvGraphicFramePr>
        <p:xfrm>
          <a:off x="2447764" y="1979394"/>
          <a:ext cx="2430520" cy="946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900" imgH="431800" progId="Equation.DSMT4">
                  <p:embed/>
                </p:oleObj>
              </mc:Choice>
              <mc:Fallback>
                <p:oleObj name="Equation" r:id="rId2" imgW="1104900" imgH="431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764" y="1979394"/>
                        <a:ext cx="2430520" cy="9469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55576" y="3172054"/>
            <a:ext cx="7596844" cy="952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平行板电容器的电容与极板面积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成正比，与间距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成反比。增大电容就要增大面积，减小间距。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3798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26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3" y="1304764"/>
            <a:ext cx="7129185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579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8002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5576" y="1340768"/>
            <a:ext cx="7646304" cy="952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由两个同心导体球组成的电容器，半径分别为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R1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R2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，带电量分别为＋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和－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6444208" y="2292952"/>
            <a:ext cx="1590675" cy="1581150"/>
            <a:chOff x="6675" y="2625"/>
            <a:chExt cx="2505" cy="2490"/>
          </a:xfrm>
        </p:grpSpPr>
        <p:sp>
          <p:nvSpPr>
            <p:cNvPr id="8" name="Oval 3"/>
            <p:cNvSpPr>
              <a:spLocks noChangeArrowheads="1"/>
            </p:cNvSpPr>
            <p:nvPr/>
          </p:nvSpPr>
          <p:spPr bwMode="auto">
            <a:xfrm>
              <a:off x="6675" y="2625"/>
              <a:ext cx="2505" cy="249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6795" y="2745"/>
              <a:ext cx="2250" cy="226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7095" y="3045"/>
              <a:ext cx="1680" cy="169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755576" y="2391029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求：球形电容器的电容</a:t>
            </a:r>
            <a:r>
              <a:rPr lang="zh-CN" altLang="zh-CN" sz="2400" kern="100" dirty="0">
                <a:cs typeface="Times New Roman" panose="02020603050405020304" pitchFamily="18" charset="0"/>
              </a:rPr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1092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8002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5576" y="1340768"/>
            <a:ext cx="7646304" cy="952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由两个同心导体球组成的电容器，半径分别为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R1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R2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，带电量分别为＋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和－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6444208" y="2292952"/>
            <a:ext cx="1590675" cy="1581150"/>
            <a:chOff x="6675" y="2625"/>
            <a:chExt cx="2505" cy="2490"/>
          </a:xfrm>
        </p:grpSpPr>
        <p:sp>
          <p:nvSpPr>
            <p:cNvPr id="8" name="Oval 3"/>
            <p:cNvSpPr>
              <a:spLocks noChangeArrowheads="1"/>
            </p:cNvSpPr>
            <p:nvPr/>
          </p:nvSpPr>
          <p:spPr bwMode="auto">
            <a:xfrm>
              <a:off x="6675" y="2625"/>
              <a:ext cx="2505" cy="249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6795" y="2745"/>
              <a:ext cx="2250" cy="226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7095" y="3045"/>
              <a:ext cx="1680" cy="169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755576" y="2391029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求：球形电容器的电容</a:t>
            </a:r>
            <a:r>
              <a:rPr lang="zh-CN" altLang="zh-CN" sz="2400" kern="100" dirty="0">
                <a:cs typeface="Times New Roman" panose="02020603050405020304" pitchFamily="18" charset="0"/>
              </a:rPr>
              <a:t>。</a:t>
            </a:r>
            <a:endParaRPr lang="zh-CN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755576" y="2950771"/>
            <a:ext cx="50045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解：由高斯定理可求出电场强度为：</a:t>
            </a:r>
            <a:endParaRPr lang="zh-CN" altLang="en-US" sz="2400" kern="100" dirty="0"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094906"/>
              </p:ext>
            </p:extLst>
          </p:nvPr>
        </p:nvGraphicFramePr>
        <p:xfrm>
          <a:off x="1296277" y="3663158"/>
          <a:ext cx="1764826" cy="953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753" imgH="431613" progId="Equation.DSMT4">
                  <p:embed/>
                </p:oleObj>
              </mc:Choice>
              <mc:Fallback>
                <p:oleObj name="Equation" r:id="rId2" imgW="799753" imgH="43161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277" y="3663158"/>
                        <a:ext cx="1764826" cy="9539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627830"/>
              </p:ext>
            </p:extLst>
          </p:nvPr>
        </p:nvGraphicFramePr>
        <p:xfrm>
          <a:off x="1308042" y="4734858"/>
          <a:ext cx="6207090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98800" imgH="431800" progId="Equation.DSMT4">
                  <p:embed/>
                </p:oleObj>
              </mc:Choice>
              <mc:Fallback>
                <p:oleObj name="Equation" r:id="rId4" imgW="30988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042" y="4734858"/>
                        <a:ext cx="6207090" cy="8640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69295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929502" y="1160748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电容器的电容：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8289744"/>
              </p:ext>
            </p:extLst>
          </p:nvPr>
        </p:nvGraphicFramePr>
        <p:xfrm>
          <a:off x="2447764" y="1736812"/>
          <a:ext cx="2916324" cy="861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59866" imgH="431613" progId="Equation.DSMT4">
                  <p:embed/>
                </p:oleObj>
              </mc:Choice>
              <mc:Fallback>
                <p:oleObj name="Equation" r:id="rId2" imgW="1459866" imgH="431613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764" y="1736812"/>
                        <a:ext cx="2916324" cy="8619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29502" y="3069973"/>
            <a:ext cx="56236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球形电容器的电容与两球的半径有关</a:t>
            </a:r>
            <a:r>
              <a:rPr lang="zh-CN" altLang="zh-CN" sz="2400" kern="100" dirty="0">
                <a:cs typeface="Times New Roman" panose="02020603050405020304" pitchFamily="18" charset="0"/>
              </a:rPr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63678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8002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5576" y="1340768"/>
            <a:ext cx="7646304" cy="952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由两个同轴导体圆柱组成的电容器，半径分别为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 kern="100" baseline="-25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 kern="100" baseline="-25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，长度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L&gt;&gt;R</a:t>
            </a:r>
            <a:r>
              <a:rPr lang="en-US" altLang="zh-CN" sz="2400" kern="100" baseline="-25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 kern="100" baseline="-25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带电量分别为＋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和－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7128284" y="2680000"/>
            <a:ext cx="1000125" cy="1590675"/>
            <a:chOff x="7155" y="9081"/>
            <a:chExt cx="1575" cy="2505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7155" y="9366"/>
              <a:ext cx="1575" cy="187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7155" y="9081"/>
              <a:ext cx="1560" cy="55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7170" y="11031"/>
              <a:ext cx="1560" cy="555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7155" y="9336"/>
              <a:ext cx="0" cy="19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8715" y="9396"/>
              <a:ext cx="0" cy="19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Oval 8"/>
            <p:cNvSpPr>
              <a:spLocks noChangeArrowheads="1"/>
            </p:cNvSpPr>
            <p:nvPr/>
          </p:nvSpPr>
          <p:spPr bwMode="auto">
            <a:xfrm>
              <a:off x="7530" y="9216"/>
              <a:ext cx="810" cy="24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7530" y="9321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8340" y="9336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6" name="矩形 15"/>
          <p:cNvSpPr/>
          <p:nvPr/>
        </p:nvSpPr>
        <p:spPr>
          <a:xfrm>
            <a:off x="755576" y="2422785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求：球形电容器的电容。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7663320" y="2850480"/>
              <a:ext cx="179280" cy="36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52520" y="2839680"/>
                <a:ext cx="199800" cy="2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89702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8002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5576" y="1340768"/>
            <a:ext cx="7646304" cy="952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由两个同轴导体圆柱组成的电容器，半径分别为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 kern="100" baseline="-25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 kern="100" baseline="-25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，长度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L&gt;&gt;R</a:t>
            </a:r>
            <a:r>
              <a:rPr lang="en-US" altLang="zh-CN" sz="2400" kern="100" baseline="-25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 kern="100" baseline="-25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带电量分别为＋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和－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7128284" y="2680000"/>
            <a:ext cx="1000125" cy="1590675"/>
            <a:chOff x="7155" y="9081"/>
            <a:chExt cx="1575" cy="2505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7155" y="9366"/>
              <a:ext cx="1575" cy="187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7155" y="9081"/>
              <a:ext cx="1560" cy="55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7170" y="11031"/>
              <a:ext cx="1560" cy="555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7155" y="9336"/>
              <a:ext cx="0" cy="19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8715" y="9396"/>
              <a:ext cx="0" cy="19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Oval 8"/>
            <p:cNvSpPr>
              <a:spLocks noChangeArrowheads="1"/>
            </p:cNvSpPr>
            <p:nvPr/>
          </p:nvSpPr>
          <p:spPr bwMode="auto">
            <a:xfrm>
              <a:off x="7530" y="9216"/>
              <a:ext cx="810" cy="24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7530" y="9321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8340" y="9336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6" name="矩形 15"/>
          <p:cNvSpPr/>
          <p:nvPr/>
        </p:nvSpPr>
        <p:spPr>
          <a:xfrm>
            <a:off x="752261" y="2295292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求：球形电容器的电容。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52261" y="2756867"/>
            <a:ext cx="50139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解：由高斯定理可求出电场强度为：</a:t>
            </a:r>
            <a:endParaRPr lang="zh-CN" altLang="en-US" sz="2400" kern="100" dirty="0"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189677"/>
              </p:ext>
            </p:extLst>
          </p:nvPr>
        </p:nvGraphicFramePr>
        <p:xfrm>
          <a:off x="2002259" y="3129412"/>
          <a:ext cx="1836204" cy="102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4" imgH="431613" progId="Equation.DSMT4">
                  <p:embed/>
                </p:oleObj>
              </mc:Choice>
              <mc:Fallback>
                <p:oleObj name="Equation" r:id="rId2" imgW="774364" imgH="431613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2259" y="3129412"/>
                        <a:ext cx="1836204" cy="10201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334570"/>
              </p:ext>
            </p:extLst>
          </p:nvPr>
        </p:nvGraphicFramePr>
        <p:xfrm>
          <a:off x="1151620" y="4304573"/>
          <a:ext cx="66770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73400" imgH="431800" progId="Equation.DSMT4">
                  <p:embed/>
                </p:oleObj>
              </mc:Choice>
              <mc:Fallback>
                <p:oleObj name="Equation" r:id="rId4" imgW="3073400" imgH="431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620" y="4304573"/>
                        <a:ext cx="6677025" cy="936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971600" y="5494171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电容器的电容：</a:t>
            </a: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052828"/>
              </p:ext>
            </p:extLst>
          </p:nvPr>
        </p:nvGraphicFramePr>
        <p:xfrm>
          <a:off x="3671900" y="5302905"/>
          <a:ext cx="3222536" cy="92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7950" imgH="431613" progId="Equation.DSMT4">
                  <p:embed/>
                </p:oleObj>
              </mc:Choice>
              <mc:Fallback>
                <p:oleObj name="Equation" r:id="rId6" imgW="1497950" imgH="431613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900" y="5302905"/>
                        <a:ext cx="3222536" cy="9251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18794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8002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5576" y="1340768"/>
            <a:ext cx="7646304" cy="952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由两个半径为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的平行长直导线，轴间距离为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d&gt;&gt;a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。线电荷密度分别为＋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和－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2168860"/>
            <a:ext cx="3066641" cy="183450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55576" y="2442214"/>
            <a:ext cx="4248472" cy="968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求：单位长度平行直导线之间的电容</a:t>
            </a:r>
            <a:r>
              <a:rPr lang="zh-CN" altLang="zh-CN" sz="2400" kern="100" dirty="0">
                <a:cs typeface="Times New Roman" panose="02020603050405020304" pitchFamily="18" charset="0"/>
              </a:rPr>
              <a:t>。</a:t>
            </a:r>
            <a:endParaRPr lang="zh-CN" alt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5451480" y="1482120"/>
              <a:ext cx="46800" cy="896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41400" y="1472040"/>
                <a:ext cx="61560" cy="10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15856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8002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5576" y="1340768"/>
            <a:ext cx="7646304" cy="952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由两个半径为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的平行长直导线，轴间距离为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d&gt;&gt;a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。线电荷密度分别为＋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和－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" name="矩形 7"/>
          <p:cNvSpPr/>
          <p:nvPr/>
        </p:nvSpPr>
        <p:spPr>
          <a:xfrm>
            <a:off x="755576" y="2442214"/>
            <a:ext cx="4248472" cy="968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求：单位长度平行直导线之间的电容</a:t>
            </a:r>
            <a:r>
              <a:rPr lang="zh-CN" altLang="zh-CN" sz="2400" kern="100" dirty="0">
                <a:cs typeface="Times New Roman" panose="02020603050405020304" pitchFamily="18" charset="0"/>
              </a:rPr>
              <a:t>。</a:t>
            </a:r>
            <a:endParaRPr lang="zh-CN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755576" y="3527992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解：由高斯定理可求出</a:t>
            </a:r>
            <a:endParaRPr lang="zh-CN" altLang="en-US" sz="2400" kern="100" dirty="0"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51450" y="4152630"/>
            <a:ext cx="5908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直导线在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P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点产生的电场强度大小分别为：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604519"/>
              </p:ext>
            </p:extLst>
          </p:nvPr>
        </p:nvGraphicFramePr>
        <p:xfrm>
          <a:off x="1367644" y="4914616"/>
          <a:ext cx="1620180" cy="934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8975" imgH="431613" progId="Equation.DSMT4">
                  <p:embed/>
                </p:oleObj>
              </mc:Choice>
              <mc:Fallback>
                <p:oleObj name="Equation" r:id="rId2" imgW="748975" imgH="431613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7644" y="4914616"/>
                        <a:ext cx="1620180" cy="9347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763044"/>
              </p:ext>
            </p:extLst>
          </p:nvPr>
        </p:nvGraphicFramePr>
        <p:xfrm>
          <a:off x="4391980" y="5032194"/>
          <a:ext cx="2409175" cy="950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726" imgH="431613" progId="Equation.DSMT4">
                  <p:embed/>
                </p:oleObj>
              </mc:Choice>
              <mc:Fallback>
                <p:oleObj name="Equation" r:id="rId4" imgW="1091726" imgH="431613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980" y="5032194"/>
                        <a:ext cx="2409175" cy="9509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988" y="2168860"/>
            <a:ext cx="3066641" cy="183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5250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971600" y="1065204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100" dirty="0"/>
              <a:t>E</a:t>
            </a:r>
            <a:r>
              <a:rPr lang="zh-CN" altLang="zh-CN" sz="2400" kern="100" baseline="-25000" dirty="0">
                <a:cs typeface="Times New Roman" panose="02020603050405020304" pitchFamily="18" charset="0"/>
              </a:rPr>
              <a:t>＋</a:t>
            </a:r>
            <a:r>
              <a:rPr lang="zh-CN" altLang="zh-CN" sz="2400" kern="100" dirty="0">
                <a:cs typeface="Times New Roman" panose="02020603050405020304" pitchFamily="18" charset="0"/>
              </a:rPr>
              <a:t>和</a:t>
            </a:r>
            <a:r>
              <a:rPr lang="en-US" altLang="zh-CN" sz="2400" kern="100" dirty="0"/>
              <a:t>E</a:t>
            </a:r>
            <a:r>
              <a:rPr lang="zh-CN" altLang="zh-CN" sz="2400" kern="100" baseline="-25000" dirty="0">
                <a:cs typeface="Times New Roman" panose="02020603050405020304" pitchFamily="18" charset="0"/>
              </a:rPr>
              <a:t>－</a:t>
            </a:r>
            <a:r>
              <a:rPr lang="zh-CN" altLang="zh-CN" sz="2400" kern="100" dirty="0">
                <a:cs typeface="Times New Roman" panose="02020603050405020304" pitchFamily="18" charset="0"/>
              </a:rPr>
              <a:t>的方向一致，所以：</a:t>
            </a:r>
            <a:endParaRPr lang="zh-CN" altLang="en-US" sz="240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11660" y="195283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364232"/>
              </p:ext>
            </p:extLst>
          </p:nvPr>
        </p:nvGraphicFramePr>
        <p:xfrm>
          <a:off x="2447764" y="1536344"/>
          <a:ext cx="3240360" cy="106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310" imgH="444307" progId="Equation.DSMT4">
                  <p:embed/>
                </p:oleObj>
              </mc:Choice>
              <mc:Fallback>
                <p:oleObj name="Equation" r:id="rId2" imgW="1358310" imgH="444307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764" y="1536344"/>
                        <a:ext cx="3240360" cy="1062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367644" y="316770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888338"/>
              </p:ext>
            </p:extLst>
          </p:nvPr>
        </p:nvGraphicFramePr>
        <p:xfrm>
          <a:off x="1691680" y="3070459"/>
          <a:ext cx="5961062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05040" imgH="888840" progId="Equation.DSMT4">
                  <p:embed/>
                </p:oleObj>
              </mc:Choice>
              <mc:Fallback>
                <p:oleObj name="Equation" r:id="rId4" imgW="2705040" imgH="8888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3070459"/>
                        <a:ext cx="5961062" cy="1962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971600" y="5001982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cs typeface="Times New Roman" panose="02020603050405020304" pitchFamily="18" charset="0"/>
              </a:rPr>
              <a:t>电容器的电容：</a:t>
            </a:r>
            <a:endParaRPr lang="zh-CN" altLang="en-US" sz="2400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93354"/>
              </p:ext>
            </p:extLst>
          </p:nvPr>
        </p:nvGraphicFramePr>
        <p:xfrm>
          <a:off x="2807804" y="5321656"/>
          <a:ext cx="2960057" cy="92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300" imgH="431800" progId="Equation.DSMT4">
                  <p:embed/>
                </p:oleObj>
              </mc:Choice>
              <mc:Fallback>
                <p:oleObj name="Equation" r:id="rId6" imgW="13843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7804" y="5321656"/>
                        <a:ext cx="2960057" cy="920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62037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1007604" y="1268760"/>
            <a:ext cx="7128792" cy="169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任何导体之间都存在着电容，在电子线路中，这种电容称为分布电容，一般情况下分布电容值很小，可忽略不计，但在高频电路中，需要考虑分布电容</a:t>
            </a:r>
            <a:r>
              <a:rPr lang="zh-CN" altLang="zh-CN" sz="2400" kern="100" dirty="0">
                <a:cs typeface="Times New Roman" panose="02020603050405020304" pitchFamily="18" charset="0"/>
              </a:rPr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190389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36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148936"/>
            <a:ext cx="7056784" cy="492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6233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17" y="1141974"/>
            <a:ext cx="7141166" cy="489040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 bwMode="auto">
          <a:xfrm>
            <a:off x="7596336" y="796787"/>
            <a:ext cx="588438" cy="43596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72015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EFEFD"/>
              </a:clrFrom>
              <a:clrTo>
                <a:srgbClr val="FE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21650" y="1147379"/>
            <a:ext cx="6246694" cy="506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967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685800" y="504424"/>
            <a:ext cx="7772400" cy="60482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3600" kern="0" dirty="0">
                <a:latin typeface="仿宋" panose="02010609060101010101" pitchFamily="49" charset="-122"/>
                <a:ea typeface="仿宋" panose="02010609060101010101" pitchFamily="49" charset="-122"/>
              </a:rPr>
              <a:t>§6.</a:t>
            </a:r>
            <a:r>
              <a:rPr lang="zh-CN" altLang="en-US" sz="3600" kern="0" dirty="0">
                <a:latin typeface="仿宋" panose="02010609060101010101" pitchFamily="49" charset="-122"/>
                <a:ea typeface="仿宋" panose="02010609060101010101" pitchFamily="49" charset="-122"/>
              </a:rPr>
              <a:t> 电容储能，电场能量（重点）</a:t>
            </a:r>
          </a:p>
        </p:txBody>
      </p:sp>
      <p:sp>
        <p:nvSpPr>
          <p:cNvPr id="6" name="矩形 5"/>
          <p:cNvSpPr/>
          <p:nvPr/>
        </p:nvSpPr>
        <p:spPr>
          <a:xfrm>
            <a:off x="605813" y="1459264"/>
            <a:ext cx="7664388" cy="1193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给电容器充电的过程，是电源把电荷从负极板移到正极板的过程，这一过程需要作功。电源需要消耗其它形式的能量来完成这一作功的过程。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9572" y="2936592"/>
            <a:ext cx="5257910" cy="1193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在电源的作用下，电荷不断地从</a:t>
            </a:r>
          </a:p>
          <a:p>
            <a:pPr algn="l">
              <a:lnSpc>
                <a:spcPct val="125000"/>
              </a:lnSpc>
            </a:pPr>
            <a:r>
              <a:rPr lang="en-US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板移到</a:t>
            </a:r>
            <a:r>
              <a:rPr lang="en-US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板，在时间</a:t>
            </a:r>
            <a:r>
              <a:rPr lang="en-US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内，移动了</a:t>
            </a:r>
          </a:p>
          <a:p>
            <a:pPr algn="l">
              <a:lnSpc>
                <a:spcPct val="125000"/>
              </a:lnSpc>
            </a:pPr>
            <a:r>
              <a:rPr lang="zh-CN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电荷</a:t>
            </a:r>
            <a:r>
              <a:rPr lang="en-US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q(t)</a:t>
            </a:r>
            <a:r>
              <a:rPr lang="zh-CN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，这时极板间的电势差为：</a:t>
            </a:r>
            <a:endParaRPr lang="zh-CN" altLang="en-US" sz="2000" kern="100" dirty="0"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09281" y="4329100"/>
            <a:ext cx="12186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kern="100" dirty="0"/>
              <a:t>u(t)</a:t>
            </a:r>
            <a:r>
              <a:rPr lang="zh-CN" altLang="zh-CN" sz="2000" kern="100" dirty="0">
                <a:cs typeface="Times New Roman" panose="02020603050405020304" pitchFamily="18" charset="0"/>
              </a:rPr>
              <a:t>＝</a:t>
            </a:r>
            <a:r>
              <a:rPr lang="en-US" altLang="zh-CN" sz="2000" kern="100" dirty="0"/>
              <a:t>q</a:t>
            </a:r>
            <a:r>
              <a:rPr lang="en-US" altLang="zh-CN" sz="20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2000" kern="100" dirty="0"/>
              <a:t>C</a:t>
            </a:r>
            <a:endParaRPr lang="zh-CN" altLang="en-US" sz="2000" dirty="0"/>
          </a:p>
        </p:txBody>
      </p:sp>
      <p:sp>
        <p:nvSpPr>
          <p:cNvPr id="10" name="矩形 9"/>
          <p:cNvSpPr/>
          <p:nvPr/>
        </p:nvSpPr>
        <p:spPr>
          <a:xfrm>
            <a:off x="681890" y="4892342"/>
            <a:ext cx="5295592" cy="424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继续从</a:t>
            </a:r>
            <a:r>
              <a:rPr lang="en-US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板移动电荷</a:t>
            </a:r>
            <a:r>
              <a:rPr lang="en-US" altLang="zh-CN" sz="2000" kern="100" dirty="0" err="1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dq</a:t>
            </a:r>
            <a:r>
              <a:rPr lang="zh-CN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板，需要作功</a:t>
            </a:r>
            <a:r>
              <a:rPr lang="en-US" altLang="zh-CN" sz="2000" kern="100" dirty="0" err="1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dA</a:t>
            </a:r>
            <a:r>
              <a:rPr lang="zh-CN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000" kern="100" dirty="0"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2447764" y="598646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465630"/>
              </p:ext>
            </p:extLst>
          </p:nvPr>
        </p:nvGraphicFramePr>
        <p:xfrm>
          <a:off x="2291259" y="5416012"/>
          <a:ext cx="2076854" cy="777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080" imgH="393480" progId="Equation.DSMT4">
                  <p:embed/>
                </p:oleObj>
              </mc:Choice>
              <mc:Fallback>
                <p:oleObj name="Equation" r:id="rId2" imgW="1054080" imgH="3934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259" y="5416012"/>
                        <a:ext cx="2076854" cy="7770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191" y="3084278"/>
            <a:ext cx="1665017" cy="288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0398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135429"/>
              </p:ext>
            </p:extLst>
          </p:nvPr>
        </p:nvGraphicFramePr>
        <p:xfrm>
          <a:off x="1619672" y="1615753"/>
          <a:ext cx="3436440" cy="962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900" imgH="419100" progId="Equation.DSMT4">
                  <p:embed/>
                </p:oleObj>
              </mc:Choice>
              <mc:Fallback>
                <p:oleObj name="Equation" r:id="rId2" imgW="1485900" imgH="419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1615753"/>
                        <a:ext cx="3436440" cy="9628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028996"/>
              </p:ext>
            </p:extLst>
          </p:nvPr>
        </p:nvGraphicFramePr>
        <p:xfrm>
          <a:off x="1295636" y="3345473"/>
          <a:ext cx="2929073" cy="768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87500" imgH="419100" progId="Equation.DSMT4">
                  <p:embed/>
                </p:oleObj>
              </mc:Choice>
              <mc:Fallback>
                <p:oleObj name="Equation" r:id="rId4" imgW="1587500" imgH="419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636" y="3345473"/>
                        <a:ext cx="2929073" cy="7687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87744"/>
              </p:ext>
            </p:extLst>
          </p:nvPr>
        </p:nvGraphicFramePr>
        <p:xfrm>
          <a:off x="1295636" y="4952005"/>
          <a:ext cx="3088036" cy="796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12900" imgH="419100" progId="Equation.DSMT4">
                  <p:embed/>
                </p:oleObj>
              </mc:Choice>
              <mc:Fallback>
                <p:oleObj name="Equation" r:id="rId6" imgW="1612900" imgH="4191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636" y="4952005"/>
                        <a:ext cx="3088036" cy="7960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1120661"/>
            <a:ext cx="730841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从极板上没有电荷直到极板上带有电荷</a:t>
            </a:r>
            <a:r>
              <a:rPr kumimoji="0" lang="en-US" altLang="zh-CN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zh-CN" altLang="en-US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，电源所作的功为：</a:t>
            </a:r>
            <a:endParaRPr kumimoji="0" lang="zh-CN" altLang="en-US" sz="20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755576" y="2774894"/>
            <a:ext cx="349166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kumimoji="0"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CU</a:t>
            </a:r>
            <a:r>
              <a:rPr kumimoji="0"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可以写成：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598549" y="4358737"/>
            <a:ext cx="58112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6700" algn="l" eaLnBrk="0" hangingPunct="0"/>
            <a:r>
              <a:rPr kumimoji="0" lang="zh-CN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电源所作的功转换成电容器中电场储存的能量</a:t>
            </a:r>
            <a:r>
              <a:rPr kumimoji="0" lang="en-US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35770026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4960" y="1178657"/>
            <a:ext cx="59406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zh-CN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对于平行板电容器，</a:t>
            </a:r>
            <a:r>
              <a:rPr kumimoji="0" lang="en-US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0" lang="zh-CN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Ed</a:t>
            </a:r>
            <a:r>
              <a:rPr kumimoji="0" lang="zh-CN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0" lang="zh-CN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kumimoji="0" lang="en-US" altLang="zh-CN" sz="20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S/d</a:t>
            </a:r>
            <a:endParaRPr kumimoji="0" lang="zh-CN" altLang="en-US" sz="20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079612" y="1734580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∴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0168374"/>
              </p:ext>
            </p:extLst>
          </p:nvPr>
        </p:nvGraphicFramePr>
        <p:xfrm>
          <a:off x="1871700" y="1592796"/>
          <a:ext cx="4248477" cy="786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33600" imgH="393700" progId="Equation.DSMT4">
                  <p:embed/>
                </p:oleObj>
              </mc:Choice>
              <mc:Fallback>
                <p:oleObj name="Equation" r:id="rId2" imgW="2133600" imgH="3937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700" y="1592796"/>
                        <a:ext cx="4248477" cy="7867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844960" y="2379551"/>
            <a:ext cx="6660740" cy="828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kumimoji="0" lang="zh-CN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kumimoji="0" lang="en-US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0" lang="zh-CN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为电容器中电场遍及的空间体积。</a:t>
            </a:r>
          </a:p>
          <a:p>
            <a:pPr algn="l">
              <a:lnSpc>
                <a:spcPct val="125000"/>
              </a:lnSpc>
            </a:pPr>
            <a:r>
              <a:rPr kumimoji="0" lang="zh-CN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电能密度：单位体积中的电能。</a:t>
            </a:r>
            <a:endParaRPr kumimoji="0" lang="zh-CN" altLang="en-US" sz="20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900231" y="361109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698762"/>
              </p:ext>
            </p:extLst>
          </p:nvPr>
        </p:nvGraphicFramePr>
        <p:xfrm>
          <a:off x="3112661" y="3531520"/>
          <a:ext cx="2448272" cy="95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6000" imgH="393700" progId="Equation.DSMT4">
                  <p:embed/>
                </p:oleObj>
              </mc:Choice>
              <mc:Fallback>
                <p:oleObj name="Equation" r:id="rId4" imgW="1016000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2661" y="3531520"/>
                        <a:ext cx="2448272" cy="955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611560" y="4572364"/>
            <a:ext cx="7941944" cy="1597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kumimoji="0" lang="zh-CN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由上式看出，电能密度只与电场强度</a:t>
            </a:r>
            <a:r>
              <a:rPr kumimoji="0" lang="en-US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0" lang="zh-CN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有关，与电荷</a:t>
            </a:r>
            <a:r>
              <a:rPr kumimoji="0" lang="en-US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zh-CN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、电容</a:t>
            </a:r>
            <a:r>
              <a:rPr kumimoji="0" lang="en-US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0" lang="zh-CN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无关。这说明电场中的能量是电场本身固有的。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kumimoji="0" lang="zh-CN" altLang="zh-CN" sz="2000" dirty="0">
                <a:ea typeface="仿宋" panose="02010609060101010101" pitchFamily="49" charset="-122"/>
                <a:cs typeface="Times New Roman" panose="02020603050405020304" pitchFamily="18" charset="0"/>
              </a:rPr>
              <a:t>只要存在电场，就存在能量。与电荷无关，电荷的作用是能够产生电场。</a:t>
            </a:r>
            <a:endParaRPr kumimoji="0" lang="zh-CN" altLang="en-US" sz="20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4707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1008720" y="1304764"/>
            <a:ext cx="712656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上式虽然是从平行板电容器中储存的能量导出的，但它是普遍成立的。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对于不均匀电场，取一体元</a:t>
            </a:r>
            <a:r>
              <a:rPr kumimoji="0" lang="en-US" altLang="zh-CN" sz="2400" dirty="0" err="1">
                <a:ea typeface="仿宋" panose="02010609060101010101" pitchFamily="49" charset="-122"/>
                <a:cs typeface="Times New Roman" panose="02020603050405020304" pitchFamily="18" charset="0"/>
              </a:rPr>
              <a:t>dV</a:t>
            </a: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，该点的电场能量密度为</a:t>
            </a:r>
            <a:r>
              <a:rPr kumimoji="0" lang="en-US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，则体元</a:t>
            </a:r>
            <a:r>
              <a:rPr kumimoji="0" lang="en-US" altLang="zh-CN" sz="2400" dirty="0" err="1">
                <a:ea typeface="仿宋" panose="02010609060101010101" pitchFamily="49" charset="-122"/>
                <a:cs typeface="Times New Roman" panose="02020603050405020304" pitchFamily="18" charset="0"/>
              </a:rPr>
              <a:t>dV</a:t>
            </a: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中储存的静电能为：</a:t>
            </a:r>
            <a:r>
              <a:rPr kumimoji="0" lang="en-US" altLang="zh-CN" sz="2400" dirty="0" err="1">
                <a:ea typeface="仿宋" panose="02010609060101010101" pitchFamily="49" charset="-122"/>
                <a:cs typeface="Times New Roman" panose="02020603050405020304" pitchFamily="18" charset="0"/>
              </a:rPr>
              <a:t>dW</a:t>
            </a: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400" dirty="0" err="1">
                <a:ea typeface="仿宋" panose="02010609060101010101" pitchFamily="49" charset="-122"/>
                <a:cs typeface="Times New Roman" panose="02020603050405020304" pitchFamily="18" charset="0"/>
              </a:rPr>
              <a:t>wdV</a:t>
            </a: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kumimoji="0" lang="zh-CN" altLang="zh-CN" sz="2400" dirty="0">
                <a:ea typeface="仿宋" panose="02010609060101010101" pitchFamily="49" charset="-122"/>
                <a:cs typeface="Times New Roman" panose="02020603050405020304" pitchFamily="18" charset="0"/>
              </a:rPr>
              <a:t>整个电场中的静电能为：</a:t>
            </a:r>
            <a:endParaRPr lang="zh-CN" altLang="en-US" sz="2400" dirty="0"/>
          </a:p>
        </p:txBody>
      </p:sp>
      <p:graphicFrame>
        <p:nvGraphicFramePr>
          <p:cNvPr id="2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756724"/>
              </p:ext>
            </p:extLst>
          </p:nvPr>
        </p:nvGraphicFramePr>
        <p:xfrm>
          <a:off x="2519772" y="3883397"/>
          <a:ext cx="351790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0160" imgH="393480" progId="Equation.DSMT4">
                  <p:embed/>
                </p:oleObj>
              </mc:Choice>
              <mc:Fallback>
                <p:oleObj name="Equation" r:id="rId2" imgW="1460160" imgH="39348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772" y="3883397"/>
                        <a:ext cx="3517900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46504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82833" y="1101248"/>
            <a:ext cx="726352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正负电荷合在一起时，空间没有场，也没有电场能。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Group 1"/>
          <p:cNvGrpSpPr>
            <a:grpSpLocks/>
          </p:cNvGrpSpPr>
          <p:nvPr/>
        </p:nvGrpSpPr>
        <p:grpSpPr bwMode="auto">
          <a:xfrm>
            <a:off x="3357297" y="2024844"/>
            <a:ext cx="2333625" cy="1228725"/>
            <a:chOff x="3210" y="11445"/>
            <a:chExt cx="3675" cy="1935"/>
          </a:xfrm>
        </p:grpSpPr>
        <p:sp>
          <p:nvSpPr>
            <p:cNvPr id="7" name="Oval 11"/>
            <p:cNvSpPr>
              <a:spLocks noChangeArrowheads="1"/>
            </p:cNvSpPr>
            <p:nvPr/>
          </p:nvSpPr>
          <p:spPr bwMode="auto">
            <a:xfrm>
              <a:off x="4410" y="11520"/>
              <a:ext cx="585" cy="585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4425" y="11445"/>
              <a:ext cx="540" cy="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cs typeface="Times New Roman" panose="02020603050405020304" pitchFamily="18" charset="0"/>
                </a:rPr>
                <a:t>＋</a:t>
              </a:r>
              <a:endPara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9" name="Group 7"/>
            <p:cNvGrpSpPr>
              <a:grpSpLocks/>
            </p:cNvGrpSpPr>
            <p:nvPr/>
          </p:nvGrpSpPr>
          <p:grpSpPr bwMode="auto">
            <a:xfrm>
              <a:off x="5010" y="11535"/>
              <a:ext cx="585" cy="585"/>
              <a:chOff x="5010" y="9039"/>
              <a:chExt cx="585" cy="585"/>
            </a:xfrm>
          </p:grpSpPr>
          <p:sp>
            <p:nvSpPr>
              <p:cNvPr id="15" name="Oval 9"/>
              <p:cNvSpPr>
                <a:spLocks noChangeArrowheads="1"/>
              </p:cNvSpPr>
              <p:nvPr/>
            </p:nvSpPr>
            <p:spPr bwMode="auto">
              <a:xfrm>
                <a:off x="5010" y="9039"/>
                <a:ext cx="585" cy="585"/>
              </a:xfrm>
              <a:prstGeom prst="ellipse">
                <a:avLst/>
              </a:prstGeom>
              <a:solidFill>
                <a:srgbClr val="0000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Line 8"/>
              <p:cNvSpPr>
                <a:spLocks noChangeShapeType="1"/>
              </p:cNvSpPr>
              <p:nvPr/>
            </p:nvSpPr>
            <p:spPr bwMode="auto">
              <a:xfrm>
                <a:off x="5190" y="9324"/>
                <a:ext cx="2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0" name="Oval 6"/>
            <p:cNvSpPr>
              <a:spLocks noChangeArrowheads="1"/>
            </p:cNvSpPr>
            <p:nvPr/>
          </p:nvSpPr>
          <p:spPr bwMode="auto">
            <a:xfrm>
              <a:off x="3210" y="12795"/>
              <a:ext cx="585" cy="585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Text Box 5"/>
            <p:cNvSpPr txBox="1">
              <a:spLocks noChangeArrowheads="1"/>
            </p:cNvSpPr>
            <p:nvPr/>
          </p:nvSpPr>
          <p:spPr bwMode="auto">
            <a:xfrm>
              <a:off x="3225" y="12720"/>
              <a:ext cx="540" cy="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cs typeface="Times New Roman" panose="02020603050405020304" pitchFamily="18" charset="0"/>
                </a:rPr>
                <a:t>＋</a:t>
              </a:r>
              <a:endPara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2" name="Group 2"/>
            <p:cNvGrpSpPr>
              <a:grpSpLocks/>
            </p:cNvGrpSpPr>
            <p:nvPr/>
          </p:nvGrpSpPr>
          <p:grpSpPr bwMode="auto">
            <a:xfrm>
              <a:off x="6300" y="12765"/>
              <a:ext cx="585" cy="585"/>
              <a:chOff x="5010" y="9039"/>
              <a:chExt cx="585" cy="585"/>
            </a:xfrm>
          </p:grpSpPr>
          <p:sp>
            <p:nvSpPr>
              <p:cNvPr id="13" name="Oval 4"/>
              <p:cNvSpPr>
                <a:spLocks noChangeArrowheads="1"/>
              </p:cNvSpPr>
              <p:nvPr/>
            </p:nvSpPr>
            <p:spPr bwMode="auto">
              <a:xfrm>
                <a:off x="5010" y="9039"/>
                <a:ext cx="585" cy="585"/>
              </a:xfrm>
              <a:prstGeom prst="ellipse">
                <a:avLst/>
              </a:prstGeom>
              <a:solidFill>
                <a:srgbClr val="0000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Line 3"/>
              <p:cNvSpPr>
                <a:spLocks noChangeShapeType="1"/>
              </p:cNvSpPr>
              <p:nvPr/>
            </p:nvSpPr>
            <p:spPr bwMode="auto">
              <a:xfrm>
                <a:off x="5190" y="9324"/>
                <a:ext cx="2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731762" y="3327118"/>
            <a:ext cx="7537069" cy="2337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用外力把正负电荷分开，就需要克服库伦力作功，同时在正负电荷之间产生电场。库伦力是保守力，外力所作的功就以电场能的形式储存在电场中。在这个过程中，正负电荷并没有发生变化，只是其分布有变化。 </a:t>
            </a:r>
          </a:p>
        </p:txBody>
      </p:sp>
    </p:spTree>
    <p:extLst>
      <p:ext uri="{BB962C8B-B14F-4D97-AF65-F5344CB8AC3E}">
        <p14:creationId xmlns:p14="http://schemas.microsoft.com/office/powerpoint/2010/main" val="34905064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32109" y="1246010"/>
            <a:ext cx="6120680" cy="828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zh-CN" sz="2000" kern="100" dirty="0">
                <a:ea typeface="仿宋" panose="02010609060101010101" pitchFamily="49" charset="-122"/>
              </a:rPr>
              <a:t>半径为</a:t>
            </a:r>
            <a:r>
              <a:rPr lang="en-US" altLang="zh-CN" sz="2000" kern="100" dirty="0">
                <a:ea typeface="仿宋" panose="02010609060101010101" pitchFamily="49" charset="-122"/>
              </a:rPr>
              <a:t>a</a:t>
            </a:r>
            <a:r>
              <a:rPr lang="zh-CN" altLang="zh-CN" sz="2000" kern="100" dirty="0">
                <a:ea typeface="仿宋" panose="02010609060101010101" pitchFamily="49" charset="-122"/>
              </a:rPr>
              <a:t>，带电量为</a:t>
            </a:r>
            <a:r>
              <a:rPr lang="en-US" altLang="zh-CN" sz="2000" kern="100" dirty="0">
                <a:ea typeface="仿宋" panose="02010609060101010101" pitchFamily="49" charset="-122"/>
              </a:rPr>
              <a:t>q</a:t>
            </a:r>
            <a:r>
              <a:rPr lang="zh-CN" altLang="zh-CN" sz="2000" kern="100" dirty="0">
                <a:ea typeface="仿宋" panose="02010609060101010101" pitchFamily="49" charset="-122"/>
              </a:rPr>
              <a:t>的孤立金属球，</a:t>
            </a:r>
          </a:p>
          <a:p>
            <a:pPr algn="l">
              <a:lnSpc>
                <a:spcPct val="125000"/>
              </a:lnSpc>
            </a:pP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求：它所产生的电场储存的静电能。</a:t>
            </a:r>
            <a:endParaRPr lang="zh-CN" altLang="en-US" sz="2000" dirty="0">
              <a:ea typeface="仿宋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249797"/>
            <a:ext cx="1742857" cy="17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1456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31600" y="1245600"/>
            <a:ext cx="6120680" cy="828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zh-CN" sz="2000" kern="100" dirty="0">
                <a:ea typeface="仿宋" panose="02010609060101010101" pitchFamily="49" charset="-122"/>
              </a:rPr>
              <a:t>半径为</a:t>
            </a:r>
            <a:r>
              <a:rPr lang="en-US" altLang="zh-CN" sz="2000" kern="100" dirty="0">
                <a:ea typeface="仿宋" panose="02010609060101010101" pitchFamily="49" charset="-122"/>
              </a:rPr>
              <a:t>a</a:t>
            </a:r>
            <a:r>
              <a:rPr lang="zh-CN" altLang="zh-CN" sz="2000" kern="100" dirty="0">
                <a:ea typeface="仿宋" panose="02010609060101010101" pitchFamily="49" charset="-122"/>
              </a:rPr>
              <a:t>，带电量为</a:t>
            </a:r>
            <a:r>
              <a:rPr lang="en-US" altLang="zh-CN" sz="2000" kern="100" dirty="0">
                <a:ea typeface="仿宋" panose="02010609060101010101" pitchFamily="49" charset="-122"/>
              </a:rPr>
              <a:t>q</a:t>
            </a:r>
            <a:r>
              <a:rPr lang="zh-CN" altLang="zh-CN" sz="2000" kern="100" dirty="0">
                <a:ea typeface="仿宋" panose="02010609060101010101" pitchFamily="49" charset="-122"/>
              </a:rPr>
              <a:t>的孤立金属球，</a:t>
            </a:r>
          </a:p>
          <a:p>
            <a:pPr algn="l">
              <a:lnSpc>
                <a:spcPct val="125000"/>
              </a:lnSpc>
            </a:pP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求：它所产生的电场储存的静电能。</a:t>
            </a:r>
            <a:endParaRPr lang="zh-CN" altLang="en-US" sz="2000" dirty="0">
              <a:ea typeface="仿宋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249797"/>
            <a:ext cx="1742857" cy="172381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27584" y="2113949"/>
            <a:ext cx="3775393" cy="4435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zh-CN" sz="2000" kern="100" dirty="0">
                <a:ea typeface="仿宋" panose="02010609060101010101" pitchFamily="49" charset="-122"/>
              </a:rPr>
              <a:t>解：由高斯定理可求出电场强度</a:t>
            </a:r>
            <a:endParaRPr lang="zh-CN" altLang="en-US" sz="2000" kern="100" dirty="0">
              <a:ea typeface="仿宋" panose="02010609060101010101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5988138"/>
              </p:ext>
            </p:extLst>
          </p:nvPr>
        </p:nvGraphicFramePr>
        <p:xfrm>
          <a:off x="2447764" y="2662147"/>
          <a:ext cx="1598578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99753" imgH="431613" progId="Equation.DSMT4">
                  <p:embed/>
                </p:oleObj>
              </mc:Choice>
              <mc:Fallback>
                <p:oleObj name="Equation" r:id="rId3" imgW="799753" imgH="431613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764" y="2662147"/>
                        <a:ext cx="1598578" cy="8640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1002397" y="3674258"/>
            <a:ext cx="6503303" cy="443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zh-CN" sz="2000" kern="100" dirty="0">
                <a:ea typeface="仿宋" panose="02010609060101010101" pitchFamily="49" charset="-122"/>
              </a:rPr>
              <a:t>半径为</a:t>
            </a:r>
            <a:r>
              <a:rPr lang="en-US" altLang="zh-CN" sz="2000" kern="100" dirty="0">
                <a:ea typeface="仿宋" panose="02010609060101010101" pitchFamily="49" charset="-122"/>
              </a:rPr>
              <a:t>r</a:t>
            </a:r>
            <a:r>
              <a:rPr lang="zh-CN" altLang="zh-CN" sz="2000" kern="100" dirty="0">
                <a:ea typeface="仿宋" panose="02010609060101010101" pitchFamily="49" charset="-122"/>
              </a:rPr>
              <a:t>，厚度为</a:t>
            </a:r>
            <a:r>
              <a:rPr lang="en-US" altLang="zh-CN" sz="2000" kern="100" dirty="0" err="1">
                <a:ea typeface="仿宋" panose="02010609060101010101" pitchFamily="49" charset="-122"/>
              </a:rPr>
              <a:t>dr</a:t>
            </a:r>
            <a:r>
              <a:rPr lang="zh-CN" altLang="zh-CN" sz="2000" kern="100" dirty="0">
                <a:ea typeface="仿宋" panose="02010609060101010101" pitchFamily="49" charset="-122"/>
              </a:rPr>
              <a:t>的球壳中的静电能为：</a:t>
            </a:r>
            <a:endParaRPr lang="zh-CN" altLang="en-US" sz="2000" kern="100" dirty="0">
              <a:ea typeface="仿宋" panose="02010609060101010101" pitchFamily="49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86888"/>
              </p:ext>
            </p:extLst>
          </p:nvPr>
        </p:nvGraphicFramePr>
        <p:xfrm>
          <a:off x="1475656" y="4398947"/>
          <a:ext cx="6265862" cy="185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27120" imgH="990360" progId="Equation.DSMT4">
                  <p:embed/>
                </p:oleObj>
              </mc:Choice>
              <mc:Fallback>
                <p:oleObj name="Equation" r:id="rId5" imgW="3327120" imgH="9903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4398947"/>
                        <a:ext cx="6265862" cy="1858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95809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66868" y="1075819"/>
            <a:ext cx="4373313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eaLnBrk="0" latinLnBrk="0" hangingPunct="0">
              <a:lnSpc>
                <a:spcPct val="125000"/>
              </a:lnSpc>
              <a:buClrTx/>
              <a:buSzTx/>
              <a:buFontTx/>
              <a:buNone/>
              <a:tabLst/>
            </a:pPr>
            <a:r>
              <a:rPr lang="zh-CN" altLang="zh-CN" sz="2000" kern="100" dirty="0">
                <a:ea typeface="仿宋" panose="02010609060101010101" pitchFamily="49" charset="-122"/>
              </a:rPr>
              <a:t>整个空间中电场的能量为</a:t>
            </a:r>
            <a:r>
              <a:rPr lang="en-US" altLang="zh-CN" sz="2000" kern="100" dirty="0">
                <a:ea typeface="仿宋" panose="02010609060101010101" pitchFamily="49" charset="-122"/>
              </a:rPr>
              <a:t>a</a:t>
            </a:r>
            <a:r>
              <a:rPr lang="zh-CN" altLang="en-US" sz="2000" kern="100" dirty="0">
                <a:ea typeface="仿宋" panose="02010609060101010101" pitchFamily="49" charset="-122"/>
              </a:rPr>
              <a:t>到∞的积分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695747"/>
              </p:ext>
            </p:extLst>
          </p:nvPr>
        </p:nvGraphicFramePr>
        <p:xfrm>
          <a:off x="1691680" y="1829482"/>
          <a:ext cx="3907559" cy="828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700" imgH="457200" progId="Equation.DSMT4">
                  <p:embed/>
                </p:oleObj>
              </mc:Choice>
              <mc:Fallback>
                <p:oleObj name="Equation" r:id="rId2" imgW="2171700" imgH="457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1829482"/>
                        <a:ext cx="3907559" cy="8280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89417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32109" y="1137694"/>
            <a:ext cx="6120680" cy="1437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400" kern="100" dirty="0">
                <a:ea typeface="仿宋" panose="02010609060101010101" pitchFamily="49" charset="-122"/>
              </a:rPr>
              <a:t>圆柱形电容器长为</a:t>
            </a:r>
            <a:r>
              <a:rPr lang="en-US" altLang="zh-CN" sz="2400" kern="100" dirty="0">
                <a:ea typeface="仿宋" panose="02010609060101010101" pitchFamily="49" charset="-122"/>
              </a:rPr>
              <a:t>L</a:t>
            </a:r>
            <a:r>
              <a:rPr lang="zh-CN" altLang="en-US" sz="2400" kern="100" dirty="0">
                <a:ea typeface="仿宋" panose="02010609060101010101" pitchFamily="49" charset="-122"/>
              </a:rPr>
              <a:t>，半径分别为</a:t>
            </a:r>
            <a:r>
              <a:rPr lang="en-US" altLang="zh-CN" sz="2400" kern="100" dirty="0">
                <a:ea typeface="仿宋" panose="02010609060101010101" pitchFamily="49" charset="-122"/>
              </a:rPr>
              <a:t>R</a:t>
            </a:r>
            <a:r>
              <a:rPr lang="en-US" altLang="zh-CN" sz="2400" kern="100" baseline="-25000" dirty="0">
                <a:ea typeface="仿宋" panose="02010609060101010101" pitchFamily="49" charset="-122"/>
              </a:rPr>
              <a:t>1</a:t>
            </a:r>
            <a:r>
              <a:rPr lang="zh-CN" altLang="en-US" sz="2400" kern="100" dirty="0">
                <a:ea typeface="仿宋" panose="02010609060101010101" pitchFamily="49" charset="-122"/>
              </a:rPr>
              <a:t>、</a:t>
            </a:r>
            <a:r>
              <a:rPr lang="en-US" altLang="zh-CN" sz="2400" kern="100" dirty="0">
                <a:ea typeface="仿宋" panose="02010609060101010101" pitchFamily="49" charset="-122"/>
              </a:rPr>
              <a:t>R</a:t>
            </a:r>
            <a:r>
              <a:rPr lang="en-US" altLang="zh-CN" sz="2400" kern="100" baseline="-25000" dirty="0">
                <a:ea typeface="仿宋" panose="02010609060101010101" pitchFamily="49" charset="-122"/>
              </a:rPr>
              <a:t>2</a:t>
            </a:r>
            <a:r>
              <a:rPr lang="zh-CN" altLang="en-US" sz="2400" kern="100" dirty="0">
                <a:ea typeface="仿宋" panose="02010609060101010101" pitchFamily="49" charset="-122"/>
              </a:rPr>
              <a:t>，长度</a:t>
            </a:r>
            <a:r>
              <a:rPr lang="en-US" altLang="zh-CN" sz="2400" kern="100" dirty="0">
                <a:ea typeface="仿宋" panose="02010609060101010101" pitchFamily="49" charset="-122"/>
              </a:rPr>
              <a:t>L&gt;&gt;R</a:t>
            </a:r>
            <a:r>
              <a:rPr lang="en-US" altLang="zh-CN" sz="2400" kern="100" baseline="-25000" dirty="0">
                <a:ea typeface="仿宋" panose="02010609060101010101" pitchFamily="49" charset="-122"/>
              </a:rPr>
              <a:t>2</a:t>
            </a:r>
            <a:r>
              <a:rPr lang="zh-CN" altLang="en-US" sz="2400" kern="100" dirty="0">
                <a:ea typeface="仿宋" panose="02010609060101010101" pitchFamily="49" charset="-122"/>
              </a:rPr>
              <a:t>－</a:t>
            </a:r>
            <a:r>
              <a:rPr lang="en-US" altLang="zh-CN" sz="2400" kern="100" dirty="0">
                <a:ea typeface="仿宋" panose="02010609060101010101" pitchFamily="49" charset="-122"/>
              </a:rPr>
              <a:t>R</a:t>
            </a:r>
            <a:r>
              <a:rPr lang="en-US" altLang="zh-CN" sz="2400" kern="100" baseline="-25000" dirty="0">
                <a:ea typeface="仿宋" panose="02010609060101010101" pitchFamily="49" charset="-122"/>
              </a:rPr>
              <a:t>1</a:t>
            </a:r>
            <a:r>
              <a:rPr lang="zh-CN" altLang="zh-CN" sz="2400" kern="100" dirty="0">
                <a:ea typeface="仿宋" panose="02010609060101010101" pitchFamily="49" charset="-122"/>
              </a:rPr>
              <a:t>，</a:t>
            </a:r>
            <a:r>
              <a:rPr lang="zh-CN" altLang="en-US" sz="2400" kern="100" dirty="0">
                <a:ea typeface="仿宋" panose="02010609060101010101" pitchFamily="49" charset="-122"/>
              </a:rPr>
              <a:t>带电量分别为＋</a:t>
            </a:r>
            <a:r>
              <a:rPr lang="en-US" altLang="zh-CN" sz="2400" kern="100" dirty="0">
                <a:ea typeface="仿宋" panose="02010609060101010101" pitchFamily="49" charset="-122"/>
              </a:rPr>
              <a:t>q</a:t>
            </a:r>
            <a:r>
              <a:rPr lang="zh-CN" altLang="en-US" sz="2400" kern="100" dirty="0">
                <a:ea typeface="仿宋" panose="02010609060101010101" pitchFamily="49" charset="-122"/>
              </a:rPr>
              <a:t>和－</a:t>
            </a:r>
            <a:r>
              <a:rPr lang="en-US" altLang="zh-CN" sz="2400" kern="100" dirty="0">
                <a:ea typeface="仿宋" panose="02010609060101010101" pitchFamily="49" charset="-122"/>
              </a:rPr>
              <a:t>q</a:t>
            </a:r>
            <a:r>
              <a:rPr lang="zh-CN" altLang="en-US" sz="2400" kern="100" dirty="0">
                <a:ea typeface="仿宋" panose="02010609060101010101" pitchFamily="49" charset="-122"/>
              </a:rPr>
              <a:t>。</a:t>
            </a:r>
            <a:endParaRPr lang="zh-CN" altLang="zh-CN" sz="2400" kern="100" dirty="0">
              <a:ea typeface="仿宋" panose="02010609060101010101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求：</a:t>
            </a:r>
            <a:r>
              <a:rPr lang="zh-CN" altLang="en-US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球形电容器的电场中的能量</a:t>
            </a:r>
            <a:r>
              <a:rPr lang="zh-CN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ea typeface="仿宋" panose="02010609060101010101" pitchFamily="49" charset="-122"/>
            </a:endParaRPr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7128284" y="1376772"/>
            <a:ext cx="1000125" cy="1590675"/>
            <a:chOff x="7155" y="1905"/>
            <a:chExt cx="1575" cy="2505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7155" y="2190"/>
              <a:ext cx="1575" cy="187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7155" y="1905"/>
              <a:ext cx="1560" cy="55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7170" y="3855"/>
              <a:ext cx="1560" cy="555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7155" y="2160"/>
              <a:ext cx="0" cy="19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8715" y="2220"/>
              <a:ext cx="0" cy="19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Oval 8"/>
            <p:cNvSpPr>
              <a:spLocks noChangeArrowheads="1"/>
            </p:cNvSpPr>
            <p:nvPr/>
          </p:nvSpPr>
          <p:spPr bwMode="auto">
            <a:xfrm>
              <a:off x="7530" y="2040"/>
              <a:ext cx="810" cy="24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7530" y="2145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8340" y="2160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849068" y="2653341"/>
            <a:ext cx="51090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400" kern="100" dirty="0">
                <a:ea typeface="仿宋" panose="02010609060101010101" pitchFamily="49" charset="-122"/>
              </a:rPr>
              <a:t>解：由高斯定理可求出电场强度为：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410770"/>
              </p:ext>
            </p:extLst>
          </p:nvPr>
        </p:nvGraphicFramePr>
        <p:xfrm>
          <a:off x="1799692" y="3115006"/>
          <a:ext cx="1980220" cy="1100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4" imgH="431613" progId="Equation.DSMT4">
                  <p:embed/>
                </p:oleObj>
              </mc:Choice>
              <mc:Fallback>
                <p:oleObj name="Equation" r:id="rId2" imgW="774364" imgH="431613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9692" y="3115006"/>
                        <a:ext cx="1980220" cy="11001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1466363" y="4445960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ea typeface="仿宋" panose="02010609060101010101" pitchFamily="49" charset="-122"/>
              </a:rPr>
              <a:t>电场能量密度为：</a:t>
            </a:r>
            <a:endParaRPr lang="zh-CN" altLang="en-US" sz="2400" kern="100" dirty="0">
              <a:ea typeface="仿宋" panose="02010609060101010101" pitchFamily="49" charset="-122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714151"/>
              </p:ext>
            </p:extLst>
          </p:nvPr>
        </p:nvGraphicFramePr>
        <p:xfrm>
          <a:off x="2627784" y="5138457"/>
          <a:ext cx="3330375" cy="1019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8600" imgH="457200" progId="Equation.DSMT4">
                  <p:embed/>
                </p:oleObj>
              </mc:Choice>
              <mc:Fallback>
                <p:oleObj name="Equation" r:id="rId4" imgW="1498600" imgH="457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5138457"/>
                        <a:ext cx="3330375" cy="10198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95151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791580" y="1057654"/>
            <a:ext cx="6948772" cy="513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zh-CN" sz="2400" kern="100" dirty="0">
                <a:ea typeface="仿宋" panose="02010609060101010101" pitchFamily="49" charset="-122"/>
              </a:rPr>
              <a:t>取圆柱薄层半径为</a:t>
            </a:r>
            <a:r>
              <a:rPr lang="en-US" altLang="zh-CN" sz="2400" kern="100" dirty="0">
                <a:ea typeface="仿宋" panose="02010609060101010101" pitchFamily="49" charset="-122"/>
              </a:rPr>
              <a:t>r</a:t>
            </a:r>
            <a:r>
              <a:rPr lang="zh-CN" altLang="zh-CN" sz="2400" kern="100" dirty="0">
                <a:ea typeface="仿宋" panose="02010609060101010101" pitchFamily="49" charset="-122"/>
              </a:rPr>
              <a:t>，厚度为</a:t>
            </a:r>
            <a:r>
              <a:rPr lang="en-US" altLang="zh-CN" sz="2400" kern="100" dirty="0" err="1">
                <a:ea typeface="仿宋" panose="02010609060101010101" pitchFamily="49" charset="-122"/>
              </a:rPr>
              <a:t>dr</a:t>
            </a:r>
            <a:r>
              <a:rPr lang="zh-CN" altLang="zh-CN" sz="2400" kern="100" dirty="0">
                <a:ea typeface="仿宋" panose="02010609060101010101" pitchFamily="49" charset="-122"/>
              </a:rPr>
              <a:t>，长为</a:t>
            </a:r>
            <a:r>
              <a:rPr lang="en-US" altLang="zh-CN" sz="2400" kern="100" dirty="0">
                <a:ea typeface="仿宋" panose="02010609060101010101" pitchFamily="49" charset="-122"/>
              </a:rPr>
              <a:t>L</a:t>
            </a:r>
            <a:r>
              <a:rPr lang="zh-CN" altLang="zh-CN" sz="2400" kern="100" dirty="0">
                <a:ea typeface="仿宋" panose="02010609060101010101" pitchFamily="49" charset="-122"/>
              </a:rPr>
              <a:t>，则体元为：</a:t>
            </a:r>
            <a:endParaRPr lang="zh-CN" altLang="en-US" sz="2400" kern="100" dirty="0">
              <a:ea typeface="仿宋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75756" y="1579542"/>
            <a:ext cx="16610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100" dirty="0" err="1"/>
              <a:t>dV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＝</a:t>
            </a:r>
            <a:r>
              <a:rPr lang="en-US" altLang="zh-CN" sz="2400" kern="100" dirty="0"/>
              <a:t>2π</a:t>
            </a:r>
            <a:r>
              <a:rPr lang="en-US" altLang="zh-CN" sz="2400" kern="100" dirty="0" err="1"/>
              <a:t>rLdr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791580" y="2168860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ea typeface="仿宋" panose="02010609060101010101" pitchFamily="49" charset="-122"/>
              </a:rPr>
              <a:t>体元中电场的能量：</a:t>
            </a:r>
            <a:endParaRPr lang="zh-CN" altLang="en-US" sz="2400" kern="100" dirty="0">
              <a:ea typeface="仿宋" panose="02010609060101010101" pitchFamily="49" charset="-122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763688" y="292362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09621"/>
              </p:ext>
            </p:extLst>
          </p:nvPr>
        </p:nvGraphicFramePr>
        <p:xfrm>
          <a:off x="1483964" y="2758178"/>
          <a:ext cx="6015786" cy="1013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30500" imgH="457200" progId="Equation.DSMT4">
                  <p:embed/>
                </p:oleObj>
              </mc:Choice>
              <mc:Fallback>
                <p:oleObj name="Equation" r:id="rId2" imgW="2730500" imgH="457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3964" y="2758178"/>
                        <a:ext cx="6015786" cy="10131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593801" y="4046618"/>
            <a:ext cx="63048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ea typeface="仿宋" panose="02010609060101010101" pitchFamily="49" charset="-122"/>
              </a:rPr>
              <a:t>圆桶之间的电场能量为</a:t>
            </a:r>
            <a:r>
              <a:rPr lang="en-US" altLang="zh-CN" sz="2400" kern="100" dirty="0">
                <a:ea typeface="仿宋" panose="02010609060101010101" pitchFamily="49" charset="-122"/>
              </a:rPr>
              <a:t>R</a:t>
            </a:r>
            <a:r>
              <a:rPr lang="en-US" altLang="zh-CN" sz="2400" kern="100" baseline="-25000" dirty="0">
                <a:ea typeface="仿宋" panose="02010609060101010101" pitchFamily="49" charset="-122"/>
              </a:rPr>
              <a:t>1</a:t>
            </a:r>
            <a:r>
              <a:rPr lang="zh-CN" altLang="zh-CN" sz="2400" kern="100" dirty="0">
                <a:ea typeface="仿宋" panose="02010609060101010101" pitchFamily="49" charset="-122"/>
              </a:rPr>
              <a:t>到</a:t>
            </a:r>
            <a:r>
              <a:rPr lang="en-US" altLang="zh-CN" sz="2400" kern="100" dirty="0">
                <a:ea typeface="仿宋" panose="02010609060101010101" pitchFamily="49" charset="-122"/>
              </a:rPr>
              <a:t>R</a:t>
            </a:r>
            <a:r>
              <a:rPr lang="en-US" altLang="zh-CN" sz="2400" kern="100" baseline="-25000" dirty="0">
                <a:ea typeface="仿宋" panose="02010609060101010101" pitchFamily="49" charset="-122"/>
              </a:rPr>
              <a:t>2</a:t>
            </a:r>
            <a:r>
              <a:rPr lang="zh-CN" altLang="zh-CN" sz="2400" kern="100" dirty="0">
                <a:ea typeface="仿宋" panose="02010609060101010101" pitchFamily="49" charset="-122"/>
              </a:rPr>
              <a:t>间的积分：</a:t>
            </a:r>
            <a:endParaRPr lang="zh-CN" altLang="en-US" sz="2400" kern="100" dirty="0">
              <a:ea typeface="仿宋" panose="02010609060101010101" pitchFamily="49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943708" y="477768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290763"/>
              </p:ext>
            </p:extLst>
          </p:nvPr>
        </p:nvGraphicFramePr>
        <p:xfrm>
          <a:off x="1763688" y="4768771"/>
          <a:ext cx="5581953" cy="1006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52700" imgH="457200" progId="Equation.DSMT4">
                  <p:embed/>
                </p:oleObj>
              </mc:Choice>
              <mc:Fallback>
                <p:oleObj name="Equation" r:id="rId4" imgW="255270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768771"/>
                        <a:ext cx="5581953" cy="10063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51129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2633008" y="552327"/>
            <a:ext cx="38779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kern="100" dirty="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电容器的并联与串联</a:t>
            </a:r>
            <a:endParaRPr lang="zh-CN" altLang="en-US" sz="3200" dirty="0">
              <a:solidFill>
                <a:srgbClr val="0000CC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1592796"/>
            <a:ext cx="1944216" cy="292259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75556" y="1576163"/>
            <a:ext cx="54549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并联时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：</a:t>
            </a:r>
            <a:r>
              <a:rPr lang="en-US" altLang="zh-CN" sz="2400" kern="100" dirty="0"/>
              <a:t>	U</a:t>
            </a:r>
            <a:r>
              <a:rPr lang="en-US" altLang="zh-CN" sz="2400" kern="100" baseline="-25000" dirty="0"/>
              <a:t>1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＝</a:t>
            </a:r>
            <a:r>
              <a:rPr lang="en-US" altLang="zh-CN" sz="2400" kern="100" dirty="0"/>
              <a:t>U</a:t>
            </a:r>
            <a:r>
              <a:rPr lang="en-US" altLang="zh-CN" sz="2400" kern="100" baseline="-25000" dirty="0"/>
              <a:t>2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＝</a:t>
            </a:r>
            <a:r>
              <a:rPr lang="en-US" altLang="zh-CN" sz="2400" kern="100" dirty="0"/>
              <a:t>……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＝</a:t>
            </a:r>
            <a:r>
              <a:rPr lang="en-US" altLang="zh-CN" sz="2400" kern="100" dirty="0"/>
              <a:t>U</a:t>
            </a:r>
            <a:r>
              <a:rPr lang="en-US" altLang="zh-CN" sz="2400" kern="100" baseline="-25000" dirty="0"/>
              <a:t>n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＝</a:t>
            </a:r>
            <a:r>
              <a:rPr lang="en-US" altLang="zh-CN" sz="2400" kern="100" dirty="0"/>
              <a:t>U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2447764" y="2352074"/>
            <a:ext cx="28745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100" dirty="0"/>
              <a:t>q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＝</a:t>
            </a:r>
            <a:r>
              <a:rPr lang="en-US" altLang="zh-CN" sz="2400" kern="100" dirty="0"/>
              <a:t>q</a:t>
            </a:r>
            <a:r>
              <a:rPr lang="en-US" altLang="zh-CN" sz="2400" kern="100" baseline="-25000" dirty="0"/>
              <a:t>1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＋</a:t>
            </a:r>
            <a:r>
              <a:rPr lang="en-US" altLang="zh-CN" sz="2400" kern="100" dirty="0"/>
              <a:t>q</a:t>
            </a:r>
            <a:r>
              <a:rPr lang="en-US" altLang="zh-CN" sz="2400" kern="100" baseline="-25000" dirty="0"/>
              <a:t>2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＋</a:t>
            </a:r>
            <a:r>
              <a:rPr lang="zh-CN" altLang="zh-CN" sz="2400" kern="100" dirty="0">
                <a:ea typeface="Times New Roman" panose="02020603050405020304" pitchFamily="18" charset="0"/>
              </a:rPr>
              <a:t> </a:t>
            </a:r>
            <a:r>
              <a:rPr lang="en-US" altLang="zh-CN" sz="2400" kern="100" dirty="0">
                <a:ea typeface="Times New Roman" panose="02020603050405020304" pitchFamily="18" charset="0"/>
              </a:rPr>
              <a:t>……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＋</a:t>
            </a:r>
            <a:r>
              <a:rPr lang="en-US" altLang="zh-CN" sz="2400" kern="100" dirty="0" err="1"/>
              <a:t>q</a:t>
            </a:r>
            <a:r>
              <a:rPr lang="en-US" altLang="zh-CN" sz="2400" kern="100" baseline="-25000" dirty="0" err="1"/>
              <a:t>n</a:t>
            </a:r>
            <a:endParaRPr lang="zh-CN" altLang="en-US" sz="2400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2908024" y="35730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785827"/>
              </p:ext>
            </p:extLst>
          </p:nvPr>
        </p:nvGraphicFramePr>
        <p:xfrm>
          <a:off x="2577079" y="3320988"/>
          <a:ext cx="3453404" cy="2196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38300" imgH="1041400" progId="Equation.DSMT4">
                  <p:embed/>
                </p:oleObj>
              </mc:Choice>
              <mc:Fallback>
                <p:oleObj name="Equation" r:id="rId3" imgW="1638300" imgH="1041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7079" y="3320988"/>
                        <a:ext cx="3453404" cy="21962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92965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252" y="1664804"/>
            <a:ext cx="1114425" cy="240982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71600" y="1249305"/>
            <a:ext cx="51125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串联时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：</a:t>
            </a:r>
            <a:r>
              <a:rPr lang="en-US" altLang="zh-CN" sz="2400" kern="100" dirty="0"/>
              <a:t>	q</a:t>
            </a:r>
            <a:r>
              <a:rPr lang="en-US" altLang="zh-CN" sz="2400" kern="100" baseline="-25000" dirty="0"/>
              <a:t> 1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＝</a:t>
            </a:r>
            <a:r>
              <a:rPr lang="en-US" altLang="zh-CN" sz="2400" kern="100" dirty="0"/>
              <a:t>q</a:t>
            </a:r>
            <a:r>
              <a:rPr lang="en-US" altLang="zh-CN" sz="2400" kern="100" baseline="-25000" dirty="0"/>
              <a:t> 2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＝</a:t>
            </a:r>
            <a:r>
              <a:rPr lang="en-US" altLang="zh-CN" sz="2400" kern="100" dirty="0"/>
              <a:t>……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＝</a:t>
            </a:r>
            <a:r>
              <a:rPr lang="en-US" altLang="zh-CN" sz="2400" kern="100" dirty="0"/>
              <a:t>q </a:t>
            </a:r>
            <a:r>
              <a:rPr lang="en-US" altLang="zh-CN" sz="2400" kern="100" baseline="-25000" dirty="0"/>
              <a:t>n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＝</a:t>
            </a:r>
            <a:r>
              <a:rPr lang="en-US" altLang="zh-CN" sz="2400" kern="100" dirty="0"/>
              <a:t>q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2879812" y="2024844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100"/>
              <a:t>U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＝</a:t>
            </a:r>
            <a:r>
              <a:rPr lang="en-US" altLang="zh-CN" sz="2400" kern="100" dirty="0"/>
              <a:t>U</a:t>
            </a:r>
            <a:r>
              <a:rPr lang="en-US" altLang="zh-CN" sz="2400" kern="100" baseline="-25000" dirty="0"/>
              <a:t>1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＋</a:t>
            </a:r>
            <a:r>
              <a:rPr lang="en-US" altLang="zh-CN" sz="2400" kern="100" dirty="0"/>
              <a:t>U</a:t>
            </a:r>
            <a:r>
              <a:rPr lang="en-US" altLang="zh-CN" sz="2400" kern="100" baseline="-25000" dirty="0"/>
              <a:t>2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＋</a:t>
            </a:r>
            <a:r>
              <a:rPr lang="zh-CN" altLang="zh-CN" sz="2400" kern="100" dirty="0">
                <a:ea typeface="Times New Roman" panose="02020603050405020304" pitchFamily="18" charset="0"/>
              </a:rPr>
              <a:t> </a:t>
            </a:r>
            <a:r>
              <a:rPr lang="en-US" altLang="zh-CN" sz="2400" kern="100" dirty="0">
                <a:ea typeface="Times New Roman" panose="02020603050405020304" pitchFamily="18" charset="0"/>
              </a:rPr>
              <a:t>……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＋</a:t>
            </a:r>
            <a:r>
              <a:rPr lang="en-US" altLang="zh-CN" sz="2400" kern="100" dirty="0"/>
              <a:t>U</a:t>
            </a:r>
            <a:r>
              <a:rPr lang="en-US" altLang="zh-CN" sz="2400" kern="100" baseline="-25000" dirty="0"/>
              <a:t>n</a:t>
            </a:r>
            <a:endParaRPr lang="zh-CN" altLang="en-US" sz="2400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121710"/>
              </p:ext>
            </p:extLst>
          </p:nvPr>
        </p:nvGraphicFramePr>
        <p:xfrm>
          <a:off x="1583668" y="2860419"/>
          <a:ext cx="4288621" cy="1978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92400" imgH="1244600" progId="Equation.DSMT4">
                  <p:embed/>
                </p:oleObj>
              </mc:Choice>
              <mc:Fallback>
                <p:oleObj name="Equation" r:id="rId3" imgW="2692400" imgH="1244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3668" y="2860419"/>
                        <a:ext cx="4288621" cy="19784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1029670" y="5252242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整理得</a:t>
            </a:r>
            <a:endParaRPr lang="zh-CN" altLang="en-US" sz="2400" kern="100" dirty="0"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301245"/>
              </p:ext>
            </p:extLst>
          </p:nvPr>
        </p:nvGraphicFramePr>
        <p:xfrm>
          <a:off x="2771800" y="5255420"/>
          <a:ext cx="2628396" cy="761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85900" imgH="431800" progId="Equation.DSMT4">
                  <p:embed/>
                </p:oleObj>
              </mc:Choice>
              <mc:Fallback>
                <p:oleObj name="Equation" r:id="rId5" imgW="14859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5255420"/>
                        <a:ext cx="2628396" cy="7618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99989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853133"/>
            <a:ext cx="1828800" cy="150495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24406" y="1118492"/>
            <a:ext cx="4572000" cy="1430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zh-CN" kern="100" dirty="0">
                <a:ea typeface="仿宋" panose="02010609060101010101" pitchFamily="49" charset="-122"/>
              </a:rPr>
              <a:t>如图两电容并联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ea typeface="仿宋" panose="02010609060101010101" pitchFamily="49" charset="-122"/>
              </a:rPr>
              <a:t>C</a:t>
            </a:r>
            <a:r>
              <a:rPr lang="en-US" altLang="zh-CN" kern="100" baseline="-25000" dirty="0">
                <a:ea typeface="仿宋" panose="02010609060101010101" pitchFamily="49" charset="-122"/>
              </a:rPr>
              <a:t>1</a:t>
            </a:r>
            <a:r>
              <a:rPr lang="zh-CN" altLang="zh-CN" kern="100" dirty="0">
                <a:ea typeface="仿宋" panose="02010609060101010101" pitchFamily="49" charset="-122"/>
              </a:rPr>
              <a:t>＝</a:t>
            </a:r>
            <a:r>
              <a:rPr lang="en-US" altLang="zh-CN" kern="100" dirty="0">
                <a:ea typeface="仿宋" panose="02010609060101010101" pitchFamily="49" charset="-122"/>
              </a:rPr>
              <a:t>1μF</a:t>
            </a:r>
            <a:r>
              <a:rPr lang="zh-CN" altLang="zh-CN" kern="100" dirty="0">
                <a:ea typeface="仿宋" panose="02010609060101010101" pitchFamily="49" charset="-122"/>
              </a:rPr>
              <a:t>，</a:t>
            </a:r>
            <a:r>
              <a:rPr lang="en-US" altLang="zh-CN" kern="100" dirty="0">
                <a:ea typeface="仿宋" panose="02010609060101010101" pitchFamily="49" charset="-122"/>
              </a:rPr>
              <a:t>u</a:t>
            </a:r>
            <a:r>
              <a:rPr lang="en-US" altLang="zh-CN" kern="100" baseline="-25000" dirty="0">
                <a:ea typeface="仿宋" panose="02010609060101010101" pitchFamily="49" charset="-122"/>
              </a:rPr>
              <a:t>1</a:t>
            </a:r>
            <a:r>
              <a:rPr lang="zh-CN" altLang="zh-CN" kern="100" dirty="0">
                <a:ea typeface="仿宋" panose="02010609060101010101" pitchFamily="49" charset="-122"/>
              </a:rPr>
              <a:t>＝</a:t>
            </a:r>
            <a:r>
              <a:rPr lang="en-US" altLang="zh-CN" kern="100" dirty="0">
                <a:ea typeface="仿宋" panose="02010609060101010101" pitchFamily="49" charset="-122"/>
              </a:rPr>
              <a:t>100V</a:t>
            </a:r>
            <a:endParaRPr lang="zh-CN" altLang="zh-CN" kern="100" dirty="0">
              <a:ea typeface="仿宋" panose="02010609060101010101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kern="100" dirty="0">
                <a:ea typeface="仿宋" panose="02010609060101010101" pitchFamily="49" charset="-122"/>
              </a:rPr>
              <a:t>C</a:t>
            </a:r>
            <a:r>
              <a:rPr lang="en-US" altLang="zh-CN" kern="100" baseline="-25000" dirty="0">
                <a:ea typeface="仿宋" panose="02010609060101010101" pitchFamily="49" charset="-122"/>
              </a:rPr>
              <a:t>2</a:t>
            </a:r>
            <a:r>
              <a:rPr lang="zh-CN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kern="100" dirty="0">
                <a:ea typeface="仿宋" panose="02010609060101010101" pitchFamily="49" charset="-122"/>
              </a:rPr>
              <a:t>1μF</a:t>
            </a:r>
            <a:r>
              <a:rPr lang="zh-CN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ea typeface="仿宋" panose="02010609060101010101" pitchFamily="49" charset="-122"/>
              </a:rPr>
              <a:t>u</a:t>
            </a:r>
            <a:r>
              <a:rPr lang="en-US" altLang="zh-CN" kern="100" baseline="-25000" dirty="0">
                <a:ea typeface="仿宋" panose="02010609060101010101" pitchFamily="49" charset="-122"/>
              </a:rPr>
              <a:t>2</a:t>
            </a:r>
            <a:r>
              <a:rPr lang="zh-CN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kern="100" dirty="0">
                <a:ea typeface="仿宋" panose="02010609060101010101" pitchFamily="49" charset="-122"/>
              </a:rPr>
              <a:t>200V</a:t>
            </a:r>
            <a:endParaRPr lang="zh-CN" altLang="en-US" dirty="0">
              <a:ea typeface="仿宋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24406" y="2797478"/>
            <a:ext cx="7128792" cy="968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zh-CN" kern="100" dirty="0">
                <a:ea typeface="仿宋" panose="02010609060101010101" pitchFamily="49" charset="-122"/>
              </a:rPr>
              <a:t>将电容器的正极与正极相联，负极与负极相联。</a:t>
            </a:r>
          </a:p>
          <a:p>
            <a:pPr algn="l">
              <a:lnSpc>
                <a:spcPct val="125000"/>
              </a:lnSpc>
            </a:pPr>
            <a:r>
              <a:rPr lang="zh-CN" altLang="zh-CN" kern="100" dirty="0">
                <a:ea typeface="仿宋" panose="02010609060101010101" pitchFamily="49" charset="-122"/>
              </a:rPr>
              <a:t>求：并联前后电容器所储存的静电能。</a:t>
            </a:r>
            <a:endParaRPr lang="zh-CN" altLang="en-US" kern="100" dirty="0"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37695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853133"/>
            <a:ext cx="1828800" cy="150495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24406" y="1118492"/>
            <a:ext cx="4572000" cy="12130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zh-CN" sz="2000" kern="100" dirty="0">
                <a:ea typeface="仿宋" panose="02010609060101010101" pitchFamily="49" charset="-122"/>
              </a:rPr>
              <a:t>如图两电容并联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000" kern="100" dirty="0">
                <a:ea typeface="仿宋" panose="02010609060101010101" pitchFamily="49" charset="-122"/>
              </a:rPr>
              <a:t>C</a:t>
            </a:r>
            <a:r>
              <a:rPr lang="en-US" altLang="zh-CN" sz="2000" kern="100" baseline="-25000" dirty="0">
                <a:ea typeface="仿宋" panose="02010609060101010101" pitchFamily="49" charset="-122"/>
              </a:rPr>
              <a:t>1</a:t>
            </a:r>
            <a:r>
              <a:rPr lang="zh-CN" altLang="zh-CN" sz="2000" kern="100" dirty="0">
                <a:ea typeface="仿宋" panose="02010609060101010101" pitchFamily="49" charset="-122"/>
              </a:rPr>
              <a:t>＝</a:t>
            </a:r>
            <a:r>
              <a:rPr lang="en-US" altLang="zh-CN" sz="2000" kern="100" dirty="0">
                <a:ea typeface="仿宋" panose="02010609060101010101" pitchFamily="49" charset="-122"/>
              </a:rPr>
              <a:t>1μF</a:t>
            </a:r>
            <a:r>
              <a:rPr lang="zh-CN" altLang="zh-CN" sz="2000" kern="100" dirty="0">
                <a:ea typeface="仿宋" panose="02010609060101010101" pitchFamily="49" charset="-122"/>
              </a:rPr>
              <a:t>，</a:t>
            </a:r>
            <a:r>
              <a:rPr lang="en-US" altLang="zh-CN" sz="2000" kern="100" dirty="0">
                <a:ea typeface="仿宋" panose="02010609060101010101" pitchFamily="49" charset="-122"/>
              </a:rPr>
              <a:t>u</a:t>
            </a:r>
            <a:r>
              <a:rPr lang="en-US" altLang="zh-CN" sz="2000" kern="100" baseline="-25000" dirty="0">
                <a:ea typeface="仿宋" panose="02010609060101010101" pitchFamily="49" charset="-122"/>
              </a:rPr>
              <a:t>1</a:t>
            </a:r>
            <a:r>
              <a:rPr lang="zh-CN" altLang="zh-CN" sz="2000" kern="100" dirty="0">
                <a:ea typeface="仿宋" panose="02010609060101010101" pitchFamily="49" charset="-122"/>
              </a:rPr>
              <a:t>＝</a:t>
            </a:r>
            <a:r>
              <a:rPr lang="en-US" altLang="zh-CN" sz="2000" kern="100" dirty="0">
                <a:ea typeface="仿宋" panose="02010609060101010101" pitchFamily="49" charset="-122"/>
              </a:rPr>
              <a:t>100V</a:t>
            </a:r>
            <a:endParaRPr lang="zh-CN" altLang="zh-CN" sz="2000" kern="100" dirty="0">
              <a:ea typeface="仿宋" panose="02010609060101010101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kern="100" dirty="0">
                <a:ea typeface="仿宋" panose="02010609060101010101" pitchFamily="49" charset="-122"/>
              </a:rPr>
              <a:t>C</a:t>
            </a:r>
            <a:r>
              <a:rPr lang="en-US" altLang="zh-CN" sz="2000" kern="100" baseline="-25000" dirty="0">
                <a:ea typeface="仿宋" panose="02010609060101010101" pitchFamily="49" charset="-122"/>
              </a:rPr>
              <a:t>2</a:t>
            </a: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000" kern="100" dirty="0">
                <a:ea typeface="仿宋" panose="02010609060101010101" pitchFamily="49" charset="-122"/>
              </a:rPr>
              <a:t>2μF</a:t>
            </a: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a typeface="仿宋" panose="02010609060101010101" pitchFamily="49" charset="-122"/>
              </a:rPr>
              <a:t>u</a:t>
            </a:r>
            <a:r>
              <a:rPr lang="en-US" altLang="zh-CN" sz="2000" kern="100" baseline="-25000" dirty="0">
                <a:ea typeface="仿宋" panose="02010609060101010101" pitchFamily="49" charset="-122"/>
              </a:rPr>
              <a:t>2</a:t>
            </a: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000" kern="100" dirty="0">
                <a:ea typeface="仿宋" panose="02010609060101010101" pitchFamily="49" charset="-122"/>
              </a:rPr>
              <a:t>200V</a:t>
            </a:r>
            <a:endParaRPr lang="zh-CN" altLang="en-US" sz="2000" dirty="0">
              <a:ea typeface="仿宋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24406" y="2797478"/>
            <a:ext cx="7128792" cy="828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zh-CN" sz="2000" kern="100" dirty="0">
                <a:ea typeface="仿宋" panose="02010609060101010101" pitchFamily="49" charset="-122"/>
              </a:rPr>
              <a:t>将电容器的正极与正极相联，负极与负极相联。</a:t>
            </a:r>
          </a:p>
          <a:p>
            <a:pPr algn="l">
              <a:lnSpc>
                <a:spcPct val="125000"/>
              </a:lnSpc>
            </a:pPr>
            <a:r>
              <a:rPr lang="zh-CN" altLang="zh-CN" sz="2000" kern="100" dirty="0">
                <a:ea typeface="仿宋" panose="02010609060101010101" pitchFamily="49" charset="-122"/>
              </a:rPr>
              <a:t>求：并联前后电容器所储存的静电能。</a:t>
            </a:r>
            <a:endParaRPr lang="zh-CN" altLang="en-US" sz="2000" kern="100" dirty="0">
              <a:ea typeface="仿宋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24406" y="3796769"/>
            <a:ext cx="1467068" cy="4435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zh-CN" sz="2000" kern="100" dirty="0">
                <a:ea typeface="仿宋" panose="02010609060101010101" pitchFamily="49" charset="-122"/>
              </a:rPr>
              <a:t>解：并联前</a:t>
            </a:r>
            <a:endParaRPr lang="zh-CN" altLang="en-US" sz="2000" kern="100" dirty="0">
              <a:ea typeface="仿宋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27693" y="4581128"/>
            <a:ext cx="654858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altLang="zh-CN" kern="100" dirty="0"/>
              <a:t>W</a:t>
            </a:r>
            <a:r>
              <a:rPr lang="en-US" altLang="zh-CN" kern="100" baseline="-25000" dirty="0"/>
              <a:t>1</a:t>
            </a:r>
            <a:r>
              <a:rPr lang="zh-CN" altLang="zh-CN" kern="100" dirty="0"/>
              <a:t>＝</a:t>
            </a:r>
            <a:r>
              <a:rPr lang="en-US" altLang="zh-CN" sz="4000" kern="100" dirty="0"/>
              <a:t>½</a:t>
            </a:r>
            <a:r>
              <a:rPr lang="en-US" altLang="zh-CN" kern="100" dirty="0"/>
              <a:t>C</a:t>
            </a:r>
            <a:r>
              <a:rPr lang="en-US" altLang="zh-CN" kern="100" baseline="-25000" dirty="0"/>
              <a:t>1</a:t>
            </a:r>
            <a:r>
              <a:rPr lang="en-US" altLang="zh-CN" kern="100" dirty="0"/>
              <a:t>u</a:t>
            </a:r>
            <a:r>
              <a:rPr lang="en-US" altLang="zh-CN" kern="100" baseline="-25000" dirty="0"/>
              <a:t>1</a:t>
            </a:r>
            <a:r>
              <a:rPr lang="en-US" altLang="zh-CN" kern="100" baseline="30000" dirty="0"/>
              <a:t>2</a:t>
            </a:r>
            <a:r>
              <a:rPr lang="zh-CN" altLang="zh-CN" kern="100" dirty="0"/>
              <a:t>＝</a:t>
            </a:r>
            <a:r>
              <a:rPr lang="en-US" altLang="zh-CN" sz="4000" kern="100" dirty="0"/>
              <a:t>½</a:t>
            </a:r>
            <a:r>
              <a:rPr lang="zh-CN" altLang="zh-CN" kern="100" dirty="0"/>
              <a:t>×</a:t>
            </a:r>
            <a:r>
              <a:rPr lang="en-US" altLang="zh-CN" kern="100" dirty="0"/>
              <a:t>1.0</a:t>
            </a:r>
            <a:r>
              <a:rPr lang="zh-CN" altLang="zh-CN" kern="100" dirty="0"/>
              <a:t>×</a:t>
            </a:r>
            <a:r>
              <a:rPr lang="en-US" altLang="zh-CN" kern="100" dirty="0"/>
              <a:t>10</a:t>
            </a:r>
            <a:r>
              <a:rPr lang="zh-CN" altLang="zh-CN" kern="100" baseline="30000" dirty="0"/>
              <a:t>－</a:t>
            </a:r>
            <a:r>
              <a:rPr lang="en-US" altLang="zh-CN" kern="100" baseline="30000" dirty="0"/>
              <a:t>6</a:t>
            </a:r>
            <a:r>
              <a:rPr lang="zh-CN" altLang="zh-CN" kern="100" dirty="0"/>
              <a:t>×</a:t>
            </a:r>
            <a:r>
              <a:rPr lang="en-US" altLang="zh-CN" kern="100" dirty="0"/>
              <a:t>100</a:t>
            </a:r>
            <a:r>
              <a:rPr lang="en-US" altLang="zh-CN" kern="100" baseline="30000" dirty="0"/>
              <a:t>2</a:t>
            </a:r>
            <a:r>
              <a:rPr lang="zh-CN" altLang="zh-CN" kern="100" dirty="0"/>
              <a:t>＝</a:t>
            </a:r>
            <a:r>
              <a:rPr lang="en-US" altLang="zh-CN" kern="100" dirty="0"/>
              <a:t>0.005(J)</a:t>
            </a:r>
            <a:endParaRPr lang="zh-CN" altLang="zh-CN" kern="100" dirty="0"/>
          </a:p>
          <a:p>
            <a:pPr algn="l"/>
            <a:r>
              <a:rPr lang="en-US" altLang="zh-CN" kern="100" dirty="0"/>
              <a:t>W</a:t>
            </a:r>
            <a:r>
              <a:rPr lang="en-US" altLang="zh-CN" kern="100" baseline="-25000" dirty="0"/>
              <a:t>2</a:t>
            </a:r>
            <a:r>
              <a:rPr lang="zh-CN" altLang="zh-CN" kern="100" dirty="0">
                <a:cs typeface="Times New Roman" panose="02020603050405020304" pitchFamily="18" charset="0"/>
              </a:rPr>
              <a:t>＝</a:t>
            </a:r>
            <a:r>
              <a:rPr lang="en-US" altLang="zh-CN" sz="4000" kern="100" dirty="0"/>
              <a:t>½</a:t>
            </a:r>
            <a:r>
              <a:rPr lang="en-US" altLang="zh-CN" kern="100" dirty="0"/>
              <a:t>C</a:t>
            </a:r>
            <a:r>
              <a:rPr lang="en-US" altLang="zh-CN" kern="100" baseline="-25000" dirty="0"/>
              <a:t>2</a:t>
            </a:r>
            <a:r>
              <a:rPr lang="en-US" altLang="zh-CN" kern="100" dirty="0"/>
              <a:t>u</a:t>
            </a:r>
            <a:r>
              <a:rPr lang="en-US" altLang="zh-CN" kern="100" baseline="-25000" dirty="0"/>
              <a:t>2</a:t>
            </a:r>
            <a:r>
              <a:rPr lang="en-US" altLang="zh-CN" kern="100" baseline="30000" dirty="0"/>
              <a:t>2</a:t>
            </a:r>
            <a:r>
              <a:rPr lang="zh-CN" altLang="zh-CN" kern="100" dirty="0">
                <a:cs typeface="Times New Roman" panose="02020603050405020304" pitchFamily="18" charset="0"/>
              </a:rPr>
              <a:t>＝</a:t>
            </a:r>
            <a:r>
              <a:rPr lang="en-US" altLang="zh-CN" sz="4000" kern="100" dirty="0"/>
              <a:t>½</a:t>
            </a:r>
            <a:r>
              <a:rPr lang="zh-CN" altLang="zh-CN" kern="100" dirty="0">
                <a:cs typeface="Times New Roman" panose="02020603050405020304" pitchFamily="18" charset="0"/>
              </a:rPr>
              <a:t>×</a:t>
            </a:r>
            <a:r>
              <a:rPr lang="en-US" altLang="zh-CN" kern="100" dirty="0"/>
              <a:t>2.0</a:t>
            </a:r>
            <a:r>
              <a:rPr lang="zh-CN" altLang="zh-CN" kern="100" dirty="0">
                <a:cs typeface="Times New Roman" panose="02020603050405020304" pitchFamily="18" charset="0"/>
              </a:rPr>
              <a:t>×</a:t>
            </a:r>
            <a:r>
              <a:rPr lang="en-US" altLang="zh-CN" kern="100" dirty="0"/>
              <a:t>10</a:t>
            </a:r>
            <a:r>
              <a:rPr lang="zh-CN" altLang="zh-CN" kern="100" baseline="30000" dirty="0">
                <a:cs typeface="Times New Roman" panose="02020603050405020304" pitchFamily="18" charset="0"/>
              </a:rPr>
              <a:t>－</a:t>
            </a:r>
            <a:r>
              <a:rPr lang="en-US" altLang="zh-CN" kern="100" baseline="30000" dirty="0"/>
              <a:t>6</a:t>
            </a:r>
            <a:r>
              <a:rPr lang="zh-CN" altLang="zh-CN" kern="100" dirty="0">
                <a:cs typeface="Times New Roman" panose="02020603050405020304" pitchFamily="18" charset="0"/>
              </a:rPr>
              <a:t>×</a:t>
            </a:r>
            <a:r>
              <a:rPr lang="en-US" altLang="zh-CN" kern="100" dirty="0"/>
              <a:t>200</a:t>
            </a:r>
            <a:r>
              <a:rPr lang="en-US" altLang="zh-CN" kern="100" baseline="30000" dirty="0"/>
              <a:t>2</a:t>
            </a:r>
            <a:r>
              <a:rPr lang="zh-CN" altLang="zh-CN" kern="100" dirty="0">
                <a:cs typeface="Times New Roman" panose="02020603050405020304" pitchFamily="18" charset="0"/>
              </a:rPr>
              <a:t>＝</a:t>
            </a:r>
            <a:r>
              <a:rPr lang="en-US" altLang="zh-CN" kern="100" dirty="0"/>
              <a:t>0.04(J)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0294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63588" y="1128609"/>
            <a:ext cx="4065537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tabLst>
                <a:tab pos="213518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tabLst>
                <a:tab pos="213518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tabLst>
                <a:tab pos="213518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tabLst>
                <a:tab pos="213518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tabLst>
                <a:tab pos="213518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13518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13518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13518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135188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35188" algn="ctr"/>
              </a:tabLst>
            </a:pPr>
            <a:r>
              <a:rPr kumimoji="0" lang="zh-CN" altLang="zh-CN" sz="2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总能量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0" lang="en-US" altLang="zh-CN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＋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0" lang="en-US" altLang="zh-CN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0.045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35188" algn="ctr"/>
              </a:tabLst>
            </a:pPr>
            <a:r>
              <a:rPr kumimoji="0"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并联后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altLang="zh-CN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＋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altLang="zh-CN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0" lang="en-US" altLang="zh-CN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＋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0" lang="en-US" altLang="zh-CN" sz="20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35188" algn="ctr"/>
              </a:tabLst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154044"/>
              </p:ext>
            </p:extLst>
          </p:nvPr>
        </p:nvGraphicFramePr>
        <p:xfrm>
          <a:off x="1115616" y="2528900"/>
          <a:ext cx="5774900" cy="774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8000" imgH="419100" progId="Equation.DSMT4">
                  <p:embed/>
                </p:oleObj>
              </mc:Choice>
              <mc:Fallback>
                <p:oleObj name="Equation" r:id="rId2" imgW="3048000" imgH="4191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2528900"/>
                        <a:ext cx="5774900" cy="7745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971600" y="3747809"/>
            <a:ext cx="295946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并联后能量减少了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0.003J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117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143508" y="69269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上节内容回顾一</a:t>
            </a:r>
          </a:p>
        </p:txBody>
      </p:sp>
    </p:spTree>
    <p:extLst>
      <p:ext uri="{BB962C8B-B14F-4D97-AF65-F5344CB8AC3E}">
        <p14:creationId xmlns:p14="http://schemas.microsoft.com/office/powerpoint/2010/main" val="1579977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143508" y="69269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上节内容回顾二</a:t>
            </a:r>
          </a:p>
        </p:txBody>
      </p:sp>
    </p:spTree>
    <p:extLst>
      <p:ext uri="{BB962C8B-B14F-4D97-AF65-F5344CB8AC3E}">
        <p14:creationId xmlns:p14="http://schemas.microsoft.com/office/powerpoint/2010/main" val="2180611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143508" y="69269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上节内容回顾三</a:t>
            </a:r>
          </a:p>
        </p:txBody>
      </p:sp>
    </p:spTree>
    <p:extLst>
      <p:ext uri="{BB962C8B-B14F-4D97-AF65-F5344CB8AC3E}">
        <p14:creationId xmlns:p14="http://schemas.microsoft.com/office/powerpoint/2010/main" val="3674539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  <p:sp>
        <p:nvSpPr>
          <p:cNvPr id="5" name="Rectangle 9"/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  <a:buFontTx/>
              <a:buNone/>
            </a:pPr>
            <a:r>
              <a:rPr lang="zh-CN" altLang="en-US" sz="2800" b="1" kern="0" dirty="0">
                <a:latin typeface="华文新魏" panose="02010800040101010101" pitchFamily="2" charset="-122"/>
              </a:rPr>
              <a:t>电介质 </a:t>
            </a:r>
            <a:r>
              <a:rPr lang="en-US" altLang="zh-CN" sz="2800" b="1" kern="0" dirty="0">
                <a:solidFill>
                  <a:schemeClr val="accent2"/>
                </a:solidFill>
                <a:latin typeface="华文新魏" panose="02010800040101010101" pitchFamily="2" charset="-122"/>
              </a:rPr>
              <a:t>(Dielectric)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b="1" kern="0" dirty="0"/>
              <a:t>是由大量电中性的分子组成的电的</a:t>
            </a:r>
            <a:r>
              <a:rPr lang="zh-CN" altLang="en-US" b="1" kern="0" dirty="0">
                <a:solidFill>
                  <a:schemeClr val="accent2"/>
                </a:solidFill>
              </a:rPr>
              <a:t>绝缘体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b="1" kern="0" dirty="0"/>
              <a:t>分子中电子被原子核束缚得很紧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b="1" kern="0" dirty="0">
                <a:solidFill>
                  <a:srgbClr val="FF3300"/>
                </a:solidFill>
                <a:latin typeface="华文新魏" panose="02010800040101010101" pitchFamily="2" charset="-122"/>
              </a:rPr>
              <a:t>内部没有自由电荷，不能导电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b="1" kern="0" dirty="0">
                <a:latin typeface="华文新魏" panose="02010800040101010101" pitchFamily="2" charset="-122"/>
              </a:rPr>
              <a:t>紧束缚的正、负电荷在外场中是否发生变化</a:t>
            </a:r>
            <a:r>
              <a:rPr lang="en-US" altLang="zh-CN" b="1" kern="0" dirty="0">
                <a:latin typeface="华文新魏" panose="02010800040101010101" pitchFamily="2" charset="-122"/>
              </a:rPr>
              <a:t>?</a:t>
            </a:r>
          </a:p>
          <a:p>
            <a:pPr lvl="1" algn="ctr">
              <a:lnSpc>
                <a:spcPct val="120000"/>
              </a:lnSpc>
              <a:spcBef>
                <a:spcPct val="80000"/>
              </a:spcBef>
              <a:buFontTx/>
              <a:buNone/>
            </a:pPr>
            <a:r>
              <a:rPr lang="zh-CN" altLang="en-US" sz="3200" b="1" kern="0" dirty="0">
                <a:solidFill>
                  <a:srgbClr val="3333CC"/>
                </a:solidFill>
              </a:rPr>
              <a:t>电场                      电介质</a:t>
            </a:r>
          </a:p>
          <a:p>
            <a:pPr lvl="1" algn="ctr">
              <a:spcBef>
                <a:spcPct val="0"/>
              </a:spcBef>
              <a:buFontTx/>
              <a:buNone/>
            </a:pPr>
            <a:r>
              <a:rPr lang="zh-CN" altLang="en-US" b="1" kern="0" dirty="0">
                <a:solidFill>
                  <a:srgbClr val="FF3399"/>
                </a:solidFill>
                <a:ea typeface="楷体_GB2312" pitchFamily="49" charset="-122"/>
              </a:rPr>
              <a:t>相互作用？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3517900" y="5221288"/>
            <a:ext cx="2133600" cy="152400"/>
          </a:xfrm>
          <a:prstGeom prst="leftRightArrow">
            <a:avLst>
              <a:gd name="adj1" fmla="val 50000"/>
              <a:gd name="adj2" fmla="val 280000"/>
            </a:avLst>
          </a:prstGeom>
          <a:solidFill>
            <a:srgbClr val="3333CC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>
              <a:solidFill>
                <a:srgbClr val="3333CC"/>
              </a:solidFill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143508" y="476200"/>
            <a:ext cx="8856984" cy="100811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3600" kern="0" dirty="0">
                <a:latin typeface="仿宋" panose="02010609060101010101" pitchFamily="49" charset="-122"/>
                <a:ea typeface="仿宋" panose="02010609060101010101" pitchFamily="49" charset="-122"/>
              </a:rPr>
              <a:t>§7  </a:t>
            </a:r>
            <a:r>
              <a:rPr lang="zh-CN" altLang="en-US" sz="3600" kern="0" dirty="0">
                <a:latin typeface="仿宋" panose="02010609060101010101" pitchFamily="49" charset="-122"/>
                <a:ea typeface="仿宋" panose="02010609060101010101" pitchFamily="49" charset="-122"/>
              </a:rPr>
              <a:t>静电场中的电介质</a:t>
            </a:r>
          </a:p>
        </p:txBody>
      </p:sp>
    </p:spTree>
    <p:extLst>
      <p:ext uri="{BB962C8B-B14F-4D97-AF65-F5344CB8AC3E}">
        <p14:creationId xmlns:p14="http://schemas.microsoft.com/office/powerpoint/2010/main" val="18302073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71" name="Rectangle 67"/>
          <p:cNvSpPr>
            <a:spLocks noGrp="1" noChangeArrowheads="1"/>
          </p:cNvSpPr>
          <p:nvPr>
            <p:ph sz="half" idx="1"/>
          </p:nvPr>
        </p:nvSpPr>
        <p:spPr>
          <a:xfrm>
            <a:off x="358763" y="656692"/>
            <a:ext cx="6562725" cy="676275"/>
          </a:xfrm>
        </p:spPr>
        <p:txBody>
          <a:bodyPr/>
          <a:lstStyle/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rgbClr val="FF3399"/>
                </a:solidFill>
                <a:latin typeface="Times New Roman" panose="02020603050405020304" pitchFamily="18" charset="0"/>
              </a:rPr>
              <a:t>法拉第实验</a:t>
            </a:r>
            <a:r>
              <a:rPr lang="zh-CN" altLang="en-US" dirty="0">
                <a:solidFill>
                  <a:srgbClr val="FF3399"/>
                </a:solidFill>
                <a:latin typeface="Times New Roman" panose="02020603050405020304" pitchFamily="18" charset="0"/>
              </a:rPr>
              <a:t>：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电介质对电场的影响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405572" name="Rectangle 68"/>
          <p:cNvSpPr>
            <a:spLocks noGrp="1" noChangeArrowheads="1"/>
          </p:cNvSpPr>
          <p:nvPr>
            <p:ph sz="half" idx="2"/>
          </p:nvPr>
        </p:nvSpPr>
        <p:spPr>
          <a:xfrm>
            <a:off x="435124" y="3320988"/>
            <a:ext cx="8273752" cy="27723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700" b="1" dirty="0">
                <a:solidFill>
                  <a:srgbClr val="000000"/>
                </a:solidFill>
              </a:rPr>
              <a:t>充电的电容器两板连接到静电计，静电计指针显示两板间的电势差；</a:t>
            </a:r>
          </a:p>
          <a:p>
            <a:pPr>
              <a:lnSpc>
                <a:spcPct val="110000"/>
              </a:lnSpc>
            </a:pPr>
            <a:r>
              <a:rPr lang="zh-CN" altLang="en-US" sz="2700" b="1" dirty="0">
                <a:solidFill>
                  <a:srgbClr val="000000"/>
                </a:solidFill>
              </a:rPr>
              <a:t>保持一切条件不变，插入电介质，静电计指示两极板间电势差减小。</a:t>
            </a:r>
          </a:p>
          <a:p>
            <a:pPr>
              <a:lnSpc>
                <a:spcPct val="110000"/>
              </a:lnSpc>
            </a:pPr>
            <a:r>
              <a:rPr lang="zh-CN" altLang="en-US" sz="2700" b="1" dirty="0">
                <a:latin typeface="Times New Roman" panose="02020603050405020304" pitchFamily="18" charset="0"/>
              </a:rPr>
              <a:t>分析：</a:t>
            </a:r>
            <a:r>
              <a:rPr lang="en-US" altLang="zh-CN" sz="2700" i="1" dirty="0">
                <a:latin typeface="Times New Roman" panose="02020603050405020304" pitchFamily="18" charset="0"/>
              </a:rPr>
              <a:t>U</a:t>
            </a:r>
            <a:r>
              <a:rPr lang="en-US" altLang="zh-CN" sz="2700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700" dirty="0">
                <a:latin typeface="Times New Roman" panose="02020603050405020304" pitchFamily="18" charset="0"/>
              </a:rPr>
              <a:t>&gt;</a:t>
            </a:r>
            <a:r>
              <a:rPr lang="en-US" altLang="zh-CN" sz="2700" i="1" dirty="0">
                <a:latin typeface="Times New Roman" panose="02020603050405020304" pitchFamily="18" charset="0"/>
              </a:rPr>
              <a:t>U</a:t>
            </a:r>
            <a:r>
              <a:rPr lang="en-US" altLang="zh-CN" sz="2700" b="1" dirty="0">
                <a:latin typeface="Times New Roman" panose="02020603050405020304" pitchFamily="18" charset="0"/>
              </a:rPr>
              <a:t>→</a:t>
            </a:r>
            <a:r>
              <a:rPr lang="en-US" altLang="zh-CN" sz="27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700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700" dirty="0">
                <a:latin typeface="Times New Roman" panose="02020603050405020304" pitchFamily="18" charset="0"/>
              </a:rPr>
              <a:t>&gt;</a:t>
            </a:r>
            <a:r>
              <a:rPr lang="en-US" altLang="zh-CN" sz="2700" b="1" i="1" dirty="0">
                <a:latin typeface="Times New Roman" panose="02020603050405020304" pitchFamily="18" charset="0"/>
              </a:rPr>
              <a:t>E</a:t>
            </a:r>
            <a:r>
              <a:rPr lang="zh-CN" altLang="en-US" sz="2700" b="1" dirty="0">
                <a:latin typeface="Times New Roman" panose="02020603050405020304" pitchFamily="18" charset="0"/>
              </a:rPr>
              <a:t>，而</a:t>
            </a:r>
            <a:r>
              <a:rPr lang="en-US" altLang="zh-CN" sz="27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700" dirty="0">
                <a:latin typeface="Times New Roman" panose="02020603050405020304" pitchFamily="18" charset="0"/>
              </a:rPr>
              <a:t>=</a:t>
            </a:r>
            <a:r>
              <a:rPr lang="en-US" altLang="zh-CN" sz="27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700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700" dirty="0">
                <a:latin typeface="Times New Roman" panose="02020603050405020304" pitchFamily="18" charset="0"/>
              </a:rPr>
              <a:t>+</a:t>
            </a:r>
            <a:r>
              <a:rPr lang="en-US" altLang="zh-CN" sz="2700" b="1" i="1" dirty="0">
                <a:solidFill>
                  <a:srgbClr val="FF3399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700" b="1" dirty="0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700" b="1" dirty="0">
                <a:latin typeface="Times New Roman" panose="02020603050405020304" pitchFamily="18" charset="0"/>
              </a:rPr>
              <a:t>→</a:t>
            </a:r>
            <a:r>
              <a:rPr lang="zh-CN" altLang="en-US" sz="2700" b="1" dirty="0">
                <a:latin typeface="Times New Roman" panose="02020603050405020304" pitchFamily="18" charset="0"/>
              </a:rPr>
              <a:t>附加场</a:t>
            </a:r>
            <a:r>
              <a:rPr lang="en-US" altLang="zh-CN" sz="27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7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700" b="1" dirty="0">
                <a:latin typeface="Times New Roman" panose="02020603050405020304" pitchFamily="18" charset="0"/>
              </a:rPr>
              <a:t>与外场</a:t>
            </a:r>
            <a:r>
              <a:rPr lang="en-US" altLang="zh-CN" sz="27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700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sz="2700" b="1" dirty="0">
                <a:latin typeface="Times New Roman" panose="02020603050405020304" pitchFamily="18" charset="0"/>
              </a:rPr>
              <a:t>反方向。</a:t>
            </a:r>
            <a:r>
              <a:rPr lang="en-US" altLang="zh-CN" sz="27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7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7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kumimoji="1" lang="zh-CN" altLang="en-US" sz="2700" b="1" dirty="0">
                <a:solidFill>
                  <a:srgbClr val="3333CC"/>
                </a:solidFill>
              </a:rPr>
              <a:t>介质与外电场相互作用</a:t>
            </a:r>
            <a:r>
              <a:rPr kumimoji="1" lang="zh-CN" altLang="en-US" sz="2700" b="1" dirty="0"/>
              <a:t>所产生！</a:t>
            </a:r>
          </a:p>
        </p:txBody>
      </p:sp>
      <p:pic>
        <p:nvPicPr>
          <p:cNvPr id="405573" name="Picture 6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962" y="1268760"/>
            <a:ext cx="7180077" cy="2114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57979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94" name="Rectangle 42"/>
          <p:cNvSpPr>
            <a:spLocks noGrp="1" noChangeArrowheads="1"/>
          </p:cNvSpPr>
          <p:nvPr>
            <p:ph sz="half" idx="1"/>
          </p:nvPr>
        </p:nvSpPr>
        <p:spPr>
          <a:xfrm>
            <a:off x="360000" y="612000"/>
            <a:ext cx="5543550" cy="3527425"/>
          </a:xfrm>
        </p:spPr>
        <p:txBody>
          <a:bodyPr/>
          <a:lstStyle/>
          <a:p>
            <a:pPr marL="0" indent="0">
              <a:lnSpc>
                <a:spcPct val="120000"/>
              </a:lnSpc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2. </a:t>
            </a:r>
            <a:r>
              <a:rPr lang="zh-CN" altLang="en-US" b="1" dirty="0">
                <a:solidFill>
                  <a:srgbClr val="FF3399"/>
                </a:solidFill>
                <a:latin typeface="Times New Roman" panose="02020603050405020304" pitchFamily="18" charset="0"/>
              </a:rPr>
              <a:t>介质极化</a:t>
            </a:r>
          </a:p>
          <a:p>
            <a:pPr marL="0" indent="0">
              <a:lnSpc>
                <a:spcPct val="120000"/>
              </a:lnSpc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800" b="1" dirty="0">
                <a:latin typeface="Times New Roman" panose="02020603050405020304" pitchFamily="18" charset="0"/>
              </a:rPr>
              <a:t>与外场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</a:rPr>
              <a:t>反方向，说明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电介质的表面出现了与极板电荷异号的电荷，这种电荷只能在分子范围内移动，与电介质是不可分离的，称为</a:t>
            </a:r>
            <a:r>
              <a:rPr kumimoji="1" lang="zh-CN" altLang="en-US" sz="28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极化电荷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或</a:t>
            </a:r>
            <a:r>
              <a:rPr kumimoji="1" lang="zh-CN" altLang="en-US" sz="28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束缚电荷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800" b="1" dirty="0">
              <a:solidFill>
                <a:srgbClr val="000000"/>
              </a:solidFill>
            </a:endParaRPr>
          </a:p>
        </p:txBody>
      </p:sp>
      <p:sp>
        <p:nvSpPr>
          <p:cNvPr id="407595" name="Rectangle 43"/>
          <p:cNvSpPr>
            <a:spLocks noGrp="1" noChangeArrowheads="1"/>
          </p:cNvSpPr>
          <p:nvPr>
            <p:ph sz="half" idx="2"/>
          </p:nvPr>
        </p:nvSpPr>
        <p:spPr>
          <a:xfrm>
            <a:off x="462757" y="4005064"/>
            <a:ext cx="8218487" cy="2336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</a:rPr>
              <a:t>电介质在外电场作用下，其表面甚至内部出现极化电荷的现象，叫做</a:t>
            </a:r>
            <a:r>
              <a:rPr kumimoji="1" lang="zh-CN" altLang="en-US" sz="2800" b="1" dirty="0">
                <a:solidFill>
                  <a:srgbClr val="FF3399"/>
                </a:solidFill>
              </a:rPr>
              <a:t>电介质的极化</a:t>
            </a:r>
            <a:r>
              <a:rPr kumimoji="1" lang="zh-CN" altLang="en-US" sz="2800" b="1" dirty="0">
                <a:solidFill>
                  <a:srgbClr val="000000"/>
                </a:solidFill>
              </a:rPr>
              <a:t>。</a:t>
            </a:r>
          </a:p>
          <a:p>
            <a:pPr marL="0" indent="0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</a:rPr>
              <a:t>电介质中的总电场为两个电场之和：</a:t>
            </a:r>
          </a:p>
          <a:p>
            <a:pPr marL="0" indent="0" algn="ctr"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0</a:t>
            </a:r>
            <a:endParaRPr kumimoji="1" lang="en-US" altLang="zh-CN" sz="2800" b="1" dirty="0">
              <a:solidFill>
                <a:srgbClr val="000000"/>
              </a:solidFill>
            </a:endParaRPr>
          </a:p>
        </p:txBody>
      </p:sp>
      <p:pic>
        <p:nvPicPr>
          <p:cNvPr id="407598" name="Picture 4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319" y="612000"/>
            <a:ext cx="2447925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65893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9" name="Rectangle 3"/>
          <p:cNvSpPr>
            <a:spLocks noGrp="1" noChangeArrowheads="1"/>
          </p:cNvSpPr>
          <p:nvPr>
            <p:ph idx="1"/>
          </p:nvPr>
        </p:nvSpPr>
        <p:spPr>
          <a:xfrm>
            <a:off x="341530" y="630000"/>
            <a:ext cx="8460940" cy="5760640"/>
          </a:xfrm>
          <a:noFill/>
        </p:spPr>
        <p:txBody>
          <a:bodyPr/>
          <a:lstStyle/>
          <a:p>
            <a:pPr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3. </a:t>
            </a:r>
            <a:r>
              <a:rPr lang="zh-CN" altLang="en-US" sz="28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介质微观结构</a:t>
            </a:r>
            <a:endParaRPr kumimoji="1" lang="zh-CN" altLang="en-US" sz="2800" b="1" dirty="0">
              <a:solidFill>
                <a:srgbClr val="FF3399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700" b="1" dirty="0">
                <a:latin typeface="Times New Roman" panose="02020603050405020304" pitchFamily="18" charset="0"/>
              </a:rPr>
              <a:t>中心模型：</a:t>
            </a:r>
          </a:p>
          <a:p>
            <a:pPr lvl="1" indent="-220663">
              <a:lnSpc>
                <a:spcPct val="110000"/>
              </a:lnSpc>
            </a:pPr>
            <a:r>
              <a:rPr kumimoji="1" lang="zh-CN" altLang="en-US" sz="2700" b="1" dirty="0">
                <a:latin typeface="Times New Roman" panose="02020603050405020304" pitchFamily="18" charset="0"/>
              </a:rPr>
              <a:t>在分子中，所有正点荷和所有负点荷分别集中于两点上，称为正、负电荷的中心。</a:t>
            </a:r>
          </a:p>
          <a:p>
            <a:pPr lvl="1" indent="-220663">
              <a:lnSpc>
                <a:spcPct val="110000"/>
              </a:lnSpc>
            </a:pPr>
            <a:r>
              <a:rPr kumimoji="1" lang="zh-CN" altLang="en-US" sz="2700" b="1" dirty="0">
                <a:latin typeface="Times New Roman" panose="02020603050405020304" pitchFamily="18" charset="0"/>
              </a:rPr>
              <a:t>电荷分布是对</a:t>
            </a:r>
            <a:r>
              <a:rPr kumimoji="1" lang="zh-CN" altLang="en-US" sz="27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时间</a:t>
            </a:r>
            <a:r>
              <a:rPr kumimoji="1" lang="zh-CN" altLang="en-US" sz="2700" b="1" dirty="0">
                <a:latin typeface="Times New Roman" panose="02020603050405020304" pitchFamily="18" charset="0"/>
              </a:rPr>
              <a:t>的积累，其中心则是在此基础上对</a:t>
            </a:r>
            <a:r>
              <a:rPr kumimoji="1" lang="zh-CN" altLang="en-US" sz="27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空间</a:t>
            </a:r>
            <a:r>
              <a:rPr kumimoji="1" lang="zh-CN" altLang="en-US" sz="2700" b="1" dirty="0">
                <a:latin typeface="Times New Roman" panose="02020603050405020304" pitchFamily="18" charset="0"/>
              </a:rPr>
              <a:t>的平均。</a:t>
            </a:r>
          </a:p>
          <a:p>
            <a:pPr>
              <a:lnSpc>
                <a:spcPct val="120000"/>
              </a:lnSpc>
            </a:pPr>
            <a:r>
              <a:rPr kumimoji="1" lang="zh-CN" altLang="en-US" sz="2700" b="1" dirty="0">
                <a:latin typeface="Times New Roman" panose="02020603050405020304" pitchFamily="18" charset="0"/>
              </a:rPr>
              <a:t>介质分类</a:t>
            </a:r>
          </a:p>
          <a:p>
            <a:pPr lvl="1" indent="-220663">
              <a:lnSpc>
                <a:spcPct val="110000"/>
              </a:lnSpc>
            </a:pPr>
            <a:r>
              <a:rPr kumimoji="1" lang="zh-CN" altLang="en-US" sz="2700" b="1" dirty="0">
                <a:latin typeface="Times New Roman" panose="02020603050405020304" pitchFamily="18" charset="0"/>
              </a:rPr>
              <a:t>无极分子：无外场时</a:t>
            </a:r>
            <a:r>
              <a:rPr kumimoji="1" lang="zh-CN" altLang="en-US" sz="2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分子电荷的正负</a:t>
            </a:r>
            <a:r>
              <a:rPr kumimoji="1" lang="zh-CN" altLang="en-US" sz="2700" b="1" dirty="0">
                <a:latin typeface="Times New Roman" panose="02020603050405020304" pitchFamily="18" charset="0"/>
              </a:rPr>
              <a:t>中</a:t>
            </a:r>
            <a:r>
              <a:rPr kumimoji="1" lang="zh-CN" altLang="en-US" sz="2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心重合，无固有电偶极矩。如：</a:t>
            </a:r>
            <a:r>
              <a:rPr kumimoji="1" lang="en-US" altLang="zh-CN" sz="2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He, Ne, O</a:t>
            </a:r>
            <a:r>
              <a:rPr kumimoji="1" lang="en-US" altLang="zh-CN" sz="27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CO</a:t>
            </a:r>
            <a:r>
              <a:rPr kumimoji="1" lang="en-US" altLang="zh-CN" sz="27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CH</a:t>
            </a:r>
            <a:r>
              <a:rPr kumimoji="1" lang="en-US" altLang="zh-CN" sz="27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27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indent="-220663">
              <a:lnSpc>
                <a:spcPct val="110000"/>
              </a:lnSpc>
            </a:pPr>
            <a:r>
              <a:rPr kumimoji="1" lang="zh-CN" altLang="en-US" sz="2700" b="1" dirty="0">
                <a:latin typeface="Times New Roman" panose="02020603050405020304" pitchFamily="18" charset="0"/>
              </a:rPr>
              <a:t>有极分子：无外场时</a:t>
            </a:r>
            <a:r>
              <a:rPr kumimoji="1" lang="zh-CN" altLang="en-US" sz="2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分子电荷的正负</a:t>
            </a:r>
            <a:r>
              <a:rPr kumimoji="1" lang="zh-CN" altLang="en-US" sz="2700" b="1" dirty="0">
                <a:latin typeface="Times New Roman" panose="02020603050405020304" pitchFamily="18" charset="0"/>
              </a:rPr>
              <a:t>中</a:t>
            </a:r>
            <a:r>
              <a:rPr kumimoji="1" lang="zh-CN" altLang="en-US" sz="2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心分开</a:t>
            </a:r>
            <a:r>
              <a:rPr kumimoji="1" lang="zh-CN" altLang="en-US" sz="2700" b="1" dirty="0">
                <a:latin typeface="Times New Roman" panose="02020603050405020304" pitchFamily="18" charset="0"/>
              </a:rPr>
              <a:t>，</a:t>
            </a:r>
            <a:r>
              <a:rPr kumimoji="1" lang="zh-CN" altLang="en-US" sz="2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有固有电偶极矩，如</a:t>
            </a:r>
            <a:r>
              <a:rPr kumimoji="1" lang="en-US" altLang="zh-CN" sz="2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kumimoji="1" lang="zh-CN" altLang="en-US" sz="2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水</a:t>
            </a:r>
            <a:r>
              <a:rPr kumimoji="1" lang="en-US" altLang="zh-CN" sz="2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7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HCl</a:t>
            </a:r>
            <a:r>
              <a:rPr kumimoji="1" lang="en-US" altLang="zh-CN" sz="2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NH</a:t>
            </a:r>
            <a:r>
              <a:rPr kumimoji="1" lang="en-US" altLang="zh-CN" sz="27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CH</a:t>
            </a:r>
            <a:r>
              <a:rPr kumimoji="1" lang="en-US" altLang="zh-CN" sz="27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OH</a:t>
            </a:r>
          </a:p>
        </p:txBody>
      </p:sp>
    </p:spTree>
    <p:extLst>
      <p:ext uri="{BB962C8B-B14F-4D97-AF65-F5344CB8AC3E}">
        <p14:creationId xmlns:p14="http://schemas.microsoft.com/office/powerpoint/2010/main" val="24819597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79" name="Picture 7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163638"/>
            <a:ext cx="283845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638" name="Oval 38"/>
          <p:cNvSpPr>
            <a:spLocks noChangeArrowheads="1"/>
          </p:cNvSpPr>
          <p:nvPr/>
        </p:nvSpPr>
        <p:spPr bwMode="auto">
          <a:xfrm>
            <a:off x="3587750" y="1484313"/>
            <a:ext cx="479425" cy="46355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6969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kumimoji="1" lang="en-US" altLang="zh-CN" sz="2800" b="1">
                <a:solidFill>
                  <a:srgbClr val="FF505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</a:t>
            </a:r>
            <a:endParaRPr kumimoji="1" lang="en-US" altLang="zh-CN" sz="3600" b="1">
              <a:solidFill>
                <a:srgbClr val="FF505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409602" name="Group 2"/>
          <p:cNvGrpSpPr>
            <a:grpSpLocks/>
          </p:cNvGrpSpPr>
          <p:nvPr/>
        </p:nvGrpSpPr>
        <p:grpSpPr bwMode="auto">
          <a:xfrm>
            <a:off x="628650" y="3849688"/>
            <a:ext cx="3021013" cy="1524000"/>
            <a:chOff x="1392" y="3120"/>
            <a:chExt cx="1423" cy="720"/>
          </a:xfrm>
        </p:grpSpPr>
        <p:sp>
          <p:nvSpPr>
            <p:cNvPr id="409603" name="Rectangle 3"/>
            <p:cNvSpPr>
              <a:spLocks noChangeArrowheads="1"/>
            </p:cNvSpPr>
            <p:nvPr/>
          </p:nvSpPr>
          <p:spPr bwMode="auto">
            <a:xfrm>
              <a:off x="1392" y="3120"/>
              <a:ext cx="1423" cy="720"/>
            </a:xfrm>
            <a:prstGeom prst="rect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0000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solidFill>
                <a:srgbClr val="66FF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6969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9604" name="Group 4"/>
            <p:cNvGrpSpPr>
              <a:grpSpLocks/>
            </p:cNvGrpSpPr>
            <p:nvPr/>
          </p:nvGrpSpPr>
          <p:grpSpPr bwMode="auto">
            <a:xfrm>
              <a:off x="1477" y="3176"/>
              <a:ext cx="1152" cy="624"/>
              <a:chOff x="3744" y="3072"/>
              <a:chExt cx="1152" cy="624"/>
            </a:xfrm>
          </p:grpSpPr>
          <p:sp>
            <p:nvSpPr>
              <p:cNvPr id="409605" name="Oval 5"/>
              <p:cNvSpPr>
                <a:spLocks noChangeArrowheads="1"/>
              </p:cNvSpPr>
              <p:nvPr/>
            </p:nvSpPr>
            <p:spPr bwMode="auto">
              <a:xfrm>
                <a:off x="3888" y="3312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06" name="Oval 6"/>
              <p:cNvSpPr>
                <a:spLocks noChangeArrowheads="1"/>
              </p:cNvSpPr>
              <p:nvPr/>
            </p:nvSpPr>
            <p:spPr bwMode="auto">
              <a:xfrm>
                <a:off x="4080" y="3408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07" name="Oval 7"/>
              <p:cNvSpPr>
                <a:spLocks noChangeArrowheads="1"/>
              </p:cNvSpPr>
              <p:nvPr/>
            </p:nvSpPr>
            <p:spPr bwMode="auto">
              <a:xfrm>
                <a:off x="4080" y="3600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08" name="Oval 8"/>
              <p:cNvSpPr>
                <a:spLocks noChangeArrowheads="1"/>
              </p:cNvSpPr>
              <p:nvPr/>
            </p:nvSpPr>
            <p:spPr bwMode="auto">
              <a:xfrm>
                <a:off x="4224" y="3120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09" name="Oval 9"/>
              <p:cNvSpPr>
                <a:spLocks noChangeArrowheads="1"/>
              </p:cNvSpPr>
              <p:nvPr/>
            </p:nvSpPr>
            <p:spPr bwMode="auto">
              <a:xfrm>
                <a:off x="4224" y="3312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10" name="Oval 10"/>
              <p:cNvSpPr>
                <a:spLocks noChangeArrowheads="1"/>
              </p:cNvSpPr>
              <p:nvPr/>
            </p:nvSpPr>
            <p:spPr bwMode="auto">
              <a:xfrm>
                <a:off x="3936" y="3120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11" name="Oval 11"/>
              <p:cNvSpPr>
                <a:spLocks noChangeArrowheads="1"/>
              </p:cNvSpPr>
              <p:nvPr/>
            </p:nvSpPr>
            <p:spPr bwMode="auto">
              <a:xfrm>
                <a:off x="4368" y="3408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12" name="Oval 12"/>
              <p:cNvSpPr>
                <a:spLocks noChangeArrowheads="1"/>
              </p:cNvSpPr>
              <p:nvPr/>
            </p:nvSpPr>
            <p:spPr bwMode="auto">
              <a:xfrm>
                <a:off x="4416" y="3216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13" name="Oval 13"/>
              <p:cNvSpPr>
                <a:spLocks noChangeArrowheads="1"/>
              </p:cNvSpPr>
              <p:nvPr/>
            </p:nvSpPr>
            <p:spPr bwMode="auto">
              <a:xfrm>
                <a:off x="4608" y="3168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14" name="Oval 14"/>
              <p:cNvSpPr>
                <a:spLocks noChangeArrowheads="1"/>
              </p:cNvSpPr>
              <p:nvPr/>
            </p:nvSpPr>
            <p:spPr bwMode="auto">
              <a:xfrm>
                <a:off x="4656" y="3360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15" name="Oval 15"/>
              <p:cNvSpPr>
                <a:spLocks noChangeArrowheads="1"/>
              </p:cNvSpPr>
              <p:nvPr/>
            </p:nvSpPr>
            <p:spPr bwMode="auto">
              <a:xfrm>
                <a:off x="4800" y="3312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16" name="Oval 16"/>
              <p:cNvSpPr>
                <a:spLocks noChangeArrowheads="1"/>
              </p:cNvSpPr>
              <p:nvPr/>
            </p:nvSpPr>
            <p:spPr bwMode="auto">
              <a:xfrm>
                <a:off x="4560" y="3504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17" name="Oval 17"/>
              <p:cNvSpPr>
                <a:spLocks noChangeArrowheads="1"/>
              </p:cNvSpPr>
              <p:nvPr/>
            </p:nvSpPr>
            <p:spPr bwMode="auto">
              <a:xfrm>
                <a:off x="4416" y="3600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18" name="Oval 18"/>
              <p:cNvSpPr>
                <a:spLocks noChangeArrowheads="1"/>
              </p:cNvSpPr>
              <p:nvPr/>
            </p:nvSpPr>
            <p:spPr bwMode="auto">
              <a:xfrm>
                <a:off x="4512" y="3072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19" name="Oval 19"/>
              <p:cNvSpPr>
                <a:spLocks noChangeArrowheads="1"/>
              </p:cNvSpPr>
              <p:nvPr/>
            </p:nvSpPr>
            <p:spPr bwMode="auto">
              <a:xfrm>
                <a:off x="3840" y="3504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20" name="Oval 20"/>
              <p:cNvSpPr>
                <a:spLocks noChangeArrowheads="1"/>
              </p:cNvSpPr>
              <p:nvPr/>
            </p:nvSpPr>
            <p:spPr bwMode="auto">
              <a:xfrm>
                <a:off x="4704" y="3552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21" name="Oval 21"/>
              <p:cNvSpPr>
                <a:spLocks noChangeArrowheads="1"/>
              </p:cNvSpPr>
              <p:nvPr/>
            </p:nvSpPr>
            <p:spPr bwMode="auto">
              <a:xfrm>
                <a:off x="4032" y="3264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22" name="Oval 22"/>
              <p:cNvSpPr>
                <a:spLocks noChangeArrowheads="1"/>
              </p:cNvSpPr>
              <p:nvPr/>
            </p:nvSpPr>
            <p:spPr bwMode="auto">
              <a:xfrm>
                <a:off x="4224" y="3504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23" name="Oval 23"/>
              <p:cNvSpPr>
                <a:spLocks noChangeArrowheads="1"/>
              </p:cNvSpPr>
              <p:nvPr/>
            </p:nvSpPr>
            <p:spPr bwMode="auto">
              <a:xfrm>
                <a:off x="4848" y="3456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24" name="Oval 24"/>
              <p:cNvSpPr>
                <a:spLocks noChangeArrowheads="1"/>
              </p:cNvSpPr>
              <p:nvPr/>
            </p:nvSpPr>
            <p:spPr bwMode="auto">
              <a:xfrm>
                <a:off x="3792" y="3168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25" name="Oval 25"/>
              <p:cNvSpPr>
                <a:spLocks noChangeArrowheads="1"/>
              </p:cNvSpPr>
              <p:nvPr/>
            </p:nvSpPr>
            <p:spPr bwMode="auto">
              <a:xfrm>
                <a:off x="4416" y="3120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26" name="Oval 26"/>
              <p:cNvSpPr>
                <a:spLocks noChangeArrowheads="1"/>
              </p:cNvSpPr>
              <p:nvPr/>
            </p:nvSpPr>
            <p:spPr bwMode="auto">
              <a:xfrm>
                <a:off x="4800" y="3168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27" name="Oval 27"/>
              <p:cNvSpPr>
                <a:spLocks noChangeArrowheads="1"/>
              </p:cNvSpPr>
              <p:nvPr/>
            </p:nvSpPr>
            <p:spPr bwMode="auto">
              <a:xfrm>
                <a:off x="4848" y="3600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28" name="Oval 28"/>
              <p:cNvSpPr>
                <a:spLocks noChangeArrowheads="1"/>
              </p:cNvSpPr>
              <p:nvPr/>
            </p:nvSpPr>
            <p:spPr bwMode="auto">
              <a:xfrm>
                <a:off x="4080" y="3072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29" name="Oval 29"/>
              <p:cNvSpPr>
                <a:spLocks noChangeArrowheads="1"/>
              </p:cNvSpPr>
              <p:nvPr/>
            </p:nvSpPr>
            <p:spPr bwMode="auto">
              <a:xfrm>
                <a:off x="3744" y="3408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30" name="Oval 30"/>
              <p:cNvSpPr>
                <a:spLocks noChangeArrowheads="1"/>
              </p:cNvSpPr>
              <p:nvPr/>
            </p:nvSpPr>
            <p:spPr bwMode="auto">
              <a:xfrm>
                <a:off x="3888" y="3600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31" name="Oval 31"/>
              <p:cNvSpPr>
                <a:spLocks noChangeArrowheads="1"/>
              </p:cNvSpPr>
              <p:nvPr/>
            </p:nvSpPr>
            <p:spPr bwMode="auto">
              <a:xfrm>
                <a:off x="4848" y="3072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32" name="Oval 32"/>
              <p:cNvSpPr>
                <a:spLocks noChangeArrowheads="1"/>
              </p:cNvSpPr>
              <p:nvPr/>
            </p:nvSpPr>
            <p:spPr bwMode="auto">
              <a:xfrm>
                <a:off x="4320" y="3600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33" name="Oval 33"/>
              <p:cNvSpPr>
                <a:spLocks noChangeArrowheads="1"/>
              </p:cNvSpPr>
              <p:nvPr/>
            </p:nvSpPr>
            <p:spPr bwMode="auto">
              <a:xfrm>
                <a:off x="4656" y="3648"/>
                <a:ext cx="48" cy="48"/>
              </a:xfrm>
              <a:prstGeom prst="ellipse">
                <a:avLst/>
              </a:prstGeom>
              <a:solidFill>
                <a:srgbClr val="66FF33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09639" name="Oval 39"/>
          <p:cNvSpPr>
            <a:spLocks noChangeAspect="1" noChangeArrowheads="1"/>
          </p:cNvSpPr>
          <p:nvPr/>
        </p:nvSpPr>
        <p:spPr bwMode="auto">
          <a:xfrm>
            <a:off x="4716463" y="1196975"/>
            <a:ext cx="455612" cy="13335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6969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kumimoji="1" lang="en-US" altLang="zh-CN" sz="2400" b="1">
                <a:solidFill>
                  <a:srgbClr val="FF5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</a:t>
            </a:r>
            <a:endParaRPr kumimoji="1" lang="en-US" altLang="zh-CN" sz="2400">
              <a:latin typeface="华文新魏" panose="02010800040101010101" pitchFamily="2" charset="-122"/>
              <a:ea typeface="ˎ̥"/>
              <a:cs typeface="ˎ̥"/>
            </a:endParaRPr>
          </a:p>
          <a:p>
            <a:pPr algn="ctr" eaLnBrk="0" hangingPunct="0"/>
            <a:r>
              <a:rPr kumimoji="1" lang="en-US" altLang="zh-CN" sz="2400" b="1">
                <a:solidFill>
                  <a:srgbClr val="FF5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endParaRPr kumimoji="1" lang="en-US" altLang="zh-CN" sz="2400">
              <a:latin typeface="华文新魏" panose="02010800040101010101" pitchFamily="2" charset="-122"/>
              <a:ea typeface="ˎ̥"/>
              <a:cs typeface="ˎ̥"/>
            </a:endParaRPr>
          </a:p>
          <a:p>
            <a:pPr algn="ctr" eaLnBrk="0" hangingPunct="0"/>
            <a:r>
              <a:rPr kumimoji="1" lang="en-US" altLang="zh-CN" sz="2400" b="1">
                <a:solidFill>
                  <a:srgbClr val="FF5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endParaRPr lang="en-US" altLang="zh-CN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09640" name="Line 40"/>
          <p:cNvSpPr>
            <a:spLocks noChangeShapeType="1"/>
          </p:cNvSpPr>
          <p:nvPr/>
        </p:nvSpPr>
        <p:spPr bwMode="auto">
          <a:xfrm>
            <a:off x="5292725" y="1633538"/>
            <a:ext cx="0" cy="5715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6969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42" name="Text Box 42"/>
          <p:cNvSpPr txBox="1">
            <a:spLocks noChangeArrowheads="1"/>
          </p:cNvSpPr>
          <p:nvPr/>
        </p:nvSpPr>
        <p:spPr bwMode="auto">
          <a:xfrm>
            <a:off x="3059113" y="3197225"/>
            <a:ext cx="3028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69696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无外场时</a:t>
            </a:r>
            <a:r>
              <a:rPr kumimoji="1" lang="en-US" altLang="zh-CN" sz="2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热运动</a:t>
            </a:r>
            <a:r>
              <a:rPr kumimoji="1" lang="en-US" altLang="zh-CN" sz="2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280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09643" name="Group 43"/>
          <p:cNvGrpSpPr>
            <a:grpSpLocks/>
          </p:cNvGrpSpPr>
          <p:nvPr/>
        </p:nvGrpSpPr>
        <p:grpSpPr bwMode="auto">
          <a:xfrm>
            <a:off x="5076825" y="3849688"/>
            <a:ext cx="3200400" cy="1524000"/>
            <a:chOff x="3944" y="3344"/>
            <a:chExt cx="1488" cy="720"/>
          </a:xfrm>
        </p:grpSpPr>
        <p:sp>
          <p:nvSpPr>
            <p:cNvPr id="409644" name="Rectangle 44"/>
            <p:cNvSpPr>
              <a:spLocks noChangeArrowheads="1"/>
            </p:cNvSpPr>
            <p:nvPr/>
          </p:nvSpPr>
          <p:spPr bwMode="auto">
            <a:xfrm>
              <a:off x="3944" y="3344"/>
              <a:ext cx="1488" cy="720"/>
            </a:xfrm>
            <a:prstGeom prst="rect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0000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28575">
              <a:solidFill>
                <a:srgbClr val="66FF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6969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9645" name="Group 45"/>
            <p:cNvGrpSpPr>
              <a:grpSpLocks/>
            </p:cNvGrpSpPr>
            <p:nvPr/>
          </p:nvGrpSpPr>
          <p:grpSpPr bwMode="auto">
            <a:xfrm>
              <a:off x="4045" y="3408"/>
              <a:ext cx="1296" cy="600"/>
              <a:chOff x="4045" y="3408"/>
              <a:chExt cx="1296" cy="600"/>
            </a:xfrm>
          </p:grpSpPr>
          <p:sp>
            <p:nvSpPr>
              <p:cNvPr id="409646" name="Line 46"/>
              <p:cNvSpPr>
                <a:spLocks noChangeShapeType="1"/>
              </p:cNvSpPr>
              <p:nvPr/>
            </p:nvSpPr>
            <p:spPr bwMode="auto">
              <a:xfrm flipV="1">
                <a:off x="4189" y="3432"/>
                <a:ext cx="192" cy="96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47" name="Line 47"/>
              <p:cNvSpPr>
                <a:spLocks noChangeShapeType="1"/>
              </p:cNvSpPr>
              <p:nvPr/>
            </p:nvSpPr>
            <p:spPr bwMode="auto">
              <a:xfrm>
                <a:off x="4093" y="3624"/>
                <a:ext cx="240" cy="96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48" name="Line 48"/>
              <p:cNvSpPr>
                <a:spLocks noChangeShapeType="1"/>
              </p:cNvSpPr>
              <p:nvPr/>
            </p:nvSpPr>
            <p:spPr bwMode="auto">
              <a:xfrm>
                <a:off x="4381" y="3528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49" name="Line 49"/>
              <p:cNvSpPr>
                <a:spLocks noChangeShapeType="1"/>
              </p:cNvSpPr>
              <p:nvPr/>
            </p:nvSpPr>
            <p:spPr bwMode="auto">
              <a:xfrm flipV="1">
                <a:off x="4669" y="3480"/>
                <a:ext cx="192" cy="144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50" name="Line 50"/>
              <p:cNvSpPr>
                <a:spLocks noChangeShapeType="1"/>
              </p:cNvSpPr>
              <p:nvPr/>
            </p:nvSpPr>
            <p:spPr bwMode="auto">
              <a:xfrm flipH="1">
                <a:off x="4189" y="3720"/>
                <a:ext cx="192" cy="96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51" name="Line 51"/>
              <p:cNvSpPr>
                <a:spLocks noChangeShapeType="1"/>
              </p:cNvSpPr>
              <p:nvPr/>
            </p:nvSpPr>
            <p:spPr bwMode="auto">
              <a:xfrm flipH="1" flipV="1">
                <a:off x="4333" y="3576"/>
                <a:ext cx="192" cy="144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52" name="Line 52"/>
              <p:cNvSpPr>
                <a:spLocks noChangeShapeType="1"/>
              </p:cNvSpPr>
              <p:nvPr/>
            </p:nvSpPr>
            <p:spPr bwMode="auto">
              <a:xfrm flipH="1">
                <a:off x="4477" y="3720"/>
                <a:ext cx="144" cy="96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53" name="Line 53"/>
              <p:cNvSpPr>
                <a:spLocks noChangeShapeType="1"/>
              </p:cNvSpPr>
              <p:nvPr/>
            </p:nvSpPr>
            <p:spPr bwMode="auto">
              <a:xfrm flipH="1" flipV="1">
                <a:off x="4765" y="37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54" name="Line 54"/>
              <p:cNvSpPr>
                <a:spLocks noChangeShapeType="1"/>
              </p:cNvSpPr>
              <p:nvPr/>
            </p:nvSpPr>
            <p:spPr bwMode="auto">
              <a:xfrm>
                <a:off x="4909" y="3480"/>
                <a:ext cx="192" cy="96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55" name="Line 55"/>
              <p:cNvSpPr>
                <a:spLocks noChangeShapeType="1"/>
              </p:cNvSpPr>
              <p:nvPr/>
            </p:nvSpPr>
            <p:spPr bwMode="auto">
              <a:xfrm flipH="1">
                <a:off x="5149" y="3432"/>
                <a:ext cx="96" cy="24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56" name="Line 56"/>
              <p:cNvSpPr>
                <a:spLocks noChangeShapeType="1"/>
              </p:cNvSpPr>
              <p:nvPr/>
            </p:nvSpPr>
            <p:spPr bwMode="auto">
              <a:xfrm>
                <a:off x="4381" y="3816"/>
                <a:ext cx="96" cy="144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57" name="Line 57"/>
              <p:cNvSpPr>
                <a:spLocks noChangeShapeType="1"/>
              </p:cNvSpPr>
              <p:nvPr/>
            </p:nvSpPr>
            <p:spPr bwMode="auto">
              <a:xfrm>
                <a:off x="4957" y="3672"/>
                <a:ext cx="192" cy="96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58" name="Line 58"/>
              <p:cNvSpPr>
                <a:spLocks noChangeShapeType="1"/>
              </p:cNvSpPr>
              <p:nvPr/>
            </p:nvSpPr>
            <p:spPr bwMode="auto">
              <a:xfrm flipV="1">
                <a:off x="4045" y="3912"/>
                <a:ext cx="144" cy="96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59" name="Line 59"/>
              <p:cNvSpPr>
                <a:spLocks noChangeShapeType="1"/>
              </p:cNvSpPr>
              <p:nvPr/>
            </p:nvSpPr>
            <p:spPr bwMode="auto">
              <a:xfrm flipH="1" flipV="1">
                <a:off x="4045" y="3672"/>
                <a:ext cx="48" cy="144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60" name="Line 60"/>
              <p:cNvSpPr>
                <a:spLocks noChangeShapeType="1"/>
              </p:cNvSpPr>
              <p:nvPr/>
            </p:nvSpPr>
            <p:spPr bwMode="auto">
              <a:xfrm>
                <a:off x="4669" y="3816"/>
                <a:ext cx="0" cy="144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61" name="Line 61"/>
              <p:cNvSpPr>
                <a:spLocks noChangeShapeType="1"/>
              </p:cNvSpPr>
              <p:nvPr/>
            </p:nvSpPr>
            <p:spPr bwMode="auto">
              <a:xfrm flipH="1">
                <a:off x="5053" y="3768"/>
                <a:ext cx="144" cy="144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62" name="Line 62"/>
              <p:cNvSpPr>
                <a:spLocks noChangeShapeType="1"/>
              </p:cNvSpPr>
              <p:nvPr/>
            </p:nvSpPr>
            <p:spPr bwMode="auto">
              <a:xfrm flipV="1">
                <a:off x="5293" y="357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63" name="Line 63"/>
              <p:cNvSpPr>
                <a:spLocks noChangeShapeType="1"/>
              </p:cNvSpPr>
              <p:nvPr/>
            </p:nvSpPr>
            <p:spPr bwMode="auto">
              <a:xfrm rot="-167520">
                <a:off x="4560" y="3408"/>
                <a:ext cx="192" cy="96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64" name="Line 64"/>
              <p:cNvSpPr>
                <a:spLocks noChangeShapeType="1"/>
              </p:cNvSpPr>
              <p:nvPr/>
            </p:nvSpPr>
            <p:spPr bwMode="auto">
              <a:xfrm rot="4912194" flipV="1">
                <a:off x="4024" y="3448"/>
                <a:ext cx="192" cy="144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65" name="Line 65"/>
              <p:cNvSpPr>
                <a:spLocks noChangeShapeType="1"/>
              </p:cNvSpPr>
              <p:nvPr/>
            </p:nvSpPr>
            <p:spPr bwMode="auto">
              <a:xfrm>
                <a:off x="5197" y="3816"/>
                <a:ext cx="144" cy="144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66" name="Line 66"/>
              <p:cNvSpPr>
                <a:spLocks noChangeShapeType="1"/>
              </p:cNvSpPr>
              <p:nvPr/>
            </p:nvSpPr>
            <p:spPr bwMode="auto">
              <a:xfrm flipH="1">
                <a:off x="4909" y="3768"/>
                <a:ext cx="48" cy="192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69696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09667" name="Rectangle 67"/>
          <p:cNvSpPr>
            <a:spLocks noChangeArrowheads="1"/>
          </p:cNvSpPr>
          <p:nvPr/>
        </p:nvSpPr>
        <p:spPr bwMode="auto">
          <a:xfrm>
            <a:off x="5292725" y="1570038"/>
            <a:ext cx="3587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p</a:t>
            </a:r>
          </a:p>
        </p:txBody>
      </p:sp>
      <p:sp>
        <p:nvSpPr>
          <p:cNvPr id="409668" name="Rectangle 68"/>
          <p:cNvSpPr>
            <a:spLocks noChangeArrowheads="1"/>
          </p:cNvSpPr>
          <p:nvPr/>
        </p:nvSpPr>
        <p:spPr bwMode="auto">
          <a:xfrm>
            <a:off x="5448914" y="5356755"/>
            <a:ext cx="288131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a typeface="华文新魏" panose="02010800040101010101" pitchFamily="2" charset="-122"/>
              </a:rPr>
              <a:t>无序排列整体对外不呈现电性！</a:t>
            </a:r>
          </a:p>
        </p:txBody>
      </p:sp>
      <p:sp>
        <p:nvSpPr>
          <p:cNvPr id="409670" name="Line 70"/>
          <p:cNvSpPr>
            <a:spLocks noChangeShapeType="1"/>
          </p:cNvSpPr>
          <p:nvPr/>
        </p:nvSpPr>
        <p:spPr bwMode="auto">
          <a:xfrm flipV="1">
            <a:off x="3779838" y="1557338"/>
            <a:ext cx="1152525" cy="10795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09675" name="Picture 7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" y="1341438"/>
            <a:ext cx="3114675" cy="96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669" name="Rectangle 69"/>
          <p:cNvSpPr>
            <a:spLocks noChangeArrowheads="1"/>
          </p:cNvSpPr>
          <p:nvPr/>
        </p:nvSpPr>
        <p:spPr bwMode="auto">
          <a:xfrm>
            <a:off x="2843213" y="2133600"/>
            <a:ext cx="935037" cy="9556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solidFill>
                  <a:srgbClr val="FF3399"/>
                </a:solidFill>
                <a:ea typeface="华文新魏" panose="02010800040101010101" pitchFamily="2" charset="-122"/>
              </a:rPr>
              <a:t>正电中心</a:t>
            </a:r>
          </a:p>
        </p:txBody>
      </p:sp>
      <p:pic>
        <p:nvPicPr>
          <p:cNvPr id="409678" name="Picture 7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1989138"/>
            <a:ext cx="1216025" cy="113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681" name="Rectangle 81"/>
          <p:cNvSpPr>
            <a:spLocks noGrp="1" noChangeArrowheads="1"/>
          </p:cNvSpPr>
          <p:nvPr>
            <p:ph idx="1"/>
          </p:nvPr>
        </p:nvSpPr>
        <p:spPr>
          <a:xfrm>
            <a:off x="395288" y="547688"/>
            <a:ext cx="8229600" cy="504825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kumimoji="1" lang="zh-CN" altLang="en-US" sz="2800" b="1"/>
              <a:t>无极分子                                    有极分子</a:t>
            </a:r>
          </a:p>
        </p:txBody>
      </p:sp>
    </p:spTree>
    <p:extLst>
      <p:ext uri="{BB962C8B-B14F-4D97-AF65-F5344CB8AC3E}">
        <p14:creationId xmlns:p14="http://schemas.microsoft.com/office/powerpoint/2010/main" val="1781159423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79" name="Freeform 55"/>
          <p:cNvSpPr>
            <a:spLocks/>
          </p:cNvSpPr>
          <p:nvPr/>
        </p:nvSpPr>
        <p:spPr bwMode="auto">
          <a:xfrm rot="10200000">
            <a:off x="6022975" y="2319338"/>
            <a:ext cx="204788" cy="822325"/>
          </a:xfrm>
          <a:custGeom>
            <a:avLst/>
            <a:gdLst>
              <a:gd name="T0" fmla="*/ 144 w 157"/>
              <a:gd name="T1" fmla="*/ 0 h 672"/>
              <a:gd name="T2" fmla="*/ 151 w 157"/>
              <a:gd name="T3" fmla="*/ 226 h 672"/>
              <a:gd name="T4" fmla="*/ 110 w 157"/>
              <a:gd name="T5" fmla="*/ 459 h 672"/>
              <a:gd name="T6" fmla="*/ 0 w 157"/>
              <a:gd name="T7" fmla="*/ 672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7" h="672">
                <a:moveTo>
                  <a:pt x="144" y="0"/>
                </a:moveTo>
                <a:cubicBezTo>
                  <a:pt x="145" y="38"/>
                  <a:pt x="157" y="150"/>
                  <a:pt x="151" y="226"/>
                </a:cubicBezTo>
                <a:cubicBezTo>
                  <a:pt x="145" y="302"/>
                  <a:pt x="135" y="385"/>
                  <a:pt x="110" y="459"/>
                </a:cubicBezTo>
                <a:cubicBezTo>
                  <a:pt x="85" y="533"/>
                  <a:pt x="23" y="628"/>
                  <a:pt x="0" y="672"/>
                </a:cubicBezTo>
              </a:path>
            </a:pathLst>
          </a:custGeom>
          <a:noFill/>
          <a:ln w="38100" cmpd="sng">
            <a:solidFill>
              <a:srgbClr val="0033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10628" name="Line 4"/>
          <p:cNvSpPr>
            <a:spLocks noChangeShapeType="1"/>
          </p:cNvSpPr>
          <p:nvPr/>
        </p:nvSpPr>
        <p:spPr bwMode="auto">
          <a:xfrm rot="-10800000">
            <a:off x="827088" y="3416300"/>
            <a:ext cx="635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10629" name="Line 5"/>
          <p:cNvSpPr>
            <a:spLocks noChangeShapeType="1"/>
          </p:cNvSpPr>
          <p:nvPr/>
        </p:nvSpPr>
        <p:spPr bwMode="auto">
          <a:xfrm>
            <a:off x="3059113" y="2365375"/>
            <a:ext cx="6334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10630" name="AutoShape 6"/>
          <p:cNvSpPr>
            <a:spLocks noChangeArrowheads="1"/>
          </p:cNvSpPr>
          <p:nvPr/>
        </p:nvSpPr>
        <p:spPr bwMode="auto">
          <a:xfrm rot="-2061070">
            <a:off x="1331913" y="2816225"/>
            <a:ext cx="1870075" cy="142875"/>
          </a:xfrm>
          <a:prstGeom prst="rightArrow">
            <a:avLst>
              <a:gd name="adj1" fmla="val 50000"/>
              <a:gd name="adj2" fmla="val 32722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631" name="Oval 7"/>
          <p:cNvSpPr>
            <a:spLocks noChangeArrowheads="1"/>
          </p:cNvSpPr>
          <p:nvPr/>
        </p:nvSpPr>
        <p:spPr bwMode="auto">
          <a:xfrm>
            <a:off x="1403350" y="3317875"/>
            <a:ext cx="173038" cy="182563"/>
          </a:xfrm>
          <a:prstGeom prst="ellipse">
            <a:avLst/>
          </a:prstGeom>
          <a:gradFill rotWithShape="0">
            <a:gsLst>
              <a:gs pos="0">
                <a:srgbClr val="33CC33"/>
              </a:gs>
              <a:gs pos="100000">
                <a:schemeClr val="bg2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632" name="Oval 8"/>
          <p:cNvSpPr>
            <a:spLocks noChangeArrowheads="1"/>
          </p:cNvSpPr>
          <p:nvPr/>
        </p:nvSpPr>
        <p:spPr bwMode="auto">
          <a:xfrm>
            <a:off x="2959100" y="2276475"/>
            <a:ext cx="173038" cy="18415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9A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0633" name="Group 9"/>
          <p:cNvGrpSpPr>
            <a:grpSpLocks/>
          </p:cNvGrpSpPr>
          <p:nvPr/>
        </p:nvGrpSpPr>
        <p:grpSpPr bwMode="auto">
          <a:xfrm>
            <a:off x="763588" y="2114550"/>
            <a:ext cx="3225800" cy="1528763"/>
            <a:chOff x="1344" y="1152"/>
            <a:chExt cx="2976" cy="1200"/>
          </a:xfrm>
        </p:grpSpPr>
        <p:sp>
          <p:nvSpPr>
            <p:cNvPr id="410634" name="Line 10"/>
            <p:cNvSpPr>
              <a:spLocks noChangeShapeType="1"/>
            </p:cNvSpPr>
            <p:nvPr/>
          </p:nvSpPr>
          <p:spPr bwMode="auto">
            <a:xfrm>
              <a:off x="1344" y="1776"/>
              <a:ext cx="29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0635" name="Line 11"/>
            <p:cNvSpPr>
              <a:spLocks noChangeShapeType="1"/>
            </p:cNvSpPr>
            <p:nvPr/>
          </p:nvSpPr>
          <p:spPr bwMode="auto">
            <a:xfrm>
              <a:off x="1344" y="1152"/>
              <a:ext cx="29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0636" name="Line 12"/>
            <p:cNvSpPr>
              <a:spLocks noChangeShapeType="1"/>
            </p:cNvSpPr>
            <p:nvPr/>
          </p:nvSpPr>
          <p:spPr bwMode="auto">
            <a:xfrm>
              <a:off x="1344" y="2352"/>
              <a:ext cx="29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10637" name="Freeform 13"/>
          <p:cNvSpPr>
            <a:spLocks/>
          </p:cNvSpPr>
          <p:nvPr/>
        </p:nvSpPr>
        <p:spPr bwMode="auto">
          <a:xfrm rot="21000000">
            <a:off x="3059113" y="2708275"/>
            <a:ext cx="204787" cy="822325"/>
          </a:xfrm>
          <a:custGeom>
            <a:avLst/>
            <a:gdLst>
              <a:gd name="T0" fmla="*/ 144 w 157"/>
              <a:gd name="T1" fmla="*/ 0 h 672"/>
              <a:gd name="T2" fmla="*/ 151 w 157"/>
              <a:gd name="T3" fmla="*/ 226 h 672"/>
              <a:gd name="T4" fmla="*/ 110 w 157"/>
              <a:gd name="T5" fmla="*/ 459 h 672"/>
              <a:gd name="T6" fmla="*/ 0 w 157"/>
              <a:gd name="T7" fmla="*/ 672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7" h="672">
                <a:moveTo>
                  <a:pt x="144" y="0"/>
                </a:moveTo>
                <a:cubicBezTo>
                  <a:pt x="145" y="38"/>
                  <a:pt x="157" y="150"/>
                  <a:pt x="151" y="226"/>
                </a:cubicBezTo>
                <a:cubicBezTo>
                  <a:pt x="145" y="302"/>
                  <a:pt x="135" y="385"/>
                  <a:pt x="110" y="459"/>
                </a:cubicBezTo>
                <a:cubicBezTo>
                  <a:pt x="85" y="533"/>
                  <a:pt x="23" y="628"/>
                  <a:pt x="0" y="672"/>
                </a:cubicBezTo>
              </a:path>
            </a:pathLst>
          </a:custGeom>
          <a:noFill/>
          <a:ln w="38100" cmpd="sng">
            <a:solidFill>
              <a:srgbClr val="0033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10638" name="Freeform 14"/>
          <p:cNvSpPr>
            <a:spLocks/>
          </p:cNvSpPr>
          <p:nvPr/>
        </p:nvSpPr>
        <p:spPr bwMode="auto">
          <a:xfrm>
            <a:off x="2549525" y="2725738"/>
            <a:ext cx="115888" cy="184150"/>
          </a:xfrm>
          <a:custGeom>
            <a:avLst/>
            <a:gdLst>
              <a:gd name="T0" fmla="*/ 0 w 96"/>
              <a:gd name="T1" fmla="*/ 0 h 144"/>
              <a:gd name="T2" fmla="*/ 75 w 96"/>
              <a:gd name="T3" fmla="*/ 55 h 144"/>
              <a:gd name="T4" fmla="*/ 96 w 96"/>
              <a:gd name="T5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6" h="144">
                <a:moveTo>
                  <a:pt x="0" y="0"/>
                </a:moveTo>
                <a:cubicBezTo>
                  <a:pt x="12" y="9"/>
                  <a:pt x="59" y="31"/>
                  <a:pt x="75" y="55"/>
                </a:cubicBezTo>
                <a:cubicBezTo>
                  <a:pt x="91" y="79"/>
                  <a:pt x="92" y="126"/>
                  <a:pt x="96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10639" name="Text Box 15"/>
          <p:cNvSpPr txBox="1">
            <a:spLocks noChangeArrowheads="1"/>
          </p:cNvSpPr>
          <p:nvPr/>
        </p:nvSpPr>
        <p:spPr bwMode="auto">
          <a:xfrm>
            <a:off x="2555875" y="2565400"/>
            <a:ext cx="309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en-US" altLang="zh-CN" sz="20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endParaRPr kumimoji="1" lang="en-US" altLang="zh-CN" sz="2000" b="1" baseline="-25000">
              <a:latin typeface="Times New Roman" panose="02020603050405020304" pitchFamily="18" charset="0"/>
            </a:endParaRPr>
          </a:p>
        </p:txBody>
      </p:sp>
      <p:sp>
        <p:nvSpPr>
          <p:cNvPr id="410640" name="Text Box 16"/>
          <p:cNvSpPr txBox="1">
            <a:spLocks noChangeArrowheads="1"/>
          </p:cNvSpPr>
          <p:nvPr/>
        </p:nvSpPr>
        <p:spPr bwMode="auto">
          <a:xfrm>
            <a:off x="2563813" y="2035175"/>
            <a:ext cx="517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en-US" altLang="zh-CN" sz="2000" b="1" i="1">
                <a:latin typeface="Times New Roman" panose="02020603050405020304" pitchFamily="18" charset="0"/>
                <a:sym typeface="Symbol" panose="05050102010706020507" pitchFamily="18" charset="2"/>
              </a:rPr>
              <a:t>+q</a:t>
            </a:r>
            <a:endParaRPr kumimoji="1" lang="en-US" altLang="zh-CN" sz="2000" b="1" baseline="-25000">
              <a:latin typeface="Times New Roman" panose="02020603050405020304" pitchFamily="18" charset="0"/>
            </a:endParaRPr>
          </a:p>
        </p:txBody>
      </p:sp>
      <p:sp>
        <p:nvSpPr>
          <p:cNvPr id="410641" name="Text Box 17"/>
          <p:cNvSpPr txBox="1">
            <a:spLocks noChangeArrowheads="1"/>
          </p:cNvSpPr>
          <p:nvPr/>
        </p:nvSpPr>
        <p:spPr bwMode="auto">
          <a:xfrm>
            <a:off x="1439863" y="3273425"/>
            <a:ext cx="517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en-US" altLang="zh-CN" sz="2000" b="1" i="1"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kumimoji="1" lang="en-US" altLang="zh-CN" sz="2000" b="1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kumimoji="1" lang="en-US" altLang="zh-CN" sz="2000" b="1" baseline="-25000">
              <a:latin typeface="Times New Roman" panose="02020603050405020304" pitchFamily="18" charset="0"/>
            </a:endParaRPr>
          </a:p>
        </p:txBody>
      </p:sp>
      <p:sp>
        <p:nvSpPr>
          <p:cNvPr id="410642" name="Text Box 18"/>
          <p:cNvSpPr txBox="1">
            <a:spLocks noChangeArrowheads="1"/>
          </p:cNvSpPr>
          <p:nvPr/>
        </p:nvSpPr>
        <p:spPr bwMode="auto">
          <a:xfrm>
            <a:off x="1973263" y="2543175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en-US" altLang="zh-CN" sz="20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1" lang="en-US" altLang="zh-CN" sz="20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endParaRPr kumimoji="1" lang="en-US" altLang="zh-CN" sz="2000" b="1" baseline="-25000">
              <a:latin typeface="Times New Roman" panose="02020603050405020304" pitchFamily="18" charset="0"/>
            </a:endParaRPr>
          </a:p>
        </p:txBody>
      </p:sp>
      <p:sp>
        <p:nvSpPr>
          <p:cNvPr id="410643" name="Text Box 19"/>
          <p:cNvSpPr txBox="1">
            <a:spLocks noChangeArrowheads="1"/>
          </p:cNvSpPr>
          <p:nvPr/>
        </p:nvSpPr>
        <p:spPr bwMode="auto">
          <a:xfrm>
            <a:off x="3203575" y="2924175"/>
            <a:ext cx="309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en-US" altLang="zh-CN" sz="2000" b="1" i="1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endParaRPr kumimoji="1" lang="en-US" altLang="zh-CN" sz="2000" b="1" baseline="-25000">
              <a:latin typeface="Times New Roman" panose="02020603050405020304" pitchFamily="18" charset="0"/>
            </a:endParaRPr>
          </a:p>
        </p:txBody>
      </p:sp>
      <p:sp>
        <p:nvSpPr>
          <p:cNvPr id="410644" name="Text Box 20"/>
          <p:cNvSpPr txBox="1">
            <a:spLocks noChangeArrowheads="1"/>
          </p:cNvSpPr>
          <p:nvPr/>
        </p:nvSpPr>
        <p:spPr bwMode="auto">
          <a:xfrm>
            <a:off x="3875088" y="2565400"/>
            <a:ext cx="309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en-US" altLang="zh-CN" sz="20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endParaRPr kumimoji="1" lang="en-US" altLang="zh-CN" sz="2000" b="1" baseline="-25000">
              <a:latin typeface="Times New Roman" panose="02020603050405020304" pitchFamily="18" charset="0"/>
            </a:endParaRPr>
          </a:p>
        </p:txBody>
      </p:sp>
      <p:sp>
        <p:nvSpPr>
          <p:cNvPr id="410645" name="Text Box 21"/>
          <p:cNvSpPr txBox="1">
            <a:spLocks noChangeArrowheads="1"/>
          </p:cNvSpPr>
          <p:nvPr/>
        </p:nvSpPr>
        <p:spPr bwMode="auto">
          <a:xfrm>
            <a:off x="3348038" y="2349500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en-US" altLang="zh-CN" sz="20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1" lang="en-US" altLang="zh-CN" sz="20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kumimoji="1" lang="en-US" altLang="zh-CN" sz="2000" b="1" baseline="-25000">
              <a:latin typeface="Times New Roman" panose="02020603050405020304" pitchFamily="18" charset="0"/>
            </a:endParaRPr>
          </a:p>
        </p:txBody>
      </p:sp>
      <p:sp>
        <p:nvSpPr>
          <p:cNvPr id="410646" name="Text Box 22"/>
          <p:cNvSpPr txBox="1">
            <a:spLocks noChangeArrowheads="1"/>
          </p:cNvSpPr>
          <p:nvPr/>
        </p:nvSpPr>
        <p:spPr bwMode="auto">
          <a:xfrm>
            <a:off x="755650" y="2982913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en-US" altLang="zh-CN" sz="20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1" lang="en-US" altLang="zh-CN" sz="20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kumimoji="1" lang="en-US" altLang="zh-CN" sz="2000" b="1" baseline="-25000">
              <a:latin typeface="Times New Roman" panose="02020603050405020304" pitchFamily="18" charset="0"/>
            </a:endParaRPr>
          </a:p>
        </p:txBody>
      </p:sp>
      <p:grpSp>
        <p:nvGrpSpPr>
          <p:cNvPr id="410680" name="Group 56"/>
          <p:cNvGrpSpPr>
            <a:grpSpLocks/>
          </p:cNvGrpSpPr>
          <p:nvPr/>
        </p:nvGrpSpPr>
        <p:grpSpPr bwMode="auto">
          <a:xfrm>
            <a:off x="5262563" y="2108200"/>
            <a:ext cx="3263900" cy="1752600"/>
            <a:chOff x="3315" y="1328"/>
            <a:chExt cx="2056" cy="1104"/>
          </a:xfrm>
        </p:grpSpPr>
        <p:sp>
          <p:nvSpPr>
            <p:cNvPr id="410648" name="Line 24"/>
            <p:cNvSpPr>
              <a:spLocks noChangeShapeType="1"/>
            </p:cNvSpPr>
            <p:nvPr/>
          </p:nvSpPr>
          <p:spPr bwMode="auto">
            <a:xfrm rot="-10800000">
              <a:off x="3408" y="2205"/>
              <a:ext cx="40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0649" name="Line 25"/>
            <p:cNvSpPr>
              <a:spLocks noChangeShapeType="1"/>
            </p:cNvSpPr>
            <p:nvPr/>
          </p:nvSpPr>
          <p:spPr bwMode="auto">
            <a:xfrm>
              <a:off x="4776" y="1570"/>
              <a:ext cx="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0650" name="AutoShape 26"/>
            <p:cNvSpPr>
              <a:spLocks noChangeArrowheads="1"/>
            </p:cNvSpPr>
            <p:nvPr/>
          </p:nvSpPr>
          <p:spPr bwMode="auto">
            <a:xfrm rot="-2061070">
              <a:off x="3680" y="1848"/>
              <a:ext cx="1180" cy="73"/>
            </a:xfrm>
            <a:prstGeom prst="rightArrow">
              <a:avLst>
                <a:gd name="adj1" fmla="val 50000"/>
                <a:gd name="adj2" fmla="val 40411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651" name="Oval 27"/>
            <p:cNvSpPr>
              <a:spLocks noChangeArrowheads="1"/>
            </p:cNvSpPr>
            <p:nvPr/>
          </p:nvSpPr>
          <p:spPr bwMode="auto">
            <a:xfrm>
              <a:off x="3757" y="2160"/>
              <a:ext cx="109" cy="94"/>
            </a:xfrm>
            <a:prstGeom prst="ellipse">
              <a:avLst/>
            </a:prstGeom>
            <a:gradFill rotWithShape="0">
              <a:gsLst>
                <a:gs pos="0">
                  <a:srgbClr val="33CC33"/>
                </a:gs>
                <a:gs pos="100000">
                  <a:schemeClr val="bg2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652" name="Oval 28"/>
            <p:cNvSpPr>
              <a:spLocks noChangeArrowheads="1"/>
            </p:cNvSpPr>
            <p:nvPr/>
          </p:nvSpPr>
          <p:spPr bwMode="auto">
            <a:xfrm>
              <a:off x="4692" y="1525"/>
              <a:ext cx="110" cy="94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9A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653" name="Line 29"/>
            <p:cNvSpPr>
              <a:spLocks noChangeShapeType="1"/>
            </p:cNvSpPr>
            <p:nvPr/>
          </p:nvSpPr>
          <p:spPr bwMode="auto">
            <a:xfrm>
              <a:off x="3321" y="1896"/>
              <a:ext cx="2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0654" name="Line 30"/>
            <p:cNvSpPr>
              <a:spLocks noChangeShapeType="1"/>
            </p:cNvSpPr>
            <p:nvPr/>
          </p:nvSpPr>
          <p:spPr bwMode="auto">
            <a:xfrm>
              <a:off x="3321" y="1328"/>
              <a:ext cx="2037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0655" name="Line 31"/>
            <p:cNvSpPr>
              <a:spLocks noChangeShapeType="1"/>
            </p:cNvSpPr>
            <p:nvPr/>
          </p:nvSpPr>
          <p:spPr bwMode="auto">
            <a:xfrm flipV="1">
              <a:off x="3321" y="2211"/>
              <a:ext cx="2000" cy="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0657" name="Freeform 33"/>
            <p:cNvSpPr>
              <a:spLocks/>
            </p:cNvSpPr>
            <p:nvPr/>
          </p:nvSpPr>
          <p:spPr bwMode="auto">
            <a:xfrm>
              <a:off x="4448" y="1801"/>
              <a:ext cx="73" cy="95"/>
            </a:xfrm>
            <a:custGeom>
              <a:avLst/>
              <a:gdLst>
                <a:gd name="T0" fmla="*/ 0 w 96"/>
                <a:gd name="T1" fmla="*/ 0 h 144"/>
                <a:gd name="T2" fmla="*/ 75 w 96"/>
                <a:gd name="T3" fmla="*/ 55 h 144"/>
                <a:gd name="T4" fmla="*/ 96 w 96"/>
                <a:gd name="T5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44">
                  <a:moveTo>
                    <a:pt x="0" y="0"/>
                  </a:moveTo>
                  <a:cubicBezTo>
                    <a:pt x="12" y="9"/>
                    <a:pt x="59" y="31"/>
                    <a:pt x="75" y="55"/>
                  </a:cubicBezTo>
                  <a:cubicBezTo>
                    <a:pt x="91" y="79"/>
                    <a:pt x="92" y="126"/>
                    <a:pt x="96" y="14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0658" name="Text Box 34"/>
            <p:cNvSpPr txBox="1">
              <a:spLocks noChangeArrowheads="1"/>
            </p:cNvSpPr>
            <p:nvPr/>
          </p:nvSpPr>
          <p:spPr bwMode="auto">
            <a:xfrm>
              <a:off x="4471" y="1682"/>
              <a:ext cx="1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kumimoji="1" lang="en-US" altLang="zh-CN" sz="20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10659" name="Text Box 35"/>
            <p:cNvSpPr txBox="1">
              <a:spLocks noChangeArrowheads="1"/>
            </p:cNvSpPr>
            <p:nvPr/>
          </p:nvSpPr>
          <p:spPr bwMode="auto">
            <a:xfrm>
              <a:off x="4422" y="1366"/>
              <a:ext cx="32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+q</a:t>
              </a:r>
              <a:endParaRPr kumimoji="1" lang="en-US" altLang="zh-CN" sz="20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10660" name="Text Box 36"/>
            <p:cNvSpPr txBox="1">
              <a:spLocks noChangeArrowheads="1"/>
            </p:cNvSpPr>
            <p:nvPr/>
          </p:nvSpPr>
          <p:spPr bwMode="auto">
            <a:xfrm>
              <a:off x="3742" y="2129"/>
              <a:ext cx="3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000" b="1" i="1">
                  <a:latin typeface="Symbol" panose="05050102010706020507" pitchFamily="18" charset="2"/>
                  <a:sym typeface="Symbol" panose="05050102010706020507" pitchFamily="18" charset="2"/>
                </a:rPr>
                <a:t>-</a:t>
              </a:r>
              <a:r>
                <a: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q</a:t>
              </a:r>
              <a:endParaRPr kumimoji="1" lang="en-US" altLang="zh-CN" sz="20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10661" name="Text Box 37"/>
            <p:cNvSpPr txBox="1">
              <a:spLocks noChangeArrowheads="1"/>
            </p:cNvSpPr>
            <p:nvPr/>
          </p:nvSpPr>
          <p:spPr bwMode="auto">
            <a:xfrm>
              <a:off x="4085" y="1707"/>
              <a:ext cx="2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r>
                <a:rPr kumimoji="1" lang="en-US" altLang="zh-CN" sz="2000" b="1" i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endParaRPr kumimoji="1" lang="en-US" altLang="zh-CN" sz="20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10662" name="Text Box 38"/>
            <p:cNvSpPr txBox="1">
              <a:spLocks noChangeArrowheads="1"/>
            </p:cNvSpPr>
            <p:nvPr/>
          </p:nvSpPr>
          <p:spPr bwMode="auto">
            <a:xfrm>
              <a:off x="3539" y="1549"/>
              <a:ext cx="1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M</a:t>
              </a:r>
              <a:endParaRPr kumimoji="1" lang="en-US" altLang="zh-CN" sz="20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10663" name="Text Box 39"/>
            <p:cNvSpPr txBox="1">
              <a:spLocks noChangeArrowheads="1"/>
            </p:cNvSpPr>
            <p:nvPr/>
          </p:nvSpPr>
          <p:spPr bwMode="auto">
            <a:xfrm>
              <a:off x="5176" y="1842"/>
              <a:ext cx="1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endParaRPr kumimoji="1" lang="en-US" altLang="zh-CN" sz="20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10664" name="Text Box 40"/>
            <p:cNvSpPr txBox="1">
              <a:spLocks noChangeArrowheads="1"/>
            </p:cNvSpPr>
            <p:nvPr/>
          </p:nvSpPr>
          <p:spPr bwMode="auto">
            <a:xfrm>
              <a:off x="4967" y="1542"/>
              <a:ext cx="2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b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kumimoji="1" lang="en-US" altLang="zh-CN" sz="20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10665" name="Text Box 41"/>
            <p:cNvSpPr txBox="1">
              <a:spLocks noChangeArrowheads="1"/>
            </p:cNvSpPr>
            <p:nvPr/>
          </p:nvSpPr>
          <p:spPr bwMode="auto">
            <a:xfrm>
              <a:off x="3315" y="1924"/>
              <a:ext cx="2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b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endParaRPr kumimoji="1" lang="en-US" altLang="zh-CN" sz="2000" b="1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410670" name="Text Box 46"/>
          <p:cNvSpPr txBox="1">
            <a:spLocks noChangeArrowheads="1"/>
          </p:cNvSpPr>
          <p:nvPr/>
        </p:nvSpPr>
        <p:spPr bwMode="auto">
          <a:xfrm>
            <a:off x="4140200" y="1628775"/>
            <a:ext cx="107950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>
              <a:latin typeface="Tahoma" panose="020B0604030504040204" pitchFamily="34" charset="0"/>
            </a:endParaRPr>
          </a:p>
        </p:txBody>
      </p:sp>
      <p:sp>
        <p:nvSpPr>
          <p:cNvPr id="410673" name="Rectangle 49"/>
          <p:cNvSpPr>
            <a:spLocks noGrp="1" noChangeArrowheads="1"/>
          </p:cNvSpPr>
          <p:nvPr>
            <p:ph sz="half" idx="1"/>
          </p:nvPr>
        </p:nvSpPr>
        <p:spPr>
          <a:xfrm>
            <a:off x="250825" y="549275"/>
            <a:ext cx="8353425" cy="125253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电偶极子在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中的受力</a:t>
            </a:r>
            <a:r>
              <a:rPr kumimoji="1"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 i="1" dirty="0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1" lang="en-US" altLang="zh-CN" sz="2800" dirty="0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=(</a:t>
            </a:r>
            <a:r>
              <a:rPr kumimoji="1" lang="en-US" altLang="zh-CN" sz="2800" b="1" i="1" dirty="0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1" lang="en-US" altLang="zh-CN" sz="2800" b="1" dirty="0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kumimoji="1" lang="en-US" altLang="zh-CN" sz="2800" dirty="0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)</a:t>
            </a:r>
            <a:r>
              <a:rPr kumimoji="1" lang="en-US" altLang="zh-CN" sz="2800" b="1" i="1" dirty="0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zh-CN" sz="2800" dirty="0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en-US" altLang="zh-CN" sz="2800" dirty="0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1" lang="en-US" altLang="zh-CN" sz="2800" b="1" i="1" dirty="0">
              <a:solidFill>
                <a:srgbClr val="FF3399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电偶极子在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中的力矩 </a:t>
            </a:r>
            <a:r>
              <a:rPr kumimoji="1" lang="en-US" altLang="zh-CN" sz="2800" b="1" i="1" dirty="0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kumimoji="1" lang="en-US" altLang="zh-CN" sz="2800" dirty="0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b="1" i="1" dirty="0" err="1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1" lang="en-US" altLang="zh-CN" sz="2800" dirty="0" err="1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1" lang="en-US" altLang="zh-CN" sz="2800" b="1" i="1" dirty="0" err="1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410675" name="Rectangle 51"/>
          <p:cNvSpPr>
            <a:spLocks noGrp="1" noChangeArrowheads="1"/>
          </p:cNvSpPr>
          <p:nvPr>
            <p:ph sz="half" idx="2"/>
          </p:nvPr>
        </p:nvSpPr>
        <p:spPr>
          <a:xfrm>
            <a:off x="250825" y="3933825"/>
            <a:ext cx="8569325" cy="2192338"/>
          </a:xfrm>
        </p:spPr>
        <p:txBody>
          <a:bodyPr/>
          <a:lstStyle/>
          <a:p>
            <a:pPr algn="ctr">
              <a:lnSpc>
                <a:spcPct val="120000"/>
              </a:lnSpc>
              <a:buFontTx/>
              <a:buNone/>
            </a:pPr>
            <a:r>
              <a:rPr kumimoji="1" lang="en-US" altLang="zh-CN" sz="2800" b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kumimoji="1" lang="en-US" altLang="zh-CN" sz="2800" b="1" i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=0</a:t>
            </a:r>
            <a:r>
              <a:rPr kumimoji="1" lang="en-US" altLang="zh-CN" sz="2800" b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(</a:t>
            </a:r>
            <a:r>
              <a:rPr kumimoji="1" lang="zh-CN" altLang="en-US" sz="2800" b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均匀电场</a:t>
            </a:r>
            <a:r>
              <a:rPr kumimoji="1" lang="en-US" altLang="zh-CN" sz="2800" b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zh-CN" altLang="en-US" sz="2800" b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；               </a:t>
            </a:r>
            <a:r>
              <a:rPr kumimoji="1" lang="en-US" altLang="zh-CN" sz="2800" b="1" i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0</a:t>
            </a:r>
            <a:r>
              <a:rPr kumimoji="1" lang="en-US" altLang="zh-CN" sz="2800" b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(</a:t>
            </a:r>
            <a:r>
              <a:rPr kumimoji="1" lang="zh-CN" altLang="en-US" sz="2800" b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非均匀电场</a:t>
            </a:r>
            <a:r>
              <a:rPr kumimoji="1" lang="en-US" altLang="zh-CN" sz="2800" b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  <a:p>
            <a:pPr>
              <a:lnSpc>
                <a:spcPct val="120000"/>
              </a:lnSpc>
              <a:spcBef>
                <a:spcPct val="8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均匀外场中电偶极子不受力</a:t>
            </a:r>
          </a:p>
          <a:p>
            <a:pPr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在外电场力矩作用下，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latin typeface="Times New Roman" panose="02020603050405020304" pitchFamily="18" charset="0"/>
              </a:rPr>
              <a:t>总是向与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zh-CN" altLang="en-US" sz="2800" b="1">
                <a:latin typeface="Times New Roman" panose="02020603050405020304" pitchFamily="18" charset="0"/>
              </a:rPr>
              <a:t>一致的方向偏转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255291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60000" y="612000"/>
            <a:ext cx="5256213" cy="5975350"/>
          </a:xfrm>
          <a:noFill/>
        </p:spPr>
        <p:txBody>
          <a:bodyPr/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4. </a:t>
            </a:r>
            <a:r>
              <a:rPr lang="zh-CN" altLang="en-US" sz="2800" b="1" dirty="0">
                <a:solidFill>
                  <a:srgbClr val="FF3399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极化的微观机制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kumimoji="1" lang="en-US" altLang="zh-CN" sz="2800" b="1" dirty="0">
                <a:solidFill>
                  <a:srgbClr val="080808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800" b="1" dirty="0">
                <a:solidFill>
                  <a:srgbClr val="080808"/>
                </a:solidFill>
                <a:latin typeface="Times New Roman" panose="02020603050405020304" pitchFamily="18" charset="0"/>
              </a:rPr>
              <a:t>无极分子的极化</a:t>
            </a:r>
          </a:p>
          <a:p>
            <a:pPr>
              <a:lnSpc>
                <a:spcPct val="120000"/>
              </a:lnSpc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无外电场时</a:t>
            </a:r>
            <a:r>
              <a:rPr kumimoji="1" lang="zh-CN" altLang="en-US" sz="2800" b="1" dirty="0">
                <a:solidFill>
                  <a:srgbClr val="080808"/>
                </a:solidFill>
                <a:latin typeface="Times New Roman" panose="02020603050405020304" pitchFamily="18" charset="0"/>
              </a:rPr>
              <a:t>，无极分子的正、负电荷重心重合，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分子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=0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→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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分子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=0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</a:p>
          <a:p>
            <a:pPr>
              <a:lnSpc>
                <a:spcPct val="120000"/>
              </a:lnSpc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外电场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使得正、负电荷中心发生位移，不再重合，形成电偶极子，表面出现</a:t>
            </a:r>
            <a:r>
              <a:rPr kumimoji="1" lang="zh-CN" altLang="en-US" sz="28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束缚电荷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</a:p>
          <a:p>
            <a:pPr>
              <a:lnSpc>
                <a:spcPct val="120000"/>
              </a:lnSpc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极化是电荷中心相对位移的结果，故称为</a:t>
            </a:r>
            <a:r>
              <a:rPr kumimoji="1" lang="zh-CN" altLang="en-US" sz="28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位移极化</a:t>
            </a:r>
            <a:r>
              <a:rPr kumimoji="1" lang="zh-CN" altLang="en-US" sz="2800" b="1" dirty="0">
                <a:solidFill>
                  <a:srgbClr val="000000"/>
                </a:solidFill>
              </a:rPr>
              <a:t>。</a:t>
            </a:r>
          </a:p>
        </p:txBody>
      </p:sp>
      <p:pic>
        <p:nvPicPr>
          <p:cNvPr id="411733" name="Picture 8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249" y="1160748"/>
            <a:ext cx="3081332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35934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734" name="Rectangle 62"/>
          <p:cNvSpPr>
            <a:spLocks noGrp="1" noChangeArrowheads="1"/>
          </p:cNvSpPr>
          <p:nvPr>
            <p:ph type="body" sz="half" idx="1"/>
          </p:nvPr>
        </p:nvSpPr>
        <p:spPr>
          <a:xfrm>
            <a:off x="107504" y="1160748"/>
            <a:ext cx="5292588" cy="5023867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20000"/>
              </a:lnSpc>
              <a:buFontTx/>
              <a:buNone/>
            </a:pPr>
            <a:r>
              <a:rPr kumimoji="1" lang="en-US" altLang="zh-CN" sz="2600" b="1" dirty="0">
                <a:solidFill>
                  <a:srgbClr val="080808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600" b="1" dirty="0">
                <a:solidFill>
                  <a:srgbClr val="080808"/>
                </a:solidFill>
                <a:latin typeface="Times New Roman" panose="02020603050405020304" pitchFamily="18" charset="0"/>
              </a:rPr>
              <a:t>有极分子的极化</a:t>
            </a:r>
          </a:p>
          <a:p>
            <a:pPr>
              <a:lnSpc>
                <a:spcPct val="120000"/>
              </a:lnSpc>
            </a:pPr>
            <a:r>
              <a:rPr kumimoji="1"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无外电场时，</a:t>
            </a:r>
            <a:r>
              <a:rPr kumimoji="1" lang="zh-CN" altLang="en-US" sz="2600" b="1" dirty="0">
                <a:solidFill>
                  <a:srgbClr val="080808"/>
                </a:solidFill>
                <a:latin typeface="Times New Roman" panose="02020603050405020304" pitchFamily="18" charset="0"/>
              </a:rPr>
              <a:t>有极分子就相当于一个电偶极子，只是由于热运动而排列无序。</a:t>
            </a:r>
          </a:p>
          <a:p>
            <a:pPr algn="ctr">
              <a:buFontTx/>
              <a:buNone/>
            </a:pPr>
            <a:r>
              <a:rPr kumimoji="1"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6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分子</a:t>
            </a:r>
            <a:r>
              <a:rPr kumimoji="1"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kumimoji="1"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 </a:t>
            </a:r>
            <a:r>
              <a:rPr kumimoji="1"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6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分子</a:t>
            </a:r>
            <a:r>
              <a:rPr kumimoji="1"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=0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endParaRPr kumimoji="1" lang="zh-CN" altLang="en-US" sz="2600" b="1" dirty="0">
              <a:solidFill>
                <a:srgbClr val="080808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外电场</a:t>
            </a:r>
            <a:r>
              <a:rPr kumimoji="1" lang="zh-CN" altLang="en-US" sz="2600" b="1" dirty="0">
                <a:solidFill>
                  <a:srgbClr val="080808"/>
                </a:solidFill>
                <a:latin typeface="Times New Roman" panose="02020603050405020304" pitchFamily="18" charset="0"/>
              </a:rPr>
              <a:t>使得分子电偶极矩受力矩作用而转向外场方向，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表面出现</a:t>
            </a:r>
            <a:r>
              <a:rPr kumimoji="1" lang="zh-CN" altLang="en-US" sz="26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束缚电荷</a:t>
            </a:r>
            <a:r>
              <a:rPr kumimoji="1" lang="zh-CN" altLang="en-US" sz="2600" b="1" dirty="0">
                <a:solidFill>
                  <a:srgbClr val="080808"/>
                </a:solidFill>
                <a:latin typeface="Times New Roman" panose="02020603050405020304" pitchFamily="18" charset="0"/>
              </a:rPr>
              <a:t>。</a:t>
            </a:r>
          </a:p>
          <a:p>
            <a:pPr>
              <a:lnSpc>
                <a:spcPct val="120000"/>
              </a:lnSpc>
            </a:pPr>
            <a:r>
              <a:rPr kumimoji="1" lang="zh-CN" altLang="en-US" sz="2600" b="1" dirty="0">
                <a:solidFill>
                  <a:srgbClr val="080808"/>
                </a:solidFill>
                <a:latin typeface="Times New Roman" panose="02020603050405020304" pitchFamily="18" charset="0"/>
              </a:rPr>
              <a:t>极化是分子电偶极矩转向的结果，故称为</a:t>
            </a:r>
            <a:r>
              <a:rPr kumimoji="1" lang="zh-CN" altLang="en-US" sz="26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取向极化</a:t>
            </a:r>
            <a:r>
              <a:rPr kumimoji="1" lang="zh-CN" altLang="en-US" sz="2600" b="1" dirty="0">
                <a:solidFill>
                  <a:srgbClr val="080808"/>
                </a:solidFill>
                <a:latin typeface="Times New Roman" panose="02020603050405020304" pitchFamily="18" charset="0"/>
              </a:rPr>
              <a:t>。</a:t>
            </a:r>
          </a:p>
        </p:txBody>
      </p:sp>
      <p:pic>
        <p:nvPicPr>
          <p:cNvPr id="412741" name="Picture 6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92" y="1160748"/>
            <a:ext cx="3204356" cy="491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27635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idx="1"/>
          </p:nvPr>
        </p:nvSpPr>
        <p:spPr>
          <a:xfrm>
            <a:off x="179512" y="612303"/>
            <a:ext cx="8678354" cy="6228692"/>
          </a:xfrm>
          <a:noFill/>
        </p:spPr>
        <p:txBody>
          <a:bodyPr/>
          <a:lstStyle/>
          <a:p>
            <a:pPr>
              <a:lnSpc>
                <a:spcPct val="150000"/>
              </a:lnSpc>
              <a:buFontTx/>
              <a:buNone/>
            </a:pPr>
            <a:r>
              <a:rPr kumimoji="1" lang="en-US" altLang="zh-CN" sz="2000" b="1" dirty="0"/>
              <a:t>***</a:t>
            </a:r>
            <a:r>
              <a:rPr kumimoji="1" lang="zh-CN" altLang="en-US" sz="2000" b="1" dirty="0"/>
              <a:t>几点说明：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b="1" dirty="0"/>
              <a:t>在外电场中均匀介质内</a:t>
            </a:r>
            <a:r>
              <a:rPr kumimoji="1" lang="zh-CN" altLang="en-US" sz="2000" b="1" dirty="0">
                <a:solidFill>
                  <a:srgbClr val="FF3399"/>
                </a:solidFill>
              </a:rPr>
              <a:t>电中性</a:t>
            </a:r>
            <a:r>
              <a:rPr kumimoji="1" lang="zh-CN" altLang="en-US" sz="2000" b="1" dirty="0"/>
              <a:t>，</a:t>
            </a:r>
            <a:r>
              <a:rPr kumimoji="1" lang="zh-CN" altLang="en-US" sz="2000" b="1" dirty="0">
                <a:solidFill>
                  <a:srgbClr val="FF3399"/>
                </a:solidFill>
              </a:rPr>
              <a:t>表面</a:t>
            </a:r>
            <a:r>
              <a:rPr kumimoji="1" lang="zh-CN" altLang="en-US" sz="2000" b="1" dirty="0"/>
              <a:t>出现</a:t>
            </a:r>
            <a:r>
              <a:rPr kumimoji="1" lang="zh-CN" altLang="en-US" sz="2000" b="1" dirty="0">
                <a:solidFill>
                  <a:srgbClr val="FF3399"/>
                </a:solidFill>
              </a:rPr>
              <a:t>极化电荷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b="1" dirty="0"/>
              <a:t>极化电荷不能在电介质内部自由移动，更不能转移到到其它带电体（对比：导体中的</a:t>
            </a:r>
            <a:r>
              <a:rPr kumimoji="1" lang="zh-CN" altLang="en-US" sz="2000" b="1" dirty="0">
                <a:solidFill>
                  <a:srgbClr val="FF3399"/>
                </a:solidFill>
              </a:rPr>
              <a:t>自由电荷</a:t>
            </a:r>
            <a:r>
              <a:rPr kumimoji="1" lang="zh-CN" altLang="en-US" sz="2000" b="1" dirty="0"/>
              <a:t>）。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b="1" dirty="0"/>
              <a:t>介质极化过程中无电荷宏观移动，只有微观</a:t>
            </a:r>
            <a:r>
              <a:rPr lang="zh-CN" altLang="en-US" sz="2000" b="1" dirty="0">
                <a:solidFill>
                  <a:srgbClr val="FF3399"/>
                </a:solidFill>
              </a:rPr>
              <a:t>束缚电荷</a:t>
            </a:r>
            <a:r>
              <a:rPr kumimoji="1" lang="zh-CN" altLang="en-US" sz="2000" b="1" dirty="0"/>
              <a:t>的变化；（对比：静电感应有电荷的宏观移动，出现感应电荷）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b="1" dirty="0">
                <a:latin typeface="华文新魏" panose="02010800040101010101" pitchFamily="2" charset="-122"/>
              </a:rPr>
              <a:t>无外场时分子的电偶极矩称</a:t>
            </a:r>
            <a:r>
              <a:rPr kumimoji="1" lang="zh-CN" altLang="en-US" sz="2000" b="1" dirty="0">
                <a:solidFill>
                  <a:srgbClr val="FF3399"/>
                </a:solidFill>
                <a:latin typeface="华文新魏" panose="02010800040101010101" pitchFamily="2" charset="-122"/>
              </a:rPr>
              <a:t>固有电偶极矩</a:t>
            </a:r>
            <a:r>
              <a:rPr kumimoji="1" lang="zh-CN" altLang="en-US" sz="2000" b="1" dirty="0">
                <a:latin typeface="华文新魏" panose="02010800040101010101" pitchFamily="2" charset="-122"/>
              </a:rPr>
              <a:t>；外电场引起的电偶极矩称</a:t>
            </a:r>
            <a:r>
              <a:rPr kumimoji="1" lang="zh-CN" altLang="en-US" sz="2000" b="1" dirty="0">
                <a:solidFill>
                  <a:srgbClr val="FF3399"/>
                </a:solidFill>
                <a:latin typeface="华文新魏" panose="02010800040101010101" pitchFamily="2" charset="-122"/>
              </a:rPr>
              <a:t>感应电偶极矩</a:t>
            </a:r>
            <a:r>
              <a:rPr kumimoji="1" lang="zh-CN" altLang="en-US" sz="2000" b="1" dirty="0">
                <a:latin typeface="华文新魏" panose="02010800040101010101" pitchFamily="2" charset="-122"/>
              </a:rPr>
              <a:t>（远小于前者</a:t>
            </a:r>
            <a:r>
              <a:rPr kumimoji="1" lang="en-US" altLang="zh-CN" sz="2000" b="1" dirty="0">
                <a:latin typeface="华文新魏" panose="02010800040101010101" pitchFamily="2" charset="-122"/>
              </a:rPr>
              <a:t>)</a:t>
            </a:r>
            <a:r>
              <a:rPr kumimoji="1" lang="zh-CN" altLang="en-US" sz="2000" b="1" dirty="0">
                <a:latin typeface="华文新魏" panose="02010800040101010101" pitchFamily="2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b="1" dirty="0"/>
              <a:t>无极分子只有位移极化，感生电矩的方向沿外场方向；有极分子有两种极化，取向极化</a:t>
            </a:r>
            <a:r>
              <a:rPr kumimoji="1" lang="en-US" altLang="zh-CN" sz="20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&gt;&gt;</a:t>
            </a:r>
            <a:r>
              <a:rPr kumimoji="1" lang="zh-CN" altLang="en-US" sz="2000" b="1" dirty="0"/>
              <a:t>位移极化。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b="1" dirty="0"/>
              <a:t>极化电荷的电场使介质中实际电场</a:t>
            </a:r>
            <a:r>
              <a:rPr lang="zh-CN" altLang="en-US" sz="2000" b="1" dirty="0">
                <a:solidFill>
                  <a:srgbClr val="FF3399"/>
                </a:solidFill>
                <a:latin typeface="华文新魏" panose="02010800040101010101" pitchFamily="2" charset="-122"/>
              </a:rPr>
              <a:t>减弱</a:t>
            </a:r>
            <a:r>
              <a:rPr kumimoji="1" lang="zh-CN" altLang="en-US" sz="2000" b="1" dirty="0"/>
              <a:t>，电中性</a:t>
            </a:r>
            <a:r>
              <a:rPr lang="zh-CN" altLang="en-US" sz="2000" b="1" dirty="0">
                <a:solidFill>
                  <a:srgbClr val="FF3399"/>
                </a:solidFill>
                <a:latin typeface="华文新魏" panose="02010800040101010101" pitchFamily="2" charset="-122"/>
              </a:rPr>
              <a:t>有电场</a:t>
            </a:r>
            <a:r>
              <a:rPr kumimoji="1" lang="zh-CN" altLang="en-US" sz="2000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244081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4772" name="Group 52"/>
          <p:cNvGraphicFramePr>
            <a:graphicFrameLocks noGrp="1"/>
          </p:cNvGraphicFramePr>
          <p:nvPr/>
        </p:nvGraphicFramePr>
        <p:xfrm>
          <a:off x="466725" y="1630363"/>
          <a:ext cx="8208963" cy="4391026"/>
        </p:xfrm>
        <a:graphic>
          <a:graphicData uri="http://schemas.openxmlformats.org/drawingml/2006/table">
            <a:tbl>
              <a:tblPr/>
              <a:tblGrid>
                <a:gridCol w="2014538">
                  <a:extLst>
                    <a:ext uri="{9D8B030D-6E8A-4147-A177-3AD203B41FA5}">
                      <a16:colId xmlns:a16="http://schemas.microsoft.com/office/drawing/2014/main" val="3314962229"/>
                    </a:ext>
                  </a:extLst>
                </a:gridCol>
                <a:gridCol w="3457575">
                  <a:extLst>
                    <a:ext uri="{9D8B030D-6E8A-4147-A177-3AD203B41FA5}">
                      <a16:colId xmlns:a16="http://schemas.microsoft.com/office/drawing/2014/main" val="2196881093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1310803238"/>
                    </a:ext>
                  </a:extLst>
                </a:gridCol>
              </a:tblGrid>
              <a:tr h="711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宋体" panose="02010600030101010101" pitchFamily="2" charset="-122"/>
                        </a:rPr>
                        <a:t>电介质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宋体" panose="02010600030101010101" pitchFamily="2" charset="-122"/>
                        </a:rPr>
                        <a:t>导体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29653"/>
                  </a:ext>
                </a:extLst>
              </a:tr>
              <a:tr h="728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宋体" panose="02010600030101010101" pitchFamily="2" charset="-122"/>
                        </a:rPr>
                        <a:t>导电性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宋体" panose="02010600030101010101" pitchFamily="2" charset="-122"/>
                        </a:rPr>
                        <a:t>不导电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宋体" panose="02010600030101010101" pitchFamily="2" charset="-122"/>
                        </a:rPr>
                        <a:t>导电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084718"/>
                  </a:ext>
                </a:extLst>
              </a:tr>
              <a:tr h="2159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宋体" panose="02010600030101010101" pitchFamily="2" charset="-122"/>
                        </a:rPr>
                        <a:t>在静电场中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宋体" panose="02010600030101010101" pitchFamily="2" charset="-122"/>
                        </a:rPr>
                        <a:t>电子和原子核在电场作用下在原子范围内作微观的相对位移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宋体" panose="02010600030101010101" pitchFamily="2" charset="-122"/>
                        </a:rPr>
                        <a:t>自由电子在电场作用下脱离所属原子作宏观移动   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313448"/>
                  </a:ext>
                </a:extLst>
              </a:tr>
              <a:tr h="792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宋体" panose="02010600030101010101" pitchFamily="2" charset="-122"/>
                        </a:rPr>
                        <a:t>静电平衡时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宋体" panose="02010600030101010101" pitchFamily="2" charset="-122"/>
                        </a:rPr>
                        <a:t>内部场强</a:t>
                      </a: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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宋体" panose="02010600030101010101" pitchFamily="2" charset="-122"/>
                        </a:rPr>
                        <a:t>内部场强</a:t>
                      </a:r>
                      <a:r>
                        <a:rPr kumimoji="0" lang="en-US" altLang="zh-CN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=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324321"/>
                  </a:ext>
                </a:extLst>
              </a:tr>
            </a:tbl>
          </a:graphicData>
        </a:graphic>
      </p:graphicFrame>
      <p:sp>
        <p:nvSpPr>
          <p:cNvPr id="414752" name="Rectangle 3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8229600" cy="647700"/>
          </a:xfrm>
        </p:spPr>
        <p:txBody>
          <a:bodyPr/>
          <a:lstStyle/>
          <a:p>
            <a:r>
              <a:rPr kumimoji="1" lang="zh-CN" altLang="en-US" sz="3200" b="1">
                <a:solidFill>
                  <a:srgbClr val="0000FF"/>
                </a:solidFill>
              </a:rPr>
              <a:t>电介质与导体的区别</a:t>
            </a:r>
          </a:p>
        </p:txBody>
      </p:sp>
    </p:spTree>
    <p:extLst>
      <p:ext uri="{BB962C8B-B14F-4D97-AF65-F5344CB8AC3E}">
        <p14:creationId xmlns:p14="http://schemas.microsoft.com/office/powerpoint/2010/main" val="39276972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43508" y="287759"/>
            <a:ext cx="8856984" cy="1008112"/>
          </a:xfrm>
        </p:spPr>
        <p:txBody>
          <a:bodyPr>
            <a:normAutofit/>
          </a:bodyPr>
          <a:lstStyle/>
          <a:p>
            <a:pPr lvl="0" eaLnBrk="0" hangingPunct="0">
              <a:defRPr/>
            </a:pPr>
            <a:r>
              <a:rPr kumimoji="1" lang="en-US" altLang="zh-CN" sz="3600" kern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§8  </a:t>
            </a:r>
            <a:r>
              <a:rPr kumimoji="1" lang="zh-CN" altLang="en-US" sz="3600" kern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电介质中的高斯定理、环路定理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755711" y="1564631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一、电介质中的电场强度</a:t>
            </a:r>
            <a:endParaRPr lang="zh-CN" altLang="en-US" sz="28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755711" y="2276872"/>
                <a:ext cx="4572000" cy="389760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0" indent="0" algn="l">
                  <a:lnSpc>
                    <a:spcPct val="125000"/>
                  </a:lnSpc>
                  <a:buNone/>
                </a:pPr>
                <a:r>
                  <a:rPr lang="zh-CN" altLang="en-US" sz="2400" dirty="0">
                    <a:ea typeface="仿宋" panose="02010609060101010101" pitchFamily="49" charset="-122"/>
                  </a:rPr>
                  <a:t>电介质被极化后，产生极化电荷，这些极化电荷要产生电场</a:t>
                </a:r>
                <a:r>
                  <a:rPr lang="en-US" altLang="zh-CN" sz="2400" dirty="0">
                    <a:ea typeface="仿宋" panose="02010609060101010101" pitchFamily="49" charset="-122"/>
                  </a:rPr>
                  <a:t>——</a:t>
                </a:r>
                <a:r>
                  <a:rPr lang="zh-CN" altLang="en-US" sz="2400" dirty="0">
                    <a:ea typeface="仿宋" panose="02010609060101010101" pitchFamily="49" charset="-122"/>
                  </a:rPr>
                  <a:t>附加电场，用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/>
                              </a:rPr>
                              <m:t>𝐸</m:t>
                            </m:r>
                          </m:e>
                        </m:acc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400" dirty="0">
                    <a:ea typeface="仿宋" panose="02010609060101010101" pitchFamily="49" charset="-122"/>
                  </a:rPr>
                  <a:t>表示。</a:t>
                </a:r>
                <a:endParaRPr lang="en-US" altLang="zh-CN" sz="2400" dirty="0">
                  <a:ea typeface="仿宋" panose="02010609060101010101" pitchFamily="49" charset="-122"/>
                </a:endParaRPr>
              </a:p>
              <a:p>
                <a:pPr marL="0" indent="0" algn="l">
                  <a:lnSpc>
                    <a:spcPct val="125000"/>
                  </a:lnSpc>
                  <a:buNone/>
                </a:pPr>
                <a:r>
                  <a:rPr lang="zh-CN" altLang="en-US" sz="2400" dirty="0">
                    <a:ea typeface="仿宋" panose="02010609060101010101" pitchFamily="49" charset="-122"/>
                  </a:rPr>
                  <a:t>电解质内部任意一点的电场强度</a:t>
                </a:r>
                <a:r>
                  <a:rPr lang="en-US" altLang="zh-CN" sz="2400" dirty="0">
                    <a:ea typeface="仿宋" panose="02010609060101010101" pitchFamily="49" charset="-122"/>
                  </a:rPr>
                  <a:t>E</a:t>
                </a:r>
                <a:r>
                  <a:rPr lang="zh-CN" altLang="en-US" sz="2400" dirty="0">
                    <a:ea typeface="仿宋" panose="02010609060101010101" pitchFamily="49" charset="-122"/>
                  </a:rPr>
                  <a:t>应等于极板上的自由电荷产生的电场强度</a:t>
                </a:r>
                <a:r>
                  <a:rPr lang="en-US" altLang="zh-CN" sz="2400" dirty="0">
                    <a:ea typeface="仿宋" panose="02010609060101010101" pitchFamily="49" charset="-122"/>
                  </a:rPr>
                  <a:t>E</a:t>
                </a:r>
                <a:r>
                  <a:rPr lang="en-US" altLang="zh-CN" sz="2400" baseline="-25000" dirty="0">
                    <a:ea typeface="仿宋" panose="02010609060101010101" pitchFamily="49" charset="-122"/>
                  </a:rPr>
                  <a:t>0</a:t>
                </a:r>
                <a:r>
                  <a:rPr lang="zh-CN" altLang="en-US" sz="2400" dirty="0">
                    <a:ea typeface="仿宋" panose="02010609060101010101" pitchFamily="49" charset="-122"/>
                  </a:rPr>
                  <a:t>与极化电荷产生的电场强度</a:t>
                </a:r>
                <a:r>
                  <a:rPr lang="en-US" altLang="zh-CN" sz="2400" dirty="0">
                    <a:ea typeface="仿宋" panose="02010609060101010101" pitchFamily="49" charset="-122"/>
                  </a:rPr>
                  <a:t>E’</a:t>
                </a:r>
                <a:r>
                  <a:rPr lang="zh-CN" altLang="en-US" sz="2400" dirty="0">
                    <a:ea typeface="仿宋" panose="02010609060101010101" pitchFamily="49" charset="-122"/>
                  </a:rPr>
                  <a:t>的矢量和：</a:t>
                </a:r>
                <a:endParaRPr lang="en-US" altLang="zh-CN" sz="2400" dirty="0">
                  <a:ea typeface="仿宋" panose="02010609060101010101" pitchFamily="49" charset="-122"/>
                </a:endParaRPr>
              </a:p>
              <a:p>
                <a:pPr marL="0" indent="0" algn="l">
                  <a:lnSpc>
                    <a:spcPct val="125000"/>
                  </a:lnSpc>
                  <a:buNone/>
                </a:pPr>
                <a:r>
                  <a:rPr lang="zh-CN" altLang="en-US" sz="2400" dirty="0">
                    <a:ea typeface="仿宋" panose="02010609060101010101" pitchFamily="49" charset="-122"/>
                  </a:rPr>
                  <a:t>         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/>
                          </a:rPr>
                          <m:t>𝐸</m:t>
                        </m:r>
                      </m:e>
                    </m:acc>
                    <m:r>
                      <a:rPr lang="en-US" altLang="zh-CN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/>
                              </a:rPr>
                              <m:t>𝐸</m:t>
                            </m:r>
                          </m:e>
                        </m:acc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CN" sz="2400" dirty="0">
                  <a:ea typeface="仿宋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711" y="2276872"/>
                <a:ext cx="4572000" cy="3897605"/>
              </a:xfrm>
              <a:prstGeom prst="rect">
                <a:avLst/>
              </a:prstGeom>
              <a:blipFill>
                <a:blip r:embed="rId2"/>
                <a:stretch>
                  <a:fillRect l="-2133" t="-626" r="-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5724128" y="1844824"/>
            <a:ext cx="3060340" cy="2405507"/>
            <a:chOff x="5724128" y="1844824"/>
            <a:chExt cx="3060340" cy="2405507"/>
          </a:xfrm>
        </p:grpSpPr>
        <p:grpSp>
          <p:nvGrpSpPr>
            <p:cNvPr id="10" name="Group 9"/>
            <p:cNvGrpSpPr/>
            <p:nvPr/>
          </p:nvGrpSpPr>
          <p:grpSpPr>
            <a:xfrm>
              <a:off x="5724128" y="1844824"/>
              <a:ext cx="3060340" cy="2405507"/>
              <a:chOff x="5724128" y="1844824"/>
              <a:chExt cx="3060340" cy="2405507"/>
            </a:xfrm>
          </p:grpSpPr>
          <p:pic>
            <p:nvPicPr>
              <p:cNvPr id="12" name="图片 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24128" y="1844824"/>
                <a:ext cx="3060340" cy="2405507"/>
              </a:xfrm>
              <a:prstGeom prst="rect">
                <a:avLst/>
              </a:prstGeom>
            </p:spPr>
          </p:pic>
          <p:sp>
            <p:nvSpPr>
              <p:cNvPr id="13" name="Rectangle 12"/>
              <p:cNvSpPr/>
              <p:nvPr/>
            </p:nvSpPr>
            <p:spPr bwMode="auto">
              <a:xfrm>
                <a:off x="5724128" y="2060848"/>
                <a:ext cx="540060" cy="205222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/>
                <p14:cNvContentPartPr/>
                <p14:nvPr/>
              </p14:nvContentPartPr>
              <p14:xfrm>
                <a:off x="5763240" y="2183040"/>
                <a:ext cx="497880" cy="1908720"/>
              </p14:xfrm>
            </p:contentPart>
          </mc:Choice>
          <mc:Fallback xmlns="">
            <p:pic>
              <p:nvPicPr>
                <p:cNvPr id="11" name="Ink 10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54600" y="2172240"/>
                  <a:ext cx="515880" cy="193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668093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68</a:t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791580" y="1137947"/>
                <a:ext cx="4572000" cy="205094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0" indent="0" algn="l">
                  <a:lnSpc>
                    <a:spcPct val="125000"/>
                  </a:lnSpc>
                  <a:buNone/>
                </a:pPr>
                <a:r>
                  <a:rPr lang="zh-CN" altLang="en-US" sz="2400" dirty="0">
                    <a:ea typeface="仿宋" panose="02010609060101010101" pitchFamily="49" charset="-122"/>
                  </a:rPr>
                  <a:t>在电介质内附加电场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𝐸</m:t>
                            </m:r>
                          </m:e>
                        </m:acc>
                      </m:e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400" dirty="0">
                    <a:ea typeface="仿宋" panose="02010609060101010101" pitchFamily="49" charset="-122"/>
                  </a:rPr>
                  <a:t>总是与外电场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ea typeface="仿宋" panose="02010609060101010101" pitchFamily="49" charset="-122"/>
                  </a:rPr>
                  <a:t>方向相反，</a:t>
                </a:r>
                <a:r>
                  <a:rPr lang="en-US" altLang="zh-CN" sz="2400" dirty="0">
                    <a:solidFill>
                      <a:prstClr val="black"/>
                    </a:solidFill>
                    <a:ea typeface="仿宋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𝐸</m:t>
                            </m:r>
                          </m:e>
                        </m:acc>
                      </m:e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400" dirty="0">
                    <a:ea typeface="仿宋" panose="02010609060101010101" pitchFamily="49" charset="-122"/>
                  </a:rPr>
                  <a:t>使外加电场减弱，阻碍电介质的极化，故把附加电场叫做</a:t>
                </a:r>
                <a:r>
                  <a:rPr lang="zh-CN" altLang="en-US" sz="2400" b="1" dirty="0">
                    <a:solidFill>
                      <a:srgbClr val="C00000"/>
                    </a:solidFill>
                    <a:ea typeface="仿宋" panose="02010609060101010101" pitchFamily="49" charset="-122"/>
                  </a:rPr>
                  <a:t>退极化场</a:t>
                </a:r>
                <a:r>
                  <a:rPr lang="zh-CN" altLang="en-US" sz="2400" dirty="0">
                    <a:ea typeface="仿宋" panose="02010609060101010101" pitchFamily="49" charset="-122"/>
                  </a:rPr>
                  <a:t>。</a:t>
                </a: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80" y="1137947"/>
                <a:ext cx="4572000" cy="2050946"/>
              </a:xfrm>
              <a:prstGeom prst="rect">
                <a:avLst/>
              </a:prstGeom>
              <a:blipFill>
                <a:blip r:embed="rId2"/>
                <a:stretch>
                  <a:fillRect l="-2133" r="-800" b="-26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775691" y="3199157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ea typeface="仿宋" panose="02010609060101010101" pitchFamily="49" charset="-122"/>
              </a:rPr>
              <a:t>自由电荷产生的电场强度：</a:t>
            </a:r>
            <a:endParaRPr lang="zh-CN" altLang="en-US" sz="2400" dirty="0">
              <a:ea typeface="仿宋" panose="02010609060101010101" pitchFamily="49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392562"/>
              </p:ext>
            </p:extLst>
          </p:nvPr>
        </p:nvGraphicFramePr>
        <p:xfrm>
          <a:off x="2109788" y="3792538"/>
          <a:ext cx="9620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33160" imgH="431640" progId="Equation.DSMT4">
                  <p:embed/>
                </p:oleObj>
              </mc:Choice>
              <mc:Fallback>
                <p:oleObj name="Equation" r:id="rId3" imgW="533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09788" y="3792538"/>
                        <a:ext cx="962025" cy="777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795806" y="4571195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ea typeface="仿宋" panose="02010609060101010101" pitchFamily="49" charset="-122"/>
              </a:rPr>
              <a:t>极化电荷产生的电场强度：</a:t>
            </a:r>
            <a:endParaRPr lang="zh-CN" altLang="en-US" sz="2400" dirty="0">
              <a:ea typeface="仿宋" panose="02010609060101010101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158438"/>
              </p:ext>
            </p:extLst>
          </p:nvPr>
        </p:nvGraphicFramePr>
        <p:xfrm>
          <a:off x="2195736" y="5080978"/>
          <a:ext cx="987760" cy="799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33160" imgH="431640" progId="Equation.DSMT4">
                  <p:embed/>
                </p:oleObj>
              </mc:Choice>
              <mc:Fallback>
                <p:oleObj name="Equation" r:id="rId5" imgW="533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95736" y="5080978"/>
                        <a:ext cx="987760" cy="799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5724128" y="1844824"/>
            <a:ext cx="3060340" cy="2405507"/>
            <a:chOff x="5724128" y="1844824"/>
            <a:chExt cx="3060340" cy="2405507"/>
          </a:xfrm>
        </p:grpSpPr>
        <p:grpSp>
          <p:nvGrpSpPr>
            <p:cNvPr id="3" name="Group 2"/>
            <p:cNvGrpSpPr/>
            <p:nvPr/>
          </p:nvGrpSpPr>
          <p:grpSpPr>
            <a:xfrm>
              <a:off x="5724128" y="1844824"/>
              <a:ext cx="3060340" cy="2405507"/>
              <a:chOff x="5724128" y="1844824"/>
              <a:chExt cx="3060340" cy="2405507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24128" y="1844824"/>
                <a:ext cx="3060340" cy="2405507"/>
              </a:xfrm>
              <a:prstGeom prst="rect">
                <a:avLst/>
              </a:prstGeom>
            </p:spPr>
          </p:pic>
          <p:sp>
            <p:nvSpPr>
              <p:cNvPr id="2" name="Rectangle 1"/>
              <p:cNvSpPr/>
              <p:nvPr/>
            </p:nvSpPr>
            <p:spPr bwMode="auto">
              <a:xfrm>
                <a:off x="5724128" y="2060848"/>
                <a:ext cx="540060" cy="205222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/>
                <p14:cNvContentPartPr/>
                <p14:nvPr/>
              </p14:nvContentPartPr>
              <p14:xfrm>
                <a:off x="5763240" y="2183040"/>
                <a:ext cx="497880" cy="1908720"/>
              </p14:xfrm>
            </p:contentPart>
          </mc:Choice>
          <mc:Fallback xmlns="">
            <p:pic>
              <p:nvPicPr>
                <p:cNvPr id="11" name="Ink 10"/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54600" y="2172240"/>
                  <a:ext cx="515880" cy="193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346293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69</a:t>
            </a:fld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1007604" y="1060749"/>
            <a:ext cx="21242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i="1" kern="100" dirty="0">
                <a:ea typeface="仿宋" panose="02010609060101010101" pitchFamily="49" charset="-122"/>
              </a:rPr>
              <a:t>E</a:t>
            </a:r>
            <a:r>
              <a:rPr lang="en-US" altLang="zh-CN" sz="2000" kern="100" baseline="-25000" dirty="0">
                <a:ea typeface="仿宋" panose="02010609060101010101" pitchFamily="49" charset="-122"/>
              </a:rPr>
              <a:t>0</a:t>
            </a: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000" i="1" kern="100" dirty="0">
                <a:ea typeface="仿宋" panose="02010609060101010101" pitchFamily="49" charset="-122"/>
              </a:rPr>
              <a:t>E</a:t>
            </a:r>
            <a:r>
              <a:rPr lang="en-US" altLang="zh-CN" sz="2000" kern="100" dirty="0">
                <a:ea typeface="仿宋" panose="02010609060101010101" pitchFamily="49" charset="-122"/>
              </a:rPr>
              <a:t>’</a:t>
            </a: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的方向相反</a:t>
            </a:r>
            <a:endParaRPr lang="zh-CN" altLang="en-US" sz="2000" dirty="0">
              <a:ea typeface="仿宋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0179" y="1522176"/>
            <a:ext cx="31758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kern="100" dirty="0">
                <a:cs typeface="Times New Roman" panose="02020603050405020304" pitchFamily="18" charset="0"/>
              </a:rPr>
              <a:t>∴</a:t>
            </a:r>
            <a:r>
              <a:rPr lang="en-US" altLang="zh-CN" sz="2000" kern="100" dirty="0"/>
              <a:t>  </a:t>
            </a:r>
            <a:r>
              <a:rPr lang="en-US" altLang="zh-CN" sz="2000" i="1" kern="100" dirty="0"/>
              <a:t>E</a:t>
            </a:r>
            <a:r>
              <a:rPr lang="zh-CN" altLang="zh-CN" sz="2000" kern="100" dirty="0">
                <a:cs typeface="Times New Roman" panose="02020603050405020304" pitchFamily="18" charset="0"/>
              </a:rPr>
              <a:t>＝</a:t>
            </a:r>
            <a:r>
              <a:rPr lang="en-US" altLang="zh-CN" sz="2000" i="1" kern="100" dirty="0"/>
              <a:t>E</a:t>
            </a:r>
            <a:r>
              <a:rPr lang="en-US" altLang="zh-CN" sz="2000" kern="100" baseline="-25000" dirty="0"/>
              <a:t>0</a:t>
            </a:r>
            <a:r>
              <a:rPr lang="zh-CN" altLang="zh-CN" sz="2000" kern="100" dirty="0">
                <a:cs typeface="Times New Roman" panose="02020603050405020304" pitchFamily="18" charset="0"/>
              </a:rPr>
              <a:t>－</a:t>
            </a:r>
            <a:r>
              <a:rPr lang="en-US" altLang="zh-CN" sz="2000" i="1" kern="100" dirty="0"/>
              <a:t>E</a:t>
            </a:r>
            <a:r>
              <a:rPr lang="en-US" altLang="zh-CN" sz="2000" kern="100" dirty="0"/>
              <a:t>’</a:t>
            </a:r>
            <a:r>
              <a:rPr lang="zh-CN" altLang="zh-CN" sz="2000" kern="100" dirty="0">
                <a:cs typeface="Times New Roman" panose="02020603050405020304" pitchFamily="18" charset="0"/>
              </a:rPr>
              <a:t>＝</a:t>
            </a:r>
            <a:r>
              <a:rPr lang="en-US" altLang="zh-CN" sz="2000" kern="100" dirty="0"/>
              <a:t> σ</a:t>
            </a:r>
            <a:r>
              <a:rPr lang="en-US" altLang="zh-CN" sz="2000" kern="100" baseline="-25000" dirty="0"/>
              <a:t>0</a:t>
            </a:r>
            <a:r>
              <a:rPr lang="en-US" altLang="zh-CN" sz="20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2000" kern="100" dirty="0"/>
              <a:t>ε</a:t>
            </a:r>
            <a:r>
              <a:rPr lang="en-US" altLang="zh-CN" sz="2000" kern="100" baseline="-25000" dirty="0"/>
              <a:t>0</a:t>
            </a:r>
            <a:r>
              <a:rPr lang="zh-CN" altLang="zh-CN" sz="2000" kern="100" dirty="0">
                <a:cs typeface="Times New Roman" panose="02020603050405020304" pitchFamily="18" charset="0"/>
              </a:rPr>
              <a:t>－</a:t>
            </a:r>
            <a:r>
              <a:rPr lang="en-US" altLang="zh-CN" sz="2000" kern="100" dirty="0"/>
              <a:t>σ’</a:t>
            </a:r>
            <a:r>
              <a:rPr lang="en-US" altLang="zh-CN" sz="20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2000" kern="100" dirty="0"/>
              <a:t>ε</a:t>
            </a:r>
            <a:r>
              <a:rPr lang="en-US" altLang="zh-CN" sz="2000" kern="100" baseline="-25000" dirty="0"/>
              <a:t>0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1007604" y="1995635"/>
            <a:ext cx="6552728" cy="828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000" kern="100" dirty="0">
                <a:ea typeface="仿宋" panose="02010609060101010101" pitchFamily="49" charset="-122"/>
              </a:rPr>
              <a:t>E</a:t>
            </a:r>
            <a:r>
              <a:rPr lang="en-US" altLang="zh-CN" sz="2000" kern="100" baseline="-25000" dirty="0">
                <a:ea typeface="仿宋" panose="02010609060101010101" pitchFamily="49" charset="-122"/>
              </a:rPr>
              <a:t>0</a:t>
            </a:r>
            <a:r>
              <a:rPr lang="zh-CN" altLang="zh-CN" sz="2000" kern="100" dirty="0">
                <a:ea typeface="仿宋" panose="02010609060101010101" pitchFamily="49" charset="-122"/>
              </a:rPr>
              <a:t>可用真空中的平行板电容器测量出来，也可计算出来；</a:t>
            </a:r>
          </a:p>
          <a:p>
            <a:pPr algn="l">
              <a:lnSpc>
                <a:spcPct val="125000"/>
              </a:lnSpc>
            </a:pPr>
            <a:r>
              <a:rPr lang="en-US" altLang="zh-CN" sz="2000" kern="100" dirty="0">
                <a:ea typeface="仿宋" panose="02010609060101010101" pitchFamily="49" charset="-122"/>
              </a:rPr>
              <a:t>E’</a:t>
            </a: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无法测量出来，也很难计算出来；</a:t>
            </a:r>
            <a:endParaRPr lang="zh-CN" altLang="en-US" sz="2000" dirty="0">
              <a:ea typeface="仿宋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07604" y="3547157"/>
            <a:ext cx="7560840" cy="1770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000" kern="100" dirty="0">
                <a:ea typeface="仿宋" panose="02010609060101010101" pitchFamily="49" charset="-122"/>
              </a:rPr>
              <a:t>E</a:t>
            </a:r>
            <a:r>
              <a:rPr lang="zh-CN" altLang="zh-CN" sz="2000" kern="100" dirty="0">
                <a:ea typeface="仿宋" panose="02010609060101010101" pitchFamily="49" charset="-122"/>
              </a:rPr>
              <a:t>可用介质中的平行板电容器测量出来：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zh-CN" sz="2000" kern="100" dirty="0">
                <a:ea typeface="仿宋" panose="02010609060101010101" pitchFamily="49" charset="-122"/>
              </a:rPr>
              <a:t>将平行板电容器放入电</a:t>
            </a:r>
            <a:r>
              <a:rPr lang="zh-CN" altLang="en-US" sz="2000" kern="100" dirty="0">
                <a:ea typeface="仿宋" panose="02010609060101010101" pitchFamily="49" charset="-122"/>
              </a:rPr>
              <a:t>介</a:t>
            </a:r>
            <a:r>
              <a:rPr lang="zh-CN" altLang="zh-CN" sz="2000" kern="100" dirty="0">
                <a:ea typeface="仿宋" panose="02010609060101010101" pitchFamily="49" charset="-122"/>
              </a:rPr>
              <a:t>质（油）中，测量电势</a:t>
            </a:r>
            <a:r>
              <a:rPr lang="en-US" altLang="zh-CN" sz="2000" kern="100" dirty="0">
                <a:ea typeface="仿宋" panose="02010609060101010101" pitchFamily="49" charset="-122"/>
              </a:rPr>
              <a:t>U</a:t>
            </a:r>
            <a:r>
              <a:rPr lang="zh-CN" altLang="zh-CN" sz="2000" kern="100" dirty="0">
                <a:ea typeface="仿宋" panose="02010609060101010101" pitchFamily="49" charset="-122"/>
              </a:rPr>
              <a:t>的变化，发现电势由</a:t>
            </a:r>
            <a:r>
              <a:rPr lang="en-US" altLang="zh-CN" sz="2000" kern="100" dirty="0">
                <a:ea typeface="仿宋" panose="02010609060101010101" pitchFamily="49" charset="-122"/>
              </a:rPr>
              <a:t>U</a:t>
            </a:r>
            <a:r>
              <a:rPr lang="en-US" altLang="zh-CN" sz="2000" kern="100" baseline="-25000" dirty="0">
                <a:ea typeface="仿宋" panose="02010609060101010101" pitchFamily="49" charset="-122"/>
              </a:rPr>
              <a:t>0</a:t>
            </a:r>
            <a:r>
              <a:rPr lang="zh-CN" altLang="zh-CN" sz="2000" kern="100" dirty="0">
                <a:ea typeface="仿宋" panose="02010609060101010101" pitchFamily="49" charset="-122"/>
              </a:rPr>
              <a:t>减小为</a:t>
            </a:r>
            <a:r>
              <a:rPr lang="en-US" altLang="zh-CN" sz="2000" kern="100" dirty="0">
                <a:ea typeface="仿宋" panose="02010609060101010101" pitchFamily="49" charset="-122"/>
              </a:rPr>
              <a:t>U</a:t>
            </a:r>
            <a:r>
              <a:rPr lang="zh-CN" altLang="zh-CN" sz="2000" kern="100" dirty="0">
                <a:ea typeface="仿宋" panose="02010609060101010101" pitchFamily="49" charset="-122"/>
              </a:rPr>
              <a:t>，为原来电势的</a:t>
            </a:r>
            <a:r>
              <a:rPr lang="en-US" altLang="zh-CN" sz="2000" kern="100" dirty="0">
                <a:ea typeface="仿宋" panose="02010609060101010101" pitchFamily="49" charset="-122"/>
              </a:rPr>
              <a:t>1/ε</a:t>
            </a:r>
            <a:r>
              <a:rPr lang="en-US" altLang="zh-CN" sz="2000" kern="100" baseline="-25000" dirty="0">
                <a:ea typeface="仿宋" panose="02010609060101010101" pitchFamily="49" charset="-122"/>
              </a:rPr>
              <a:t>r</a:t>
            </a:r>
            <a:r>
              <a:rPr lang="zh-CN" altLang="zh-CN" sz="2000" kern="100" dirty="0">
                <a:ea typeface="仿宋" panose="02010609060101010101" pitchFamily="49" charset="-122"/>
              </a:rPr>
              <a:t>倍</a:t>
            </a:r>
            <a:r>
              <a:rPr lang="en-US" altLang="zh-CN" sz="2000" kern="100" dirty="0">
                <a:ea typeface="仿宋" panose="02010609060101010101" pitchFamily="49" charset="-122"/>
              </a:rPr>
              <a:t>:</a:t>
            </a:r>
            <a:endParaRPr lang="zh-CN" altLang="zh-CN" sz="2000" kern="100" dirty="0">
              <a:ea typeface="仿宋" panose="02010609060101010101" pitchFamily="49" charset="-122"/>
            </a:endParaRPr>
          </a:p>
          <a:p>
            <a:pPr algn="r">
              <a:lnSpc>
                <a:spcPct val="200000"/>
              </a:lnSpc>
            </a:pPr>
            <a:r>
              <a:rPr lang="en-US" altLang="zh-CN" sz="2000" kern="100" dirty="0">
                <a:ea typeface="仿宋" panose="02010609060101010101" pitchFamily="49" charset="-122"/>
              </a:rPr>
              <a:t>        		ε</a:t>
            </a:r>
            <a:r>
              <a:rPr lang="en-US" altLang="zh-CN" sz="2000" kern="100" baseline="-25000" dirty="0">
                <a:ea typeface="仿宋" panose="02010609060101010101" pitchFamily="49" charset="-122"/>
              </a:rPr>
              <a:t>r</a:t>
            </a:r>
            <a:r>
              <a:rPr lang="zh-CN" altLang="zh-CN" sz="2000" kern="100" dirty="0">
                <a:ea typeface="仿宋" panose="02010609060101010101" pitchFamily="49" charset="-122"/>
              </a:rPr>
              <a:t>称为相对电容率或相对介电常数</a:t>
            </a:r>
            <a:endParaRPr lang="zh-CN" altLang="en-US" sz="2000" kern="100" dirty="0">
              <a:ea typeface="仿宋" panose="02010609060101010101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715376"/>
              </p:ext>
            </p:extLst>
          </p:nvPr>
        </p:nvGraphicFramePr>
        <p:xfrm>
          <a:off x="1859389" y="5058745"/>
          <a:ext cx="1114152" cy="947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7960" imgH="431640" progId="Equation.DSMT4">
                  <p:embed/>
                </p:oleObj>
              </mc:Choice>
              <mc:Fallback>
                <p:oleObj name="Equation" r:id="rId2" imgW="507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59389" y="5058745"/>
                        <a:ext cx="1114152" cy="947029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201816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00289" y="109883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相应的电场强度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：</a:t>
            </a:r>
            <a:endParaRPr lang="zh-CN" altLang="en-US" sz="24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744172"/>
              </p:ext>
            </p:extLst>
          </p:nvPr>
        </p:nvGraphicFramePr>
        <p:xfrm>
          <a:off x="3595392" y="1500121"/>
          <a:ext cx="1017112" cy="910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400" imgH="431640" progId="Equation.DSMT4">
                  <p:embed/>
                </p:oleObj>
              </mc:Choice>
              <mc:Fallback>
                <p:oleObj name="Equation" r:id="rId2" imgW="4824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95392" y="1500121"/>
                        <a:ext cx="1017112" cy="910047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123728" y="30689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3371"/>
              </p:ext>
            </p:extLst>
          </p:nvPr>
        </p:nvGraphicFramePr>
        <p:xfrm>
          <a:off x="2591780" y="2672916"/>
          <a:ext cx="3024336" cy="900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900" imgH="482600" progId="Equation.DSMT4">
                  <p:embed/>
                </p:oleObj>
              </mc:Choice>
              <mc:Fallback>
                <p:oleObj name="Equation" r:id="rId4" imgW="1612900" imgH="482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1780" y="2672916"/>
                        <a:ext cx="3024336" cy="90058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870214" y="3990600"/>
            <a:ext cx="72368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由此得出极化电荷密度是自由电荷密度的</a:t>
            </a:r>
            <a:r>
              <a:rPr lang="en-US" altLang="zh-CN" sz="2400" kern="100" dirty="0">
                <a:ea typeface="仿宋" panose="02010609060101010101" pitchFamily="49" charset="-122"/>
              </a:rPr>
              <a:t>1</a:t>
            </a:r>
            <a:r>
              <a:rPr lang="zh-CN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 sz="2400" kern="100" dirty="0">
                <a:ea typeface="仿宋" panose="02010609060101010101" pitchFamily="49" charset="-122"/>
              </a:rPr>
              <a:t>1</a:t>
            </a:r>
            <a:r>
              <a:rPr lang="en-US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en-US" altLang="zh-CN" sz="2400" kern="100" dirty="0">
                <a:ea typeface="仿宋" panose="02010609060101010101" pitchFamily="49" charset="-122"/>
              </a:rPr>
              <a:t>ε</a:t>
            </a:r>
            <a:r>
              <a:rPr lang="en-US" altLang="zh-CN" sz="2400" kern="100" baseline="-25000" dirty="0">
                <a:ea typeface="仿宋" panose="02010609060101010101" pitchFamily="49" charset="-122"/>
              </a:rPr>
              <a:t>r</a:t>
            </a:r>
            <a:r>
              <a:rPr lang="zh-CN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倍。</a:t>
            </a:r>
            <a:endParaRPr lang="zh-CN" altLang="en-US" sz="2400" dirty="0">
              <a:ea typeface="仿宋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26198" y="4846182"/>
            <a:ext cx="34948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100" dirty="0">
                <a:solidFill>
                  <a:srgbClr val="C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400" kern="100" baseline="-25000" dirty="0">
                <a:solidFill>
                  <a:srgbClr val="C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zh-CN" sz="2400" kern="100" dirty="0">
                <a:solidFill>
                  <a:srgbClr val="C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由电介质材料决定的。</a:t>
            </a:r>
            <a:endParaRPr lang="zh-CN" altLang="en-US" sz="2400" kern="100" dirty="0">
              <a:solidFill>
                <a:srgbClr val="C00000"/>
              </a:solidFill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3595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71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10632" y="634345"/>
            <a:ext cx="81227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二、电介质中的高斯定理   电位移矢量</a:t>
            </a:r>
            <a:r>
              <a:rPr lang="en-US" altLang="zh-CN" sz="2800" b="1" dirty="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D</a:t>
            </a:r>
            <a:r>
              <a:rPr lang="zh-CN" altLang="en-US" sz="2800" b="1" dirty="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（重点）</a:t>
            </a:r>
            <a:endParaRPr lang="zh-CN" altLang="en-US" sz="28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07101" y="1461710"/>
                <a:ext cx="7298599" cy="28755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 algn="l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ea typeface="仿宋" panose="02010609060101010101" pitchFamily="49" charset="-122"/>
                  </a:rPr>
                  <a:t>存在电介质时，静电场的高斯定理仍然成立。</a:t>
                </a:r>
                <a:endParaRPr lang="en-US" altLang="zh-CN" sz="2000" dirty="0">
                  <a:ea typeface="仿宋" panose="02010609060101010101" pitchFamily="49" charset="-122"/>
                </a:endParaRPr>
              </a:p>
              <a:p>
                <a:pPr marL="0" indent="0" algn="l">
                  <a:lnSpc>
                    <a:spcPct val="125000"/>
                  </a:lnSpc>
                  <a:buNone/>
                </a:pPr>
                <a:endParaRPr lang="en-US" altLang="zh-CN" sz="2000" dirty="0">
                  <a:ea typeface="仿宋" panose="02010609060101010101" pitchFamily="49" charset="-122"/>
                </a:endParaRPr>
              </a:p>
              <a:p>
                <a:pPr marL="0" indent="0" algn="l">
                  <a:lnSpc>
                    <a:spcPct val="125000"/>
                  </a:lnSpc>
                  <a:spcBef>
                    <a:spcPts val="1800"/>
                  </a:spcBef>
                  <a:buNone/>
                </a:pPr>
                <a:endParaRPr lang="en-US" altLang="zh-CN" sz="2000" dirty="0">
                  <a:ea typeface="仿宋" panose="02010609060101010101" pitchFamily="49" charset="-122"/>
                </a:endParaRPr>
              </a:p>
              <a:p>
                <a:pPr marL="0" indent="0" algn="l">
                  <a:lnSpc>
                    <a:spcPct val="125000"/>
                  </a:lnSpc>
                  <a:spcBef>
                    <a:spcPts val="1800"/>
                  </a:spcBef>
                  <a:buNone/>
                </a:pPr>
                <a:r>
                  <a:rPr lang="zh-CN" altLang="en-US" sz="2000" dirty="0">
                    <a:ea typeface="仿宋" panose="02010609060101010101" pitchFamily="49" charset="-122"/>
                  </a:rPr>
                  <a:t>只不过，这里的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/>
                          </a:rPr>
                          <m:t>𝐸</m:t>
                        </m:r>
                      </m:e>
                    </m:acc>
                  </m:oMath>
                </a14:m>
                <a:r>
                  <a:rPr lang="zh-CN" altLang="en-US" sz="2000" dirty="0">
                    <a:ea typeface="仿宋" panose="02010609060101010101" pitchFamily="49" charset="-122"/>
                  </a:rPr>
                  <a:t>要把电介质的退极化电场考虑在内，而这里的高斯面内电荷</a:t>
                </a:r>
                <a:r>
                  <a:rPr lang="en-US" altLang="zh-CN" sz="2000" dirty="0">
                    <a:ea typeface="仿宋" panose="02010609060101010101" pitchFamily="49" charset="-122"/>
                  </a:rPr>
                  <a:t>q</a:t>
                </a:r>
                <a:r>
                  <a:rPr lang="zh-CN" altLang="en-US" sz="2000" dirty="0">
                    <a:ea typeface="仿宋" panose="02010609060101010101" pitchFamily="49" charset="-122"/>
                  </a:rPr>
                  <a:t>除了包括自由电荷外，还应考虑电介质的极化电荷：</a:t>
                </a: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01" y="1461710"/>
                <a:ext cx="7298599" cy="2875595"/>
              </a:xfrm>
              <a:prstGeom prst="rect">
                <a:avLst/>
              </a:prstGeom>
              <a:blipFill>
                <a:blip r:embed="rId2"/>
                <a:stretch>
                  <a:fillRect l="-919" t="-424" b="-2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85434"/>
              </p:ext>
            </p:extLst>
          </p:nvPr>
        </p:nvGraphicFramePr>
        <p:xfrm>
          <a:off x="2542254" y="2132856"/>
          <a:ext cx="2628292" cy="110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90360" imgH="469800" progId="Equation.3">
                  <p:embed/>
                </p:oleObj>
              </mc:Choice>
              <mc:Fallback>
                <p:oleObj name="公式" r:id="rId3" imgW="990360" imgH="469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42254" y="2132856"/>
                        <a:ext cx="2628292" cy="1108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741265"/>
              </p:ext>
            </p:extLst>
          </p:nvPr>
        </p:nvGraphicFramePr>
        <p:xfrm>
          <a:off x="850745" y="4415581"/>
          <a:ext cx="539273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14600" imgH="469800" progId="Equation.DSMT4">
                  <p:embed/>
                </p:oleObj>
              </mc:Choice>
              <mc:Fallback>
                <p:oleObj name="Equation" r:id="rId5" imgW="25146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0745" y="4415581"/>
                        <a:ext cx="5392737" cy="1008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1007604" y="5423644"/>
                <a:ext cx="2730395" cy="4374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其中</a:t>
                </a:r>
                <a:r>
                  <a:rPr lang="zh-CN" altLang="en-US" sz="2000" dirty="0"/>
                  <a:t>：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/>
                          </a:rPr>
                          <m:t>𝐸</m:t>
                        </m:r>
                      </m:e>
                    </m:acc>
                    <m:r>
                      <a:rPr lang="en-US" altLang="zh-CN" sz="2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altLang="zh-CN" sz="2000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/>
                              </a:rPr>
                              <m:t>𝐸</m:t>
                            </m:r>
                          </m:e>
                        </m:acc>
                      </m:e>
                      <m:sup>
                        <m:r>
                          <a:rPr lang="en-US" altLang="zh-CN" sz="2000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604" y="5423644"/>
                <a:ext cx="2730395" cy="437492"/>
              </a:xfrm>
              <a:prstGeom prst="rect">
                <a:avLst/>
              </a:prstGeom>
              <a:blipFill>
                <a:blip r:embed="rId7"/>
                <a:stretch>
                  <a:fillRect l="-2232" t="-5634" b="-197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9741" y="1261656"/>
            <a:ext cx="2900518" cy="227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379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72</a:t>
            </a:fld>
            <a:endParaRPr lang="en-US" altLang="zh-CN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04741" y="1403931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将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459661"/>
              </p:ext>
            </p:extLst>
          </p:nvPr>
        </p:nvGraphicFramePr>
        <p:xfrm>
          <a:off x="1497184" y="1188223"/>
          <a:ext cx="1815929" cy="893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0170" imgH="482391" progId="Equation.DSMT4">
                  <p:embed/>
                </p:oleObj>
              </mc:Choice>
              <mc:Fallback>
                <p:oleObj name="Equation" r:id="rId2" imgW="990170" imgH="482391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184" y="1188223"/>
                        <a:ext cx="1815929" cy="8930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486307" y="1403931"/>
            <a:ext cx="12618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代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入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855648"/>
              </p:ext>
            </p:extLst>
          </p:nvPr>
        </p:nvGraphicFramePr>
        <p:xfrm>
          <a:off x="1655676" y="1964513"/>
          <a:ext cx="5065975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03500" imgH="508000" progId="Equation.DSMT4">
                  <p:embed/>
                </p:oleObj>
              </mc:Choice>
              <mc:Fallback>
                <p:oleObj name="Equation" r:id="rId4" imgW="2603500" imgH="508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676" y="1964513"/>
                        <a:ext cx="5065975" cy="9361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004149" y="3152179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高斯定理为：  </a:t>
            </a: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577593"/>
              </p:ext>
            </p:extLst>
          </p:nvPr>
        </p:nvGraphicFramePr>
        <p:xfrm>
          <a:off x="3313113" y="2952750"/>
          <a:ext cx="2808287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18960" imgH="444240" progId="Equation.DSMT4">
                  <p:embed/>
                </p:oleObj>
              </mc:Choice>
              <mc:Fallback>
                <p:oleObj name="Equation" r:id="rId6" imgW="1218960" imgH="4442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2952750"/>
                        <a:ext cx="2808287" cy="1030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1004149" y="4177349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移项得：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919423"/>
              </p:ext>
            </p:extLst>
          </p:nvPr>
        </p:nvGraphicFramePr>
        <p:xfrm>
          <a:off x="3314736" y="4148468"/>
          <a:ext cx="332105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74640" imgH="380880" progId="Equation.DSMT4">
                  <p:embed/>
                </p:oleObj>
              </mc:Choice>
              <mc:Fallback>
                <p:oleObj name="Equation" r:id="rId8" imgW="1574640" imgH="3808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36" y="4148468"/>
                        <a:ext cx="3321050" cy="8112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1004149" y="5192162"/>
            <a:ext cx="65527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zh-CN" altLang="zh-CN" sz="2400" kern="1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电位移矢量</a:t>
            </a:r>
            <a:r>
              <a:rPr lang="en-US" altLang="zh-CN" sz="2400" b="1" i="1" kern="100" dirty="0">
                <a:solidFill>
                  <a:srgbClr val="C00000"/>
                </a:solidFill>
                <a:latin typeface="+mn-lt"/>
                <a:ea typeface="仿宋" panose="02010609060101010101" pitchFamily="49" charset="-122"/>
              </a:rPr>
              <a:t>D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944128"/>
              </p:ext>
            </p:extLst>
          </p:nvPr>
        </p:nvGraphicFramePr>
        <p:xfrm>
          <a:off x="4001425" y="5125112"/>
          <a:ext cx="2551776" cy="613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02960" imgH="241200" progId="Equation.DSMT4">
                  <p:embed/>
                </p:oleObj>
              </mc:Choice>
              <mc:Fallback>
                <p:oleObj name="Equation" r:id="rId10" imgW="10029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001425" y="5125112"/>
                        <a:ext cx="2551776" cy="613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927214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73</a:t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92324"/>
              </p:ext>
            </p:extLst>
          </p:nvPr>
        </p:nvGraphicFramePr>
        <p:xfrm>
          <a:off x="1485476" y="1126527"/>
          <a:ext cx="5703888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61960" imgH="253800" progId="Equation.DSMT4">
                  <p:embed/>
                </p:oleObj>
              </mc:Choice>
              <mc:Fallback>
                <p:oleObj name="Equation" r:id="rId2" imgW="23619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476" y="1126527"/>
                        <a:ext cx="5703888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154765"/>
              </p:ext>
            </p:extLst>
          </p:nvPr>
        </p:nvGraphicFramePr>
        <p:xfrm>
          <a:off x="1259633" y="1844824"/>
          <a:ext cx="6624735" cy="61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81000" imgH="253800" progId="Equation.DSMT4">
                  <p:embed/>
                </p:oleObj>
              </mc:Choice>
              <mc:Fallback>
                <p:oleObj name="Equation" r:id="rId4" imgW="27810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3" y="1844824"/>
                        <a:ext cx="6624735" cy="61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728848" y="2665199"/>
            <a:ext cx="34163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kern="100" dirty="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电介质中的高斯定理</a:t>
            </a:r>
            <a:endParaRPr lang="zh-CN" altLang="en-US" sz="2800" dirty="0">
              <a:solidFill>
                <a:srgbClr val="0000CC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997578"/>
              </p:ext>
            </p:extLst>
          </p:nvPr>
        </p:nvGraphicFramePr>
        <p:xfrm>
          <a:off x="2850727" y="3678769"/>
          <a:ext cx="2973387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66680" imgH="380880" progId="Equation.DSMT4">
                  <p:embed/>
                </p:oleObj>
              </mc:Choice>
              <mc:Fallback>
                <p:oleObj name="Equation" r:id="rId6" imgW="1066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0727" y="3678769"/>
                        <a:ext cx="2973387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875660" y="4972349"/>
            <a:ext cx="7582540" cy="968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zh-CN" altLang="zh-CN" sz="2400" kern="100" dirty="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通过高斯面的电位移通量等于高斯面包围的自由电荷的代数和，与极化电荷无关。</a:t>
            </a:r>
          </a:p>
        </p:txBody>
      </p:sp>
    </p:spTree>
    <p:extLst>
      <p:ext uri="{BB962C8B-B14F-4D97-AF65-F5344CB8AC3E}">
        <p14:creationId xmlns:p14="http://schemas.microsoft.com/office/powerpoint/2010/main" val="416374567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3588" y="1101026"/>
            <a:ext cx="7848872" cy="583264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C00000"/>
                </a:solidFill>
              </a:rPr>
              <a:t>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2800" dirty="0"/>
              <a:t>         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</a:rPr>
              <a:t>在真空条件下，静电场的环路定理在有电介质存在的情况下仍然成立，即</a:t>
            </a:r>
            <a:endParaRPr lang="en-US" altLang="zh-CN" sz="28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altLang="zh-CN" sz="28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altLang="zh-CN" sz="28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</a:rPr>
              <a:t>         也就是说，不论是真空还是存在电介质，静电场都是保守场，电场矢量的线积分与积分路径无关，或者说电场矢量沿闭合环路的线积分等于零。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26049"/>
              </p:ext>
            </p:extLst>
          </p:nvPr>
        </p:nvGraphicFramePr>
        <p:xfrm>
          <a:off x="3488834" y="2831488"/>
          <a:ext cx="2333625" cy="118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600" imgH="368280" progId="Equation.DSMT4">
                  <p:embed/>
                </p:oleObj>
              </mc:Choice>
              <mc:Fallback>
                <p:oleObj name="Equation" r:id="rId2" imgW="72360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88834" y="2831488"/>
                        <a:ext cx="2333625" cy="1185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495951" y="587778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三、电介质中的环路定理</a:t>
            </a:r>
            <a:endParaRPr lang="zh-CN" altLang="en-US" sz="28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67693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791580" y="1124744"/>
                <a:ext cx="7560840" cy="5832648"/>
              </a:xfrm>
            </p:spPr>
            <p:txBody>
              <a:bodyPr>
                <a:noAutofit/>
              </a:bodyPr>
              <a:lstStyle/>
              <a:p>
                <a:pPr marL="0" indent="809625">
                  <a:lnSpc>
                    <a:spcPct val="125000"/>
                  </a:lnSpc>
                  <a:buNone/>
                </a:pPr>
                <a:r>
                  <a:rPr lang="zh-CN" altLang="en-US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有了上述一系列关系，在求总电场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600" i="1">
                            <a:latin typeface="Cambria Math"/>
                          </a:rPr>
                          <m:t>𝐸</m:t>
                        </m:r>
                      </m:e>
                    </m:acc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时，就不必知道极化电荷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600" i="1"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en-US" altLang="zh-CN" sz="2600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的分布。</a:t>
                </a:r>
                <a:endParaRPr lang="en-US" altLang="zh-CN" sz="2600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809625">
                  <a:lnSpc>
                    <a:spcPct val="125000"/>
                  </a:lnSpc>
                  <a:buNone/>
                </a:pPr>
                <a:r>
                  <a:rPr lang="zh-CN" altLang="en-US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直接利用高斯定理，由自由电荷分布求得电位移矢量分布。</a:t>
                </a:r>
                <a:endParaRPr lang="en-US" altLang="zh-CN" sz="2600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809625">
                  <a:lnSpc>
                    <a:spcPct val="125000"/>
                  </a:lnSpc>
                  <a:buNone/>
                </a:pPr>
                <a:r>
                  <a:rPr lang="zh-CN" altLang="en-US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因为               ，所以求     的方法类似于真空中高斯定理的应用。</a:t>
                </a:r>
                <a:endParaRPr lang="en-US" altLang="zh-CN" sz="2600" dirty="0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  <a:p>
                <a:pPr marL="0" indent="809625">
                  <a:lnSpc>
                    <a:spcPct val="125000"/>
                  </a:lnSpc>
                  <a:buNone/>
                </a:pPr>
                <a:r>
                  <a:rPr lang="zh-CN" altLang="en-US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进一步，可由            求得总电场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600" i="1">
                            <a:latin typeface="Cambria Math"/>
                          </a:rPr>
                          <m:t>𝐸</m:t>
                        </m:r>
                      </m:e>
                    </m:acc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ea typeface="仿宋" panose="02010609060101010101" pitchFamily="49" charset="-122"/>
                  </a:rPr>
                  <a:t>的分布。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1580" y="1124744"/>
                <a:ext cx="7560840" cy="5832648"/>
              </a:xfrm>
              <a:blipFill>
                <a:blip r:embed="rId2"/>
                <a:stretch>
                  <a:fillRect l="-1452" r="-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126256"/>
              </p:ext>
            </p:extLst>
          </p:nvPr>
        </p:nvGraphicFramePr>
        <p:xfrm>
          <a:off x="2411760" y="3320988"/>
          <a:ext cx="1122362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4240" imgH="215640" progId="Equation.DSMT4">
                  <p:embed/>
                </p:oleObj>
              </mc:Choice>
              <mc:Fallback>
                <p:oleObj name="Equation" r:id="rId3" imgW="444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3320988"/>
                        <a:ext cx="1122362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EFD1"/>
                                </a:gs>
                                <a:gs pos="64999">
                                  <a:srgbClr val="F0EBD5"/>
                                </a:gs>
                                <a:gs pos="100000">
                                  <a:srgbClr val="D1C39F"/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535810"/>
              </p:ext>
            </p:extLst>
          </p:nvPr>
        </p:nvGraphicFramePr>
        <p:xfrm>
          <a:off x="4945545" y="3320278"/>
          <a:ext cx="41751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0" imgH="203040" progId="Equation.DSMT4">
                  <p:embed/>
                </p:oleObj>
              </mc:Choice>
              <mc:Fallback>
                <p:oleObj name="Equation" r:id="rId5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5545" y="3320278"/>
                        <a:ext cx="41751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EFD1"/>
                                </a:gs>
                                <a:gs pos="64999">
                                  <a:srgbClr val="F0EBD5"/>
                                </a:gs>
                                <a:gs pos="100000">
                                  <a:srgbClr val="D1C39F"/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0549050"/>
              </p:ext>
            </p:extLst>
          </p:nvPr>
        </p:nvGraphicFramePr>
        <p:xfrm>
          <a:off x="3599892" y="4437112"/>
          <a:ext cx="1122362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240" imgH="215640" progId="Equation.DSMT4">
                  <p:embed/>
                </p:oleObj>
              </mc:Choice>
              <mc:Fallback>
                <p:oleObj name="Equation" r:id="rId7" imgW="444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9892" y="4437112"/>
                        <a:ext cx="1122362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EFD1"/>
                                </a:gs>
                                <a:gs pos="64999">
                                  <a:srgbClr val="F0EBD5"/>
                                </a:gs>
                                <a:gs pos="100000">
                                  <a:srgbClr val="D1C39F"/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26012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719572" y="764704"/>
                <a:ext cx="7668852" cy="58326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C00000"/>
                    </a:solidFill>
                  </a:rPr>
                  <a:t> </a:t>
                </a: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dirty="0"/>
                  <a:t>      </a:t>
                </a:r>
                <a:r>
                  <a:rPr lang="zh-CN" altLang="en-US" sz="2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某电介质不发生击穿所能承受的最大电场强度称为该电介质的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介电强度</a:t>
                </a:r>
                <a:r>
                  <a:rPr lang="zh-CN" altLang="en-US" sz="2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。</a:t>
                </a:r>
                <a:endParaRPr lang="en-US" altLang="zh-CN" sz="24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sz="2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   </a:t>
                </a:r>
                <a:r>
                  <a:rPr lang="zh-CN" altLang="en-US" sz="2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击穿的机理是：电介质在外场作用下，出现极化电荷，起初为束缚电荷，随着电场的增大，当达到一定数值时，束缚电荷就会脱离分子的束缚而成为自由电荷。从而使电介质的绝缘性受到破坏，成为导体。</a:t>
                </a:r>
                <a:endParaRPr lang="en-US" altLang="zh-CN" sz="24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sz="2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   </a:t>
                </a:r>
                <a:r>
                  <a:rPr lang="zh-CN" altLang="en-US" sz="2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常以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𝟔</m:t>
                        </m:r>
                      </m:sup>
                    </m:sSup>
                  </m:oMath>
                </a14:m>
                <a:r>
                  <a:rPr lang="zh-CN" altLang="en-US" sz="24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伏特</a:t>
                </a:r>
                <a:r>
                  <a:rPr lang="en-US" altLang="zh-CN" sz="24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/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米</a:t>
                </a:r>
                <a:r>
                  <a:rPr lang="zh-CN" altLang="en-US" sz="2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为单位来表示介电强度。如空气：</a:t>
                </a:r>
                <a:r>
                  <a:rPr lang="en-US" altLang="zh-CN" sz="2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3</a:t>
                </a:r>
                <a:r>
                  <a:rPr lang="zh-CN" altLang="en-US" sz="2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，玻璃：</a:t>
                </a:r>
                <a:r>
                  <a:rPr lang="en-US" altLang="zh-CN" sz="2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30</a:t>
                </a:r>
                <a:r>
                  <a:rPr lang="zh-CN" altLang="en-US" sz="2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，云母：</a:t>
                </a:r>
                <a:r>
                  <a:rPr lang="en-US" altLang="zh-CN" sz="2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200</a:t>
                </a:r>
                <a:r>
                  <a:rPr lang="zh-CN" altLang="en-US" sz="2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，等等。</a:t>
                </a:r>
                <a:endParaRPr lang="en-US" altLang="zh-CN" sz="24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9572" y="764704"/>
                <a:ext cx="7668852" cy="5832648"/>
              </a:xfrm>
              <a:blipFill rotWithShape="0">
                <a:blip r:embed="rId2"/>
                <a:stretch>
                  <a:fillRect l="-11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3397640" y="620688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00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四、介电强度</a:t>
            </a:r>
            <a:endParaRPr lang="zh-CN" altLang="en-US" sz="28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89976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77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18362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r>
              <a:rPr lang="zh-CN" altLang="en-US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（重点）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7564" y="1268760"/>
            <a:ext cx="80084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自由电荷面密度为</a:t>
            </a:r>
            <a:r>
              <a:rPr lang="en-US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±σ</a:t>
            </a:r>
            <a:r>
              <a:rPr lang="zh-CN" altLang="en-US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的带电平行板电容器，中间充满两层各向同性的均匀介质，相对介电常数分别为</a:t>
            </a:r>
            <a:r>
              <a:rPr lang="en-US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4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r1</a:t>
            </a:r>
            <a:r>
              <a:rPr lang="zh-CN" altLang="en-US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4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r2</a:t>
            </a:r>
            <a:r>
              <a:rPr lang="zh-CN" altLang="en-US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，厚度分别为</a:t>
            </a:r>
            <a:r>
              <a:rPr lang="en-US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4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4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507" y="2636912"/>
            <a:ext cx="2520280" cy="252028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47564" y="2814488"/>
            <a:ext cx="4788532" cy="1437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求：（</a:t>
            </a:r>
            <a:r>
              <a:rPr lang="en-US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）各电介质中的电场强度；</a:t>
            </a:r>
          </a:p>
          <a:p>
            <a:pPr algn="l">
              <a:lnSpc>
                <a:spcPct val="125000"/>
              </a:lnSpc>
            </a:pPr>
            <a:r>
              <a:rPr lang="zh-CN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）电容器极板间的电势差；</a:t>
            </a:r>
          </a:p>
          <a:p>
            <a:pPr algn="l">
              <a:lnSpc>
                <a:spcPct val="125000"/>
              </a:lnSpc>
            </a:pPr>
            <a:r>
              <a:rPr lang="zh-CN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）电容器的电容。</a:t>
            </a:r>
          </a:p>
        </p:txBody>
      </p:sp>
    </p:spTree>
    <p:extLst>
      <p:ext uri="{BB962C8B-B14F-4D97-AF65-F5344CB8AC3E}">
        <p14:creationId xmlns:p14="http://schemas.microsoft.com/office/powerpoint/2010/main" val="33017999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78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20830" y="1114536"/>
            <a:ext cx="7272808" cy="828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解：电位移矢量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只和自由电荷有关，在不同介质中，电位移都相同。根据介质中的高斯定理：</a:t>
            </a:r>
            <a:endParaRPr lang="zh-CN" altLang="en-US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494436"/>
              </p:ext>
            </p:extLst>
          </p:nvPr>
        </p:nvGraphicFramePr>
        <p:xfrm>
          <a:off x="2771800" y="2096852"/>
          <a:ext cx="3039221" cy="781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8320" imgH="380880" progId="Equation.DSMT4">
                  <p:embed/>
                </p:oleObj>
              </mc:Choice>
              <mc:Fallback>
                <p:oleObj name="Equation" r:id="rId2" imgW="1498320" imgH="3808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2096852"/>
                        <a:ext cx="3039221" cy="7812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3023828" y="2842738"/>
            <a:ext cx="14334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kern="100" dirty="0">
                <a:cs typeface="Times New Roman" panose="02020603050405020304" pitchFamily="18" charset="0"/>
              </a:rPr>
              <a:t>∴</a:t>
            </a:r>
            <a:r>
              <a:rPr lang="en-US" altLang="zh-CN" sz="2000" kern="100" dirty="0"/>
              <a:t>   </a:t>
            </a:r>
            <a:r>
              <a:rPr lang="en-US" altLang="zh-CN" kern="100" dirty="0"/>
              <a:t>D</a:t>
            </a:r>
            <a:r>
              <a:rPr lang="zh-CN" altLang="zh-CN" kern="100" dirty="0">
                <a:cs typeface="Times New Roman" panose="02020603050405020304" pitchFamily="18" charset="0"/>
              </a:rPr>
              <a:t>＝</a:t>
            </a:r>
            <a:r>
              <a:rPr lang="en-US" altLang="zh-CN" kern="100" dirty="0"/>
              <a:t>σ</a:t>
            </a:r>
            <a:r>
              <a:rPr lang="en-US" altLang="zh-CN" kern="100" baseline="-25000" dirty="0"/>
              <a:t>0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023828" y="3428515"/>
            <a:ext cx="23791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kern="100" dirty="0">
                <a:cs typeface="Times New Roman" panose="02020603050405020304" pitchFamily="18" charset="0"/>
              </a:rPr>
              <a:t>∵</a:t>
            </a:r>
            <a:r>
              <a:rPr lang="en-US" altLang="zh-CN" sz="2000" kern="100" dirty="0"/>
              <a:t>  </a:t>
            </a:r>
            <a:r>
              <a:rPr lang="en-US" altLang="zh-CN" b="1" kern="100" dirty="0"/>
              <a:t>D</a:t>
            </a:r>
            <a:r>
              <a:rPr lang="zh-CN" altLang="zh-CN" kern="100" dirty="0">
                <a:cs typeface="Times New Roman" panose="02020603050405020304" pitchFamily="18" charset="0"/>
              </a:rPr>
              <a:t>＝</a:t>
            </a:r>
            <a:r>
              <a:rPr lang="en-US" altLang="zh-CN" kern="100" dirty="0"/>
              <a:t>ε</a:t>
            </a:r>
            <a:r>
              <a:rPr lang="en-US" altLang="zh-CN" kern="100" baseline="-25000" dirty="0"/>
              <a:t>0</a:t>
            </a:r>
            <a:r>
              <a:rPr lang="en-US" altLang="zh-CN" kern="100" dirty="0"/>
              <a:t>ε</a:t>
            </a:r>
            <a:r>
              <a:rPr lang="en-US" altLang="zh-CN" kern="100" baseline="-25000" dirty="0"/>
              <a:t>r</a:t>
            </a:r>
            <a:r>
              <a:rPr lang="en-US" altLang="zh-CN" b="1" kern="100" dirty="0"/>
              <a:t>E</a:t>
            </a:r>
            <a:r>
              <a:rPr lang="zh-CN" altLang="zh-CN" kern="100" dirty="0">
                <a:cs typeface="Times New Roman" panose="02020603050405020304" pitchFamily="18" charset="0"/>
              </a:rPr>
              <a:t>＝</a:t>
            </a:r>
            <a:r>
              <a:rPr lang="en-US" altLang="zh-CN" kern="100" dirty="0" err="1"/>
              <a:t>ε</a:t>
            </a:r>
            <a:r>
              <a:rPr lang="en-US" altLang="zh-CN" b="1" kern="100" dirty="0" err="1"/>
              <a:t>E</a:t>
            </a:r>
            <a:endParaRPr lang="zh-CN" altLang="en-US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855419"/>
              </p:ext>
            </p:extLst>
          </p:nvPr>
        </p:nvGraphicFramePr>
        <p:xfrm>
          <a:off x="2283680" y="4085651"/>
          <a:ext cx="2200376" cy="850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600" imgH="431800" progId="Equation.DSMT4">
                  <p:embed/>
                </p:oleObj>
              </mc:Choice>
              <mc:Fallback>
                <p:oleObj name="Equation" r:id="rId4" imgW="11176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3680" y="4085651"/>
                        <a:ext cx="2200376" cy="8504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526004"/>
              </p:ext>
            </p:extLst>
          </p:nvPr>
        </p:nvGraphicFramePr>
        <p:xfrm>
          <a:off x="5143828" y="4060820"/>
          <a:ext cx="2361872" cy="875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67893" imgH="431613" progId="Equation.DSMT4">
                  <p:embed/>
                </p:oleObj>
              </mc:Choice>
              <mc:Fallback>
                <p:oleObj name="Equation" r:id="rId6" imgW="1167893" imgH="431613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828" y="4060820"/>
                        <a:ext cx="2361872" cy="8752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475656" y="4267629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∴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2247540" y="4871393"/>
            <a:ext cx="3385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2824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79</a:t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5554138"/>
              </p:ext>
            </p:extLst>
          </p:nvPr>
        </p:nvGraphicFramePr>
        <p:xfrm>
          <a:off x="2231740" y="1966224"/>
          <a:ext cx="4550417" cy="1627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73300" imgH="812800" progId="Equation.DSMT4">
                  <p:embed/>
                </p:oleObj>
              </mc:Choice>
              <mc:Fallback>
                <p:oleObj name="Equation" r:id="rId2" imgW="2273300" imgH="812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1740" y="1966224"/>
                        <a:ext cx="4550417" cy="16272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165550"/>
              </p:ext>
            </p:extLst>
          </p:nvPr>
        </p:nvGraphicFramePr>
        <p:xfrm>
          <a:off x="1884281" y="4574707"/>
          <a:ext cx="5245333" cy="1332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90800" imgH="660400" progId="Equation.DSMT4">
                  <p:embed/>
                </p:oleObj>
              </mc:Choice>
              <mc:Fallback>
                <p:oleObj name="Equation" r:id="rId4" imgW="2590800" imgH="660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281" y="4574707"/>
                        <a:ext cx="5245333" cy="13321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23528" y="1150295"/>
            <a:ext cx="660950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根据电势差的定义，可求出电容器两极板间的电势差：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73624" y="3877654"/>
            <a:ext cx="30059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根据电容器电容的定义：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069862" y="3949931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841872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80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18362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r>
              <a:rPr lang="zh-CN" altLang="en-US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（重点）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8" name="Group 1"/>
          <p:cNvGrpSpPr>
            <a:grpSpLocks/>
          </p:cNvGrpSpPr>
          <p:nvPr/>
        </p:nvGrpSpPr>
        <p:grpSpPr bwMode="auto">
          <a:xfrm>
            <a:off x="6336196" y="2860487"/>
            <a:ext cx="1581150" cy="1581150"/>
            <a:chOff x="6103" y="4061"/>
            <a:chExt cx="2490" cy="2490"/>
          </a:xfrm>
        </p:grpSpPr>
        <p:sp>
          <p:nvSpPr>
            <p:cNvPr id="9" name="Oval 13"/>
            <p:cNvSpPr>
              <a:spLocks noChangeArrowheads="1"/>
            </p:cNvSpPr>
            <p:nvPr/>
          </p:nvSpPr>
          <p:spPr bwMode="auto">
            <a:xfrm>
              <a:off x="6103" y="4061"/>
              <a:ext cx="2490" cy="2445"/>
            </a:xfrm>
            <a:prstGeom prst="ellipse">
              <a:avLst/>
            </a:prstGeom>
            <a:solidFill>
              <a:srgbClr val="FF99CC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Oval 12"/>
            <p:cNvSpPr>
              <a:spLocks noChangeArrowheads="1"/>
            </p:cNvSpPr>
            <p:nvPr/>
          </p:nvSpPr>
          <p:spPr bwMode="auto">
            <a:xfrm>
              <a:off x="6600" y="4515"/>
              <a:ext cx="1530" cy="151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6973" y="4901"/>
              <a:ext cx="780" cy="76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7363" y="5276"/>
              <a:ext cx="40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V="1">
              <a:off x="7363" y="4541"/>
              <a:ext cx="945" cy="7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Text Box 8"/>
            <p:cNvSpPr txBox="1">
              <a:spLocks noChangeArrowheads="1"/>
            </p:cNvSpPr>
            <p:nvPr/>
          </p:nvSpPr>
          <p:spPr bwMode="auto">
            <a:xfrm>
              <a:off x="7675" y="4091"/>
              <a:ext cx="705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0" lang="en-US" altLang="zh-CN" sz="14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Text Box 7"/>
            <p:cNvSpPr txBox="1">
              <a:spLocks noChangeArrowheads="1"/>
            </p:cNvSpPr>
            <p:nvPr/>
          </p:nvSpPr>
          <p:spPr bwMode="auto">
            <a:xfrm>
              <a:off x="7075" y="4691"/>
              <a:ext cx="705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Text Box 6"/>
            <p:cNvSpPr txBox="1">
              <a:spLocks noChangeArrowheads="1"/>
            </p:cNvSpPr>
            <p:nvPr/>
          </p:nvSpPr>
          <p:spPr bwMode="auto">
            <a:xfrm>
              <a:off x="7225" y="5066"/>
              <a:ext cx="705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0" lang="en-US" altLang="zh-CN" sz="14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Line 5"/>
            <p:cNvSpPr>
              <a:spLocks noChangeShapeType="1"/>
            </p:cNvSpPr>
            <p:nvPr/>
          </p:nvSpPr>
          <p:spPr bwMode="auto">
            <a:xfrm flipH="1" flipV="1">
              <a:off x="6630" y="5070"/>
              <a:ext cx="735" cy="2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Text Box 4"/>
            <p:cNvSpPr txBox="1">
              <a:spLocks noChangeArrowheads="1"/>
            </p:cNvSpPr>
            <p:nvPr/>
          </p:nvSpPr>
          <p:spPr bwMode="auto">
            <a:xfrm>
              <a:off x="6535" y="4976"/>
              <a:ext cx="705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0" lang="en-US" altLang="zh-CN" sz="14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Text Box 3"/>
            <p:cNvSpPr txBox="1">
              <a:spLocks noChangeArrowheads="1"/>
            </p:cNvSpPr>
            <p:nvPr/>
          </p:nvSpPr>
          <p:spPr bwMode="auto">
            <a:xfrm>
              <a:off x="7105" y="5426"/>
              <a:ext cx="705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ε</a:t>
              </a:r>
              <a:r>
                <a:rPr kumimoji="0" lang="en-US" altLang="zh-CN" sz="1400" b="0" i="0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r1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Text Box 2"/>
            <p:cNvSpPr txBox="1">
              <a:spLocks noChangeArrowheads="1"/>
            </p:cNvSpPr>
            <p:nvPr/>
          </p:nvSpPr>
          <p:spPr bwMode="auto">
            <a:xfrm>
              <a:off x="7105" y="5816"/>
              <a:ext cx="705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ε</a:t>
              </a:r>
              <a:r>
                <a:rPr kumimoji="0" lang="en-US" altLang="zh-CN" sz="14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r2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647564" y="1069315"/>
            <a:ext cx="7452828" cy="190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zh-CN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半径分别为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的同心导体球面组成的球形电容器，间充满相对介电常数为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r1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r2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的两层各向同性均匀介质，它们的分界线为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的同心球面。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求：此电容器的电容。</a:t>
            </a:r>
          </a:p>
        </p:txBody>
      </p:sp>
    </p:spTree>
    <p:extLst>
      <p:ext uri="{BB962C8B-B14F-4D97-AF65-F5344CB8AC3E}">
        <p14:creationId xmlns:p14="http://schemas.microsoft.com/office/powerpoint/2010/main" val="230085109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81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18362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r>
              <a:rPr lang="zh-CN" altLang="en-US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（重点）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8" name="Group 1"/>
          <p:cNvGrpSpPr>
            <a:grpSpLocks/>
          </p:cNvGrpSpPr>
          <p:nvPr/>
        </p:nvGrpSpPr>
        <p:grpSpPr bwMode="auto">
          <a:xfrm>
            <a:off x="6336196" y="2860487"/>
            <a:ext cx="1581150" cy="1581150"/>
            <a:chOff x="6103" y="4061"/>
            <a:chExt cx="2490" cy="2490"/>
          </a:xfrm>
        </p:grpSpPr>
        <p:sp>
          <p:nvSpPr>
            <p:cNvPr id="9" name="Oval 13"/>
            <p:cNvSpPr>
              <a:spLocks noChangeArrowheads="1"/>
            </p:cNvSpPr>
            <p:nvPr/>
          </p:nvSpPr>
          <p:spPr bwMode="auto">
            <a:xfrm>
              <a:off x="6103" y="4061"/>
              <a:ext cx="2490" cy="2445"/>
            </a:xfrm>
            <a:prstGeom prst="ellipse">
              <a:avLst/>
            </a:prstGeom>
            <a:solidFill>
              <a:srgbClr val="FF99CC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Oval 12"/>
            <p:cNvSpPr>
              <a:spLocks noChangeArrowheads="1"/>
            </p:cNvSpPr>
            <p:nvPr/>
          </p:nvSpPr>
          <p:spPr bwMode="auto">
            <a:xfrm>
              <a:off x="6600" y="4515"/>
              <a:ext cx="1530" cy="151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6973" y="4901"/>
              <a:ext cx="780" cy="76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7363" y="5276"/>
              <a:ext cx="40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V="1">
              <a:off x="7363" y="4541"/>
              <a:ext cx="945" cy="7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Text Box 8"/>
            <p:cNvSpPr txBox="1">
              <a:spLocks noChangeArrowheads="1"/>
            </p:cNvSpPr>
            <p:nvPr/>
          </p:nvSpPr>
          <p:spPr bwMode="auto">
            <a:xfrm>
              <a:off x="7675" y="4091"/>
              <a:ext cx="705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0" lang="en-US" altLang="zh-CN" sz="14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Text Box 7"/>
            <p:cNvSpPr txBox="1">
              <a:spLocks noChangeArrowheads="1"/>
            </p:cNvSpPr>
            <p:nvPr/>
          </p:nvSpPr>
          <p:spPr bwMode="auto">
            <a:xfrm>
              <a:off x="7075" y="4691"/>
              <a:ext cx="705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Text Box 6"/>
            <p:cNvSpPr txBox="1">
              <a:spLocks noChangeArrowheads="1"/>
            </p:cNvSpPr>
            <p:nvPr/>
          </p:nvSpPr>
          <p:spPr bwMode="auto">
            <a:xfrm>
              <a:off x="7225" y="5066"/>
              <a:ext cx="705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0" lang="en-US" altLang="zh-CN" sz="14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Line 5"/>
            <p:cNvSpPr>
              <a:spLocks noChangeShapeType="1"/>
            </p:cNvSpPr>
            <p:nvPr/>
          </p:nvSpPr>
          <p:spPr bwMode="auto">
            <a:xfrm flipH="1" flipV="1">
              <a:off x="6630" y="5070"/>
              <a:ext cx="735" cy="2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Text Box 4"/>
            <p:cNvSpPr txBox="1">
              <a:spLocks noChangeArrowheads="1"/>
            </p:cNvSpPr>
            <p:nvPr/>
          </p:nvSpPr>
          <p:spPr bwMode="auto">
            <a:xfrm>
              <a:off x="6535" y="4976"/>
              <a:ext cx="705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0" lang="en-US" altLang="zh-CN" sz="14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Text Box 3"/>
            <p:cNvSpPr txBox="1">
              <a:spLocks noChangeArrowheads="1"/>
            </p:cNvSpPr>
            <p:nvPr/>
          </p:nvSpPr>
          <p:spPr bwMode="auto">
            <a:xfrm>
              <a:off x="7105" y="5426"/>
              <a:ext cx="705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ε</a:t>
              </a:r>
              <a:r>
                <a:rPr kumimoji="0" lang="en-US" altLang="zh-CN" sz="1400" b="0" i="0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r1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Text Box 2"/>
            <p:cNvSpPr txBox="1">
              <a:spLocks noChangeArrowheads="1"/>
            </p:cNvSpPr>
            <p:nvPr/>
          </p:nvSpPr>
          <p:spPr bwMode="auto">
            <a:xfrm>
              <a:off x="7105" y="5816"/>
              <a:ext cx="705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ε</a:t>
              </a:r>
              <a:r>
                <a:rPr kumimoji="0" lang="en-US" altLang="zh-CN" sz="14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r2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647564" y="1069315"/>
            <a:ext cx="7452828" cy="190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zh-CN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半径分别为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的同心导体球面组成的球形电容器，间充满相对介电常数为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r1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r2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的两层各向同性均匀介质，它们的分界线为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的同心球面。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求：此电容器的电容。</a:t>
            </a: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676700" y="3261884"/>
            <a:ext cx="4031873" cy="828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解：在介质中做同心的球型高斯面</a:t>
            </a:r>
          </a:p>
          <a:p>
            <a:pPr algn="l" eaLnBrk="0" hangingPunct="0">
              <a:lnSpc>
                <a:spcPct val="125000"/>
              </a:lnSpc>
            </a:pP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通过球面的电位移通量为：</a:t>
            </a: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53866"/>
              </p:ext>
            </p:extLst>
          </p:nvPr>
        </p:nvGraphicFramePr>
        <p:xfrm>
          <a:off x="1921041" y="4405422"/>
          <a:ext cx="3260725" cy="898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0" imgH="380880" progId="Equation.DSMT4">
                  <p:embed/>
                </p:oleObj>
              </mc:Choice>
              <mc:Fallback>
                <p:oleObj name="Equation" r:id="rId2" imgW="1396800" imgH="38088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1041" y="4405422"/>
                        <a:ext cx="3260725" cy="8982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233026"/>
              </p:ext>
            </p:extLst>
          </p:nvPr>
        </p:nvGraphicFramePr>
        <p:xfrm>
          <a:off x="3082428" y="5131334"/>
          <a:ext cx="1379443" cy="836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7419" imgH="393529" progId="Equation.DSMT4">
                  <p:embed/>
                </p:oleObj>
              </mc:Choice>
              <mc:Fallback>
                <p:oleObj name="Equation" r:id="rId4" imgW="647419" imgH="393529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428" y="5131334"/>
                        <a:ext cx="1379443" cy="8364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844814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82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1331638" y="1283442"/>
            <a:ext cx="21602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kern="100" dirty="0"/>
              <a:t>D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＝</a:t>
            </a:r>
            <a:r>
              <a:rPr lang="en-US" altLang="zh-CN" sz="2400" kern="100" dirty="0"/>
              <a:t>ε</a:t>
            </a:r>
            <a:r>
              <a:rPr lang="en-US" altLang="zh-CN" sz="2400" kern="100" baseline="-25000" dirty="0"/>
              <a:t>0</a:t>
            </a:r>
            <a:r>
              <a:rPr lang="en-US" altLang="zh-CN" sz="2400" kern="100" dirty="0"/>
              <a:t>ε</a:t>
            </a:r>
            <a:r>
              <a:rPr lang="en-US" altLang="zh-CN" sz="2400" kern="100" baseline="-25000" dirty="0"/>
              <a:t>r</a:t>
            </a:r>
            <a:r>
              <a:rPr lang="en-US" altLang="zh-CN" sz="2400" b="1" i="1" kern="100" dirty="0"/>
              <a:t>E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＝</a:t>
            </a:r>
            <a:r>
              <a:rPr lang="en-US" altLang="zh-CN" sz="2400" kern="100" dirty="0" err="1"/>
              <a:t>ε</a:t>
            </a:r>
            <a:r>
              <a:rPr lang="en-US" altLang="zh-CN" sz="2400" b="1" i="1" kern="100" dirty="0" err="1"/>
              <a:t>E</a:t>
            </a:r>
            <a:endParaRPr lang="zh-CN" altLang="en-US" sz="2400" i="1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61448"/>
              </p:ext>
            </p:extLst>
          </p:nvPr>
        </p:nvGraphicFramePr>
        <p:xfrm>
          <a:off x="1331638" y="1864380"/>
          <a:ext cx="2759191" cy="852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7000" imgH="431800" progId="Equation.DSMT4">
                  <p:embed/>
                </p:oleObj>
              </mc:Choice>
              <mc:Fallback>
                <p:oleObj name="Equation" r:id="rId2" imgW="1397000" imgH="431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38" y="1864380"/>
                        <a:ext cx="2759191" cy="8521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57742"/>
              </p:ext>
            </p:extLst>
          </p:nvPr>
        </p:nvGraphicFramePr>
        <p:xfrm>
          <a:off x="4899508" y="1818627"/>
          <a:ext cx="3083494" cy="920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800" imgH="431800" progId="Equation.DSMT4">
                  <p:embed/>
                </p:oleObj>
              </mc:Choice>
              <mc:Fallback>
                <p:oleObj name="Equation" r:id="rId4" imgW="1447800" imgH="431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9508" y="1818627"/>
                        <a:ext cx="3083494" cy="9206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343025" y="1237668"/>
            <a:ext cx="9132615" cy="553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391918" y="227895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1289839" y="2729844"/>
            <a:ext cx="249299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两极间的电势差为：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721841"/>
              </p:ext>
            </p:extLst>
          </p:nvPr>
        </p:nvGraphicFramePr>
        <p:xfrm>
          <a:off x="1343025" y="3475038"/>
          <a:ext cx="5362575" cy="166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81000" imgH="863280" progId="Equation.DSMT4">
                  <p:embed/>
                </p:oleObj>
              </mc:Choice>
              <mc:Fallback>
                <p:oleObj name="Equation" r:id="rId6" imgW="2781000" imgH="8632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3475038"/>
                        <a:ext cx="5362575" cy="1662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15404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83</a:t>
            </a:fld>
            <a:endParaRPr lang="en-US" altLang="zh-CN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15616" y="1154269"/>
            <a:ext cx="223651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电容器的电容为：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991742"/>
              </p:ext>
            </p:extLst>
          </p:nvPr>
        </p:nvGraphicFramePr>
        <p:xfrm>
          <a:off x="1439652" y="2096852"/>
          <a:ext cx="5919352" cy="136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08300" imgH="673100" progId="Equation.DSMT4">
                  <p:embed/>
                </p:oleObj>
              </mc:Choice>
              <mc:Fallback>
                <p:oleObj name="Equation" r:id="rId2" imgW="2908300" imgH="6731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652" y="2096852"/>
                        <a:ext cx="5919352" cy="13681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702817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84</a:t>
            </a:fld>
            <a:endParaRPr lang="en-US" altLang="zh-CN"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575556" y="1620147"/>
            <a:ext cx="8424936" cy="1602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同心导体球面组成的球形电容器，半径分别为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，带电量分别为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±Q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，电容器下半部充有电介质油，相对介电常数为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algn="l" eaLnBrk="0" hangingPunct="0">
              <a:lnSpc>
                <a:spcPct val="125000"/>
              </a:lnSpc>
            </a:pP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求：（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）介质中任意点的电场强度和电位移矢量；</a:t>
            </a:r>
          </a:p>
          <a:p>
            <a:pPr algn="l" eaLnBrk="0" hangingPunct="0">
              <a:lnSpc>
                <a:spcPct val="125000"/>
              </a:lnSpc>
            </a:pPr>
            <a:endParaRPr lang="zh-CN" altLang="en-US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6" name="Group 1"/>
          <p:cNvGrpSpPr>
            <a:grpSpLocks/>
          </p:cNvGrpSpPr>
          <p:nvPr/>
        </p:nvGrpSpPr>
        <p:grpSpPr bwMode="auto">
          <a:xfrm>
            <a:off x="7272300" y="3382144"/>
            <a:ext cx="1447800" cy="1419225"/>
            <a:chOff x="6580" y="4120"/>
            <a:chExt cx="2280" cy="2235"/>
          </a:xfrm>
        </p:grpSpPr>
        <p:sp>
          <p:nvSpPr>
            <p:cNvPr id="7" name="Oval 11"/>
            <p:cNvSpPr>
              <a:spLocks noChangeArrowheads="1"/>
            </p:cNvSpPr>
            <p:nvPr/>
          </p:nvSpPr>
          <p:spPr bwMode="auto">
            <a:xfrm>
              <a:off x="6585" y="4125"/>
              <a:ext cx="2265" cy="222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Oval 10"/>
            <p:cNvSpPr>
              <a:spLocks noChangeArrowheads="1"/>
            </p:cNvSpPr>
            <p:nvPr/>
          </p:nvSpPr>
          <p:spPr bwMode="auto">
            <a:xfrm>
              <a:off x="7305" y="4830"/>
              <a:ext cx="870" cy="8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6600" y="5235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8180" y="5240"/>
              <a:ext cx="6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6580" y="4120"/>
              <a:ext cx="2280" cy="1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2" name="Group 2"/>
            <p:cNvGrpSpPr>
              <a:grpSpLocks/>
            </p:cNvGrpSpPr>
            <p:nvPr/>
          </p:nvGrpSpPr>
          <p:grpSpPr bwMode="auto">
            <a:xfrm>
              <a:off x="6585" y="4135"/>
              <a:ext cx="2275" cy="2220"/>
              <a:chOff x="6585" y="4125"/>
              <a:chExt cx="2275" cy="2220"/>
            </a:xfrm>
          </p:grpSpPr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6585" y="4125"/>
                <a:ext cx="2265" cy="22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Oval 5"/>
              <p:cNvSpPr>
                <a:spLocks noChangeArrowheads="1"/>
              </p:cNvSpPr>
              <p:nvPr/>
            </p:nvSpPr>
            <p:spPr bwMode="auto">
              <a:xfrm>
                <a:off x="7305" y="4830"/>
                <a:ext cx="870" cy="85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Line 4"/>
              <p:cNvSpPr>
                <a:spLocks noChangeShapeType="1"/>
              </p:cNvSpPr>
              <p:nvPr/>
            </p:nvSpPr>
            <p:spPr bwMode="auto">
              <a:xfrm>
                <a:off x="6600" y="5235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Line 3"/>
              <p:cNvSpPr>
                <a:spLocks noChangeShapeType="1"/>
              </p:cNvSpPr>
              <p:nvPr/>
            </p:nvSpPr>
            <p:spPr bwMode="auto">
              <a:xfrm>
                <a:off x="8180" y="5240"/>
                <a:ext cx="6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1079612" y="2902409"/>
            <a:ext cx="26228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）电容器的电容。</a:t>
            </a:r>
          </a:p>
        </p:txBody>
      </p:sp>
      <p:sp>
        <p:nvSpPr>
          <p:cNvPr id="18" name="矩形 17"/>
          <p:cNvSpPr/>
          <p:nvPr/>
        </p:nvSpPr>
        <p:spPr>
          <a:xfrm>
            <a:off x="432000" y="597600"/>
            <a:ext cx="18362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r>
              <a:rPr lang="zh-CN" altLang="en-US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（重点）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41819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85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719572" y="1304764"/>
            <a:ext cx="7596844" cy="4207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25000"/>
              </a:lnSpc>
            </a:pPr>
            <a:r>
              <a:rPr lang="zh-CN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解：分析：金属球壳是等位体，球壳间距相同，有介质处和无介质处的</a:t>
            </a:r>
            <a:r>
              <a:rPr lang="zh-CN" altLang="zh-CN" sz="2400" kern="100" dirty="0">
                <a:solidFill>
                  <a:srgbClr val="FF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电场都相同</a:t>
            </a:r>
            <a:r>
              <a:rPr lang="zh-CN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。由于电介质的存在，介质中产生了极化电荷。极化电荷使金属表面的自由电荷产生重新分布，</a:t>
            </a:r>
            <a:r>
              <a:rPr lang="zh-CN" altLang="zh-CN" sz="2400" kern="100" dirty="0">
                <a:solidFill>
                  <a:srgbClr val="FF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有介质的半个球表面自由电荷密度高一些</a:t>
            </a:r>
            <a:r>
              <a:rPr lang="zh-CN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，没有介质的半个球表面自由电荷密度低一些。由于电位移只与自由电荷有关，与极化电荷无关，</a:t>
            </a:r>
            <a:r>
              <a:rPr lang="zh-CN" altLang="zh-CN" sz="2400" kern="100" dirty="0">
                <a:solidFill>
                  <a:srgbClr val="FF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有介质的半个球空间的电位移强一些</a:t>
            </a:r>
            <a:r>
              <a:rPr lang="zh-CN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，没有介质的半个球空间的电位移弱一些。但并不知道两个半球自由电荷是如何重新分布的。只知道整个球面的电荷为</a:t>
            </a:r>
            <a:r>
              <a:rPr lang="en-US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zh-CN" sz="24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65521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86</a:t>
            </a:fld>
            <a:endParaRPr lang="en-US" altLang="zh-CN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627784" y="116074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611369"/>
              </p:ext>
            </p:extLst>
          </p:nvPr>
        </p:nvGraphicFramePr>
        <p:xfrm>
          <a:off x="2245267" y="1145077"/>
          <a:ext cx="4327525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760" imgH="380880" progId="Equation.DSMT4">
                  <p:embed/>
                </p:oleObj>
              </mc:Choice>
              <mc:Fallback>
                <p:oleObj name="Equation" r:id="rId2" imgW="2120760" imgH="3808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5267" y="1145077"/>
                        <a:ext cx="4327525" cy="7794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7287052"/>
              </p:ext>
            </p:extLst>
          </p:nvPr>
        </p:nvGraphicFramePr>
        <p:xfrm>
          <a:off x="3345522" y="1809122"/>
          <a:ext cx="2297206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588" imgH="241195" progId="Equation.DSMT4">
                  <p:embed/>
                </p:oleObj>
              </mc:Choice>
              <mc:Fallback>
                <p:oleObj name="Equation" r:id="rId4" imgW="1180588" imgH="24119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5522" y="1809122"/>
                        <a:ext cx="2297206" cy="476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514878"/>
              </p:ext>
            </p:extLst>
          </p:nvPr>
        </p:nvGraphicFramePr>
        <p:xfrm>
          <a:off x="1456087" y="2332997"/>
          <a:ext cx="2343394" cy="535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2960" imgH="228600" progId="Equation.DSMT4">
                  <p:embed/>
                </p:oleObj>
              </mc:Choice>
              <mc:Fallback>
                <p:oleObj name="Equation" r:id="rId6" imgW="100296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6087" y="2332997"/>
                        <a:ext cx="2343394" cy="5356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119159"/>
              </p:ext>
            </p:extLst>
          </p:nvPr>
        </p:nvGraphicFramePr>
        <p:xfrm>
          <a:off x="5375813" y="2363846"/>
          <a:ext cx="2680543" cy="484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9720" imgH="228600" progId="Equation.DSMT4">
                  <p:embed/>
                </p:oleObj>
              </mc:Choice>
              <mc:Fallback>
                <p:oleObj name="Equation" r:id="rId8" imgW="126972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813" y="2363846"/>
                        <a:ext cx="2680543" cy="4846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513810"/>
              </p:ext>
            </p:extLst>
          </p:nvPr>
        </p:nvGraphicFramePr>
        <p:xfrm>
          <a:off x="2922145" y="2986263"/>
          <a:ext cx="3143960" cy="59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9720" imgH="241200" progId="Equation.DSMT4">
                  <p:embed/>
                </p:oleObj>
              </mc:Choice>
              <mc:Fallback>
                <p:oleObj name="Equation" r:id="rId10" imgW="126972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2145" y="2986263"/>
                        <a:ext cx="3143960" cy="5914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155967"/>
              </p:ext>
            </p:extLst>
          </p:nvPr>
        </p:nvGraphicFramePr>
        <p:xfrm>
          <a:off x="3144379" y="3685970"/>
          <a:ext cx="3098687" cy="2536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25400" imgH="1333440" progId="Equation.DSMT4">
                  <p:embed/>
                </p:oleObj>
              </mc:Choice>
              <mc:Fallback>
                <p:oleObj name="Equation" r:id="rId12" imgW="1625400" imgH="13334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4379" y="3685970"/>
                        <a:ext cx="3098687" cy="25365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6531354" y="1286364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6531354" y="2067414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4409030" y="2332997"/>
            <a:ext cx="5693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；</a:t>
            </a:r>
            <a:endParaRPr kumimoji="0" lang="zh-CN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6531354" y="3134214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6531354" y="3953364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27507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87</a:t>
            </a:fld>
            <a:endParaRPr lang="en-US" altLang="zh-CN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205918"/>
              </p:ext>
            </p:extLst>
          </p:nvPr>
        </p:nvGraphicFramePr>
        <p:xfrm>
          <a:off x="1892300" y="1703434"/>
          <a:ext cx="535940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95480" imgH="939600" progId="Equation.DSMT4">
                  <p:embed/>
                </p:oleObj>
              </mc:Choice>
              <mc:Fallback>
                <p:oleObj name="Equation" r:id="rId2" imgW="2895480" imgH="939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1703434"/>
                        <a:ext cx="5359400" cy="1739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11660" y="4238121"/>
            <a:ext cx="9541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电容为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679725"/>
              </p:ext>
            </p:extLst>
          </p:nvPr>
        </p:nvGraphicFramePr>
        <p:xfrm>
          <a:off x="2735796" y="4041068"/>
          <a:ext cx="4248472" cy="1032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7680" imgH="431640" progId="Equation.DSMT4">
                  <p:embed/>
                </p:oleObj>
              </mc:Choice>
              <mc:Fallback>
                <p:oleObj name="Equation" r:id="rId4" imgW="177768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796" y="4041068"/>
                        <a:ext cx="4248472" cy="10320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277038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88</a:t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6698279"/>
              </p:ext>
            </p:extLst>
          </p:nvPr>
        </p:nvGraphicFramePr>
        <p:xfrm>
          <a:off x="3427164" y="2898270"/>
          <a:ext cx="2457639" cy="1770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965160" progId="Equation.DSMT4">
                  <p:embed/>
                </p:oleObj>
              </mc:Choice>
              <mc:Fallback>
                <p:oleObj name="Equation" r:id="rId2" imgW="1333440" imgH="9651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7164" y="2898270"/>
                        <a:ext cx="2457639" cy="17705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437645"/>
              </p:ext>
            </p:extLst>
          </p:nvPr>
        </p:nvGraphicFramePr>
        <p:xfrm>
          <a:off x="2267744" y="5157192"/>
          <a:ext cx="4854317" cy="1011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000" imgH="431640" progId="Equation.DSMT4">
                  <p:embed/>
                </p:oleObj>
              </mc:Choice>
              <mc:Fallback>
                <p:oleObj name="Equation" r:id="rId4" imgW="2070000" imgH="4316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5157192"/>
                        <a:ext cx="4854317" cy="10113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187624" y="1113549"/>
            <a:ext cx="6768752" cy="808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也可以把球型电容看成是两个半球电容的并联。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由球型电容器可知：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5451234" y="2663466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70886" y="1973737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同心球电容器：</a:t>
            </a:r>
          </a:p>
        </p:txBody>
      </p:sp>
      <p:graphicFrame>
        <p:nvGraphicFramePr>
          <p:cNvPr id="9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54181"/>
              </p:ext>
            </p:extLst>
          </p:nvPr>
        </p:nvGraphicFramePr>
        <p:xfrm>
          <a:off x="3970338" y="1808163"/>
          <a:ext cx="187325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431640" progId="Equation.DSMT4">
                  <p:embed/>
                </p:oleObj>
              </mc:Choice>
              <mc:Fallback>
                <p:oleObj name="Equation" r:id="rId6" imgW="1015920" imgH="43164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1808163"/>
                        <a:ext cx="1873250" cy="7921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219899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89</a:t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143508" y="69269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上节内容回顾一</a:t>
            </a:r>
          </a:p>
        </p:txBody>
      </p:sp>
    </p:spTree>
    <p:extLst>
      <p:ext uri="{BB962C8B-B14F-4D97-AF65-F5344CB8AC3E}">
        <p14:creationId xmlns:p14="http://schemas.microsoft.com/office/powerpoint/2010/main" val="88348603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90</a:t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143508" y="69269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上节内容回顾二</a:t>
            </a:r>
          </a:p>
        </p:txBody>
      </p:sp>
    </p:spTree>
    <p:extLst>
      <p:ext uri="{BB962C8B-B14F-4D97-AF65-F5344CB8AC3E}">
        <p14:creationId xmlns:p14="http://schemas.microsoft.com/office/powerpoint/2010/main" val="3721322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91</a:t>
            </a:fld>
            <a:endParaRPr lang="en-US" altLang="zh-CN"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467544" y="1419579"/>
            <a:ext cx="8243192" cy="1987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平行板电容器面积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，间距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，带电量为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。一半充有电容率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r1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的电介质，另一半充有电容率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r2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的电介质。</a:t>
            </a:r>
          </a:p>
          <a:p>
            <a:pPr algn="l" eaLnBrk="0" hangingPunct="0">
              <a:lnSpc>
                <a:spcPct val="125000"/>
              </a:lnSpc>
            </a:pP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求：（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）介质中任意点的电场强度和电位移矢量；</a:t>
            </a:r>
            <a:endParaRPr lang="en-US" altLang="zh-CN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l" eaLnBrk="0" hangingPunct="0">
              <a:lnSpc>
                <a:spcPct val="125000"/>
              </a:lnSpc>
            </a:pP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         （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）电容器的电容。</a:t>
            </a:r>
          </a:p>
          <a:p>
            <a:pPr algn="l" eaLnBrk="0" hangingPunct="0">
              <a:lnSpc>
                <a:spcPct val="125000"/>
              </a:lnSpc>
            </a:pPr>
            <a:endParaRPr lang="zh-CN" altLang="en-US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32000" y="597600"/>
            <a:ext cx="18362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r>
              <a:rPr lang="zh-CN" altLang="en-US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（重点）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540060" y="83965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8" name="Group 1"/>
          <p:cNvGrpSpPr>
            <a:grpSpLocks/>
          </p:cNvGrpSpPr>
          <p:nvPr/>
        </p:nvGrpSpPr>
        <p:grpSpPr bwMode="auto">
          <a:xfrm>
            <a:off x="6671659" y="3392996"/>
            <a:ext cx="1716087" cy="1400175"/>
            <a:chOff x="6315" y="1290"/>
            <a:chExt cx="2703" cy="2205"/>
          </a:xfrm>
        </p:grpSpPr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6330" y="1971"/>
              <a:ext cx="1380" cy="1050"/>
            </a:xfrm>
            <a:prstGeom prst="rect">
              <a:avLst/>
            </a:prstGeom>
            <a:solidFill>
              <a:srgbClr val="FF99CC">
                <a:alpha val="5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ε</a:t>
              </a:r>
              <a:r>
                <a:rPr kumimoji="0" lang="en-US" altLang="zh-CN" sz="14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r1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6315" y="1491"/>
              <a:ext cx="2670" cy="420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＋＋＋＋＋＋＋＋＋＋＋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6330" y="3075"/>
              <a:ext cx="2670" cy="420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―――――――――――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Rectangle 3"/>
            <p:cNvSpPr>
              <a:spLocks noChangeArrowheads="1"/>
            </p:cNvSpPr>
            <p:nvPr/>
          </p:nvSpPr>
          <p:spPr bwMode="auto">
            <a:xfrm>
              <a:off x="6852" y="1290"/>
              <a:ext cx="765" cy="132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Text Box 2"/>
            <p:cNvSpPr txBox="1">
              <a:spLocks noChangeArrowheads="1"/>
            </p:cNvSpPr>
            <p:nvPr/>
          </p:nvSpPr>
          <p:spPr bwMode="auto">
            <a:xfrm>
              <a:off x="7698" y="1968"/>
              <a:ext cx="1320" cy="105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ε</a:t>
              </a:r>
              <a:r>
                <a:rPr kumimoji="0" lang="en-US" altLang="zh-CN" sz="12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r2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464253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92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432000" y="597600"/>
            <a:ext cx="18362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r>
              <a:rPr lang="zh-CN" altLang="en-US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（重点）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540060" y="83965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8" name="Group 1"/>
          <p:cNvGrpSpPr>
            <a:grpSpLocks/>
          </p:cNvGrpSpPr>
          <p:nvPr/>
        </p:nvGrpSpPr>
        <p:grpSpPr bwMode="auto">
          <a:xfrm>
            <a:off x="6671659" y="3392996"/>
            <a:ext cx="1716087" cy="1400175"/>
            <a:chOff x="6315" y="1290"/>
            <a:chExt cx="2703" cy="2205"/>
          </a:xfrm>
        </p:grpSpPr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6330" y="1971"/>
              <a:ext cx="1380" cy="1050"/>
            </a:xfrm>
            <a:prstGeom prst="rect">
              <a:avLst/>
            </a:prstGeom>
            <a:solidFill>
              <a:srgbClr val="FF99CC">
                <a:alpha val="5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ε</a:t>
              </a:r>
              <a:r>
                <a:rPr kumimoji="0" lang="en-US" altLang="zh-CN" sz="14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r1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6315" y="1491"/>
              <a:ext cx="2670" cy="420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＋＋＋＋＋＋＋＋＋＋＋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6330" y="3075"/>
              <a:ext cx="2670" cy="420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―――――――――――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Rectangle 3"/>
            <p:cNvSpPr>
              <a:spLocks noChangeArrowheads="1"/>
            </p:cNvSpPr>
            <p:nvPr/>
          </p:nvSpPr>
          <p:spPr bwMode="auto">
            <a:xfrm>
              <a:off x="6852" y="1290"/>
              <a:ext cx="765" cy="132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Text Box 2"/>
            <p:cNvSpPr txBox="1">
              <a:spLocks noChangeArrowheads="1"/>
            </p:cNvSpPr>
            <p:nvPr/>
          </p:nvSpPr>
          <p:spPr bwMode="auto">
            <a:xfrm>
              <a:off x="7698" y="1968"/>
              <a:ext cx="1320" cy="105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ε</a:t>
              </a:r>
              <a:r>
                <a:rPr kumimoji="0" lang="en-US" altLang="zh-CN" sz="1200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r2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432000" y="3289947"/>
            <a:ext cx="5805400" cy="1597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解：分析：可以看成两个电容的并联。</a:t>
            </a:r>
          </a:p>
          <a:p>
            <a:pPr algn="l" eaLnBrk="0" hangingPunct="0">
              <a:lnSpc>
                <a:spcPct val="125000"/>
              </a:lnSpc>
            </a:pP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深入分析可以看到：极板间各处的电场强度相同。由于电介质不同，极化电荷数量不同，造成自由电荷分布密度不同，由此造成电位移不同。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72517095-316D-5D60-F79A-8730E34FF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1419579"/>
            <a:ext cx="8243192" cy="1987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平行板电容器面积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，间距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，带电量为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。一半充有电容率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r1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的电介质，另一半充有电容率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r2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的电介质。</a:t>
            </a:r>
          </a:p>
          <a:p>
            <a:pPr algn="l" eaLnBrk="0" hangingPunct="0">
              <a:lnSpc>
                <a:spcPct val="125000"/>
              </a:lnSpc>
            </a:pP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求：（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）介质中任意点的电场强度和电位移矢量；</a:t>
            </a:r>
            <a:endParaRPr lang="en-US" altLang="zh-CN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l" eaLnBrk="0" hangingPunct="0">
              <a:lnSpc>
                <a:spcPct val="125000"/>
              </a:lnSpc>
            </a:pP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         （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）电容器的电容。</a:t>
            </a:r>
          </a:p>
          <a:p>
            <a:pPr algn="l" eaLnBrk="0" hangingPunct="0">
              <a:lnSpc>
                <a:spcPct val="125000"/>
              </a:lnSpc>
            </a:pPr>
            <a:endParaRPr lang="zh-CN" altLang="en-US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66044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93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35311" y="668735"/>
            <a:ext cx="5778388" cy="443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取一个覆盖整个电容器表面的高斯面：</a:t>
            </a:r>
            <a:endParaRPr lang="zh-CN" altLang="en-US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378661"/>
              </p:ext>
            </p:extLst>
          </p:nvPr>
        </p:nvGraphicFramePr>
        <p:xfrm>
          <a:off x="2522711" y="1278502"/>
          <a:ext cx="4090988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480" imgH="380880" progId="Equation.DSMT4">
                  <p:embed/>
                </p:oleObj>
              </mc:Choice>
              <mc:Fallback>
                <p:oleObj name="Equation" r:id="rId2" imgW="1752480" imgH="3808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711" y="1278502"/>
                        <a:ext cx="4090988" cy="8937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543587"/>
              </p:ext>
            </p:extLst>
          </p:nvPr>
        </p:nvGraphicFramePr>
        <p:xfrm>
          <a:off x="3264347" y="1869887"/>
          <a:ext cx="2152650" cy="839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6000" imgH="393700" progId="Equation.DSMT4">
                  <p:embed/>
                </p:oleObj>
              </mc:Choice>
              <mc:Fallback>
                <p:oleObj name="Equation" r:id="rId4" imgW="10160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4347" y="1869887"/>
                        <a:ext cx="2152650" cy="8396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311586"/>
              </p:ext>
            </p:extLst>
          </p:nvPr>
        </p:nvGraphicFramePr>
        <p:xfrm>
          <a:off x="1358256" y="2667671"/>
          <a:ext cx="3177740" cy="558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07880" imgH="228600" progId="Equation.DSMT4">
                  <p:embed/>
                </p:oleObj>
              </mc:Choice>
              <mc:Fallback>
                <p:oleObj name="Equation" r:id="rId6" imgW="130788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256" y="2667671"/>
                        <a:ext cx="3177740" cy="5587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541864"/>
              </p:ext>
            </p:extLst>
          </p:nvPr>
        </p:nvGraphicFramePr>
        <p:xfrm>
          <a:off x="5580112" y="2734207"/>
          <a:ext cx="2754817" cy="461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71600" imgH="228600" progId="Equation.DSMT4">
                  <p:embed/>
                </p:oleObj>
              </mc:Choice>
              <mc:Fallback>
                <p:oleObj name="Equation" r:id="rId8" imgW="13716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2734207"/>
                        <a:ext cx="2754817" cy="4615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210168"/>
              </p:ext>
            </p:extLst>
          </p:nvPr>
        </p:nvGraphicFramePr>
        <p:xfrm>
          <a:off x="3295089" y="3067445"/>
          <a:ext cx="2659629" cy="824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57120" imgH="393480" progId="Equation.DSMT4">
                  <p:embed/>
                </p:oleObj>
              </mc:Choice>
              <mc:Fallback>
                <p:oleObj name="Equation" r:id="rId10" imgW="1257120" imgH="3934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5089" y="3067445"/>
                        <a:ext cx="2659629" cy="8244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65022"/>
              </p:ext>
            </p:extLst>
          </p:nvPr>
        </p:nvGraphicFramePr>
        <p:xfrm>
          <a:off x="3295089" y="3750268"/>
          <a:ext cx="3061321" cy="2505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25400" imgH="1333440" progId="Equation.DSMT4">
                  <p:embed/>
                </p:oleObj>
              </mc:Choice>
              <mc:Fallback>
                <p:oleObj name="Equation" r:id="rId12" imgW="1625400" imgH="13334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5089" y="3750268"/>
                        <a:ext cx="3061321" cy="25059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1691680" y="154493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691680" y="237361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1691680" y="289748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796374" y="2670973"/>
            <a:ext cx="6463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； 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691680" y="350708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1691680" y="409763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57340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94</a:t>
            </a:fld>
            <a:endParaRPr lang="en-US" altLang="zh-CN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195736" y="116074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640981"/>
              </p:ext>
            </p:extLst>
          </p:nvPr>
        </p:nvGraphicFramePr>
        <p:xfrm>
          <a:off x="3167844" y="1160748"/>
          <a:ext cx="3096344" cy="3390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4960" imgH="1574640" progId="Equation.DSMT4">
                  <p:embed/>
                </p:oleObj>
              </mc:Choice>
              <mc:Fallback>
                <p:oleObj name="Equation" r:id="rId2" imgW="1434960" imgH="15746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844" y="1160748"/>
                        <a:ext cx="3096344" cy="33904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67544" y="4581956"/>
            <a:ext cx="5405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也可以看成两个面积为</a:t>
            </a:r>
            <a:r>
              <a:rPr lang="en-US" altLang="zh-CN" sz="2000" dirty="0"/>
              <a:t>S/2</a:t>
            </a:r>
            <a:r>
              <a:rPr lang="zh-CN" altLang="en-US" sz="2000" dirty="0"/>
              <a:t>的平板电容器并联：</a:t>
            </a:r>
          </a:p>
        </p:txBody>
      </p:sp>
      <p:graphicFrame>
        <p:nvGraphicFramePr>
          <p:cNvPr id="7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562496"/>
              </p:ext>
            </p:extLst>
          </p:nvPr>
        </p:nvGraphicFramePr>
        <p:xfrm>
          <a:off x="1835696" y="5038077"/>
          <a:ext cx="53689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89040" imgH="393480" progId="Equation.DSMT4">
                  <p:embed/>
                </p:oleObj>
              </mc:Choice>
              <mc:Fallback>
                <p:oleObj name="Equation" r:id="rId4" imgW="2489040" imgH="39348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5038077"/>
                        <a:ext cx="5368925" cy="847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528862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95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755576" y="584811"/>
            <a:ext cx="45127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0" hangingPunct="0">
              <a:spcBef>
                <a:spcPct val="20000"/>
              </a:spcBef>
            </a:pPr>
            <a:r>
              <a:rPr lang="zh-CN" altLang="zh-CN" sz="28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有电介质存在时电场的能量</a:t>
            </a:r>
          </a:p>
        </p:txBody>
      </p:sp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755576" y="1813208"/>
            <a:ext cx="8170676" cy="237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平行板电容器的极板面积为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，极板间距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，中间充满相对介电常数为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电介质。当充电后，两极板间的电势差为△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algn="l" eaLnBrk="0" hangingPunct="0">
              <a:lnSpc>
                <a:spcPct val="125000"/>
              </a:lnSpc>
            </a:pP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求：（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）电容器中电场的能量；</a:t>
            </a:r>
            <a:endParaRPr lang="en-US" altLang="zh-CN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l" eaLnBrk="0" hangingPunct="0">
              <a:lnSpc>
                <a:spcPct val="125000"/>
              </a:lnSpc>
            </a:pP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         （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）如果切断充电电源，把电介质从电容器中抽出来，外界要作多少功。</a:t>
            </a:r>
          </a:p>
          <a:p>
            <a:pPr algn="l" eaLnBrk="0" hangingPunct="0">
              <a:lnSpc>
                <a:spcPct val="125000"/>
              </a:lnSpc>
            </a:pPr>
            <a:endParaRPr lang="zh-CN" altLang="en-US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2000" y="1108031"/>
            <a:ext cx="18362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60" y="4113076"/>
            <a:ext cx="2090752" cy="19026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813" y="4113076"/>
            <a:ext cx="2803305" cy="190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8948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96</a:t>
            </a:fld>
            <a:endParaRPr lang="en-US" altLang="zh-CN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91580" y="1068839"/>
            <a:ext cx="507061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解：对于平行板介质电容器，其电容为：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312001"/>
              </p:ext>
            </p:extLst>
          </p:nvPr>
        </p:nvGraphicFramePr>
        <p:xfrm>
          <a:off x="3095836" y="1555165"/>
          <a:ext cx="2197420" cy="795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726" imgH="393529" progId="Equation.DSMT4">
                  <p:embed/>
                </p:oleObj>
              </mc:Choice>
              <mc:Fallback>
                <p:oleObj name="Equation" r:id="rId2" imgW="1091726" imgH="393529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836" y="1555165"/>
                        <a:ext cx="2197420" cy="7951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1608042" y="2370096"/>
            <a:ext cx="3909468" cy="4435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电势差△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Ed</a:t>
            </a: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，电场的能量为：</a:t>
            </a:r>
            <a:endParaRPr lang="zh-CN" altLang="en-US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93991"/>
              </p:ext>
            </p:extLst>
          </p:nvPr>
        </p:nvGraphicFramePr>
        <p:xfrm>
          <a:off x="1511660" y="2843899"/>
          <a:ext cx="6203981" cy="756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38500" imgH="393700" progId="Equation.DSMT4">
                  <p:embed/>
                </p:oleObj>
              </mc:Choice>
              <mc:Fallback>
                <p:oleObj name="Equation" r:id="rId4" imgW="3238500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660" y="2843899"/>
                        <a:ext cx="6203981" cy="7565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1608042" y="3838812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电场的能量密度为：</a:t>
            </a:r>
            <a:endParaRPr lang="zh-CN" altLang="en-US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804905"/>
              </p:ext>
            </p:extLst>
          </p:nvPr>
        </p:nvGraphicFramePr>
        <p:xfrm>
          <a:off x="1608042" y="4550167"/>
          <a:ext cx="3865402" cy="733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82800" imgH="393700" progId="Equation.DSMT4">
                  <p:embed/>
                </p:oleObj>
              </mc:Choice>
              <mc:Fallback>
                <p:oleObj name="Equation" r:id="rId6" imgW="20828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042" y="4550167"/>
                        <a:ext cx="3865402" cy="7330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1487320" y="5481529"/>
            <a:ext cx="54144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此式是</a:t>
            </a:r>
            <a:r>
              <a:rPr lang="zh-CN" altLang="zh-CN" sz="2000" b="1" kern="100" dirty="0">
                <a:solidFill>
                  <a:srgbClr val="C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电场能量密度的普遍表达式</a:t>
            </a: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43228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97</a:t>
            </a:fld>
            <a:endParaRPr lang="en-US" altLang="zh-CN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51621" y="1091801"/>
            <a:ext cx="35189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充电后，极板所带的电量为：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334658"/>
              </p:ext>
            </p:extLst>
          </p:nvPr>
        </p:nvGraphicFramePr>
        <p:xfrm>
          <a:off x="2551280" y="1420689"/>
          <a:ext cx="2880320" cy="880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400" imgH="393700" progId="Equation.DSMT4">
                  <p:embed/>
                </p:oleObj>
              </mc:Choice>
              <mc:Fallback>
                <p:oleObj name="Equation" r:id="rId2" imgW="1295400" imgH="3937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280" y="1420689"/>
                        <a:ext cx="2880320" cy="8800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151621" y="2195431"/>
            <a:ext cx="6876764" cy="808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切断电源，极板上的电量</a:t>
            </a:r>
            <a:r>
              <a:rPr kumimoji="0"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不变，抽出电介质后，电容器的电容变为：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80221"/>
              </p:ext>
            </p:extLst>
          </p:nvPr>
        </p:nvGraphicFramePr>
        <p:xfrm>
          <a:off x="3023828" y="3248980"/>
          <a:ext cx="1215685" cy="80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6641" imgH="393529" progId="Equation.DSMT4">
                  <p:embed/>
                </p:oleObj>
              </mc:Choice>
              <mc:Fallback>
                <p:oleObj name="Equation" r:id="rId4" imgW="596641" imgH="39352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3828" y="3248980"/>
                        <a:ext cx="1215685" cy="805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0" y="293043"/>
            <a:ext cx="2616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51621" y="4092249"/>
            <a:ext cx="35189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此时电容器中电场的能量为：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2658363" y="472514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640470"/>
              </p:ext>
            </p:extLst>
          </p:nvPr>
        </p:nvGraphicFramePr>
        <p:xfrm>
          <a:off x="2484438" y="4710113"/>
          <a:ext cx="4321175" cy="152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87520" imgH="838080" progId="Equation.DSMT4">
                  <p:embed/>
                </p:oleObj>
              </mc:Choice>
              <mc:Fallback>
                <p:oleObj name="Equation" r:id="rId6" imgW="2387520" imgH="8380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710113"/>
                        <a:ext cx="4321175" cy="15224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124967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98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99592" y="1160748"/>
            <a:ext cx="7236804" cy="424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抽出电介质前后，电容器中电场能量之差等于外界所作的功：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475656" y="198884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543154"/>
              </p:ext>
            </p:extLst>
          </p:nvPr>
        </p:nvGraphicFramePr>
        <p:xfrm>
          <a:off x="1199859" y="1981161"/>
          <a:ext cx="6304184" cy="828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90900" imgH="444500" progId="Equation.DSMT4">
                  <p:embed/>
                </p:oleObj>
              </mc:Choice>
              <mc:Fallback>
                <p:oleObj name="Equation" r:id="rId2" imgW="3390900" imgH="4445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9859" y="1981161"/>
                        <a:ext cx="6304184" cy="8280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899592" y="3149957"/>
            <a:ext cx="7236804" cy="808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介质抽走以后，电场增强了，能量增加了，增加的部分来自于抽出介质时外力所作的功。</a:t>
            </a:r>
            <a:endParaRPr lang="zh-CN" altLang="en-US" sz="2000" kern="100" dirty="0"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41011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99</a:t>
            </a:fld>
            <a:endParaRPr lang="en-US" altLang="zh-CN"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647564" y="1400879"/>
            <a:ext cx="7918648" cy="1602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球形电容器中充满了相对介电常数为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000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的各向同性均匀介质。给电容充电，使其两极上带电量为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±q</a:t>
            </a: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algn="l" eaLnBrk="0" hangingPunct="0">
              <a:lnSpc>
                <a:spcPct val="125000"/>
              </a:lnSpc>
            </a:pP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求：电容器中电场的能量。</a:t>
            </a:r>
          </a:p>
          <a:p>
            <a:pPr algn="l" eaLnBrk="0" hangingPunct="0">
              <a:lnSpc>
                <a:spcPct val="125000"/>
              </a:lnSpc>
            </a:pPr>
            <a:endParaRPr lang="zh-CN" altLang="en-US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32000" y="597600"/>
            <a:ext cx="18362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例题</a:t>
            </a:r>
            <a:r>
              <a:rPr lang="zh-CN" altLang="en-US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（重点）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164" y="2477826"/>
            <a:ext cx="2279243" cy="223224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47564" y="2769837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解：由高斯定理求得：</a:t>
            </a:r>
            <a:endParaRPr lang="zh-CN" altLang="en-US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028987"/>
              </p:ext>
            </p:extLst>
          </p:nvPr>
        </p:nvGraphicFramePr>
        <p:xfrm>
          <a:off x="1511660" y="3250143"/>
          <a:ext cx="1332148" cy="814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419" imgH="393529" progId="Equation.DSMT4">
                  <p:embed/>
                </p:oleObj>
              </mc:Choice>
              <mc:Fallback>
                <p:oleObj name="Equation" r:id="rId3" imgW="647419" imgH="393529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660" y="3250143"/>
                        <a:ext cx="1332148" cy="8140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074025"/>
              </p:ext>
            </p:extLst>
          </p:nvPr>
        </p:nvGraphicFramePr>
        <p:xfrm>
          <a:off x="1467291" y="4226833"/>
          <a:ext cx="2442705" cy="814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95400" imgH="431800" progId="Equation.DSMT4">
                  <p:embed/>
                </p:oleObj>
              </mc:Choice>
              <mc:Fallback>
                <p:oleObj name="Equation" r:id="rId5" imgW="12954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7291" y="4226833"/>
                        <a:ext cx="2442705" cy="8142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319108"/>
              </p:ext>
            </p:extLst>
          </p:nvPr>
        </p:nvGraphicFramePr>
        <p:xfrm>
          <a:off x="1496515" y="5319786"/>
          <a:ext cx="1403772" cy="791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98400" imgH="393480" progId="Equation.DSMT4">
                  <p:embed/>
                </p:oleObj>
              </mc:Choice>
              <mc:Fallback>
                <p:oleObj name="Equation" r:id="rId7" imgW="6984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96515" y="5319786"/>
                        <a:ext cx="1403772" cy="7912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625092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100</a:t>
            </a:fld>
            <a:endParaRPr lang="en-US" altLang="zh-CN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23628" y="98072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584709"/>
              </p:ext>
            </p:extLst>
          </p:nvPr>
        </p:nvGraphicFramePr>
        <p:xfrm>
          <a:off x="1209299" y="1064506"/>
          <a:ext cx="5343901" cy="18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05100" imgH="914400" progId="Equation.DSMT4">
                  <p:embed/>
                </p:oleObj>
              </mc:Choice>
              <mc:Fallback>
                <p:oleObj name="Equation" r:id="rId2" imgW="2705100" imgH="914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299" y="1064506"/>
                        <a:ext cx="5343901" cy="1800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1115616" y="2911512"/>
            <a:ext cx="3005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电容器中电场总能量为：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5737144"/>
              </p:ext>
            </p:extLst>
          </p:nvPr>
        </p:nvGraphicFramePr>
        <p:xfrm>
          <a:off x="1223628" y="3419983"/>
          <a:ext cx="5686498" cy="182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33700" imgH="939800" progId="Equation.DSMT4">
                  <p:embed/>
                </p:oleObj>
              </mc:Choice>
              <mc:Fallback>
                <p:oleObj name="Equation" r:id="rId4" imgW="2933700" imgH="939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628" y="3419983"/>
                        <a:ext cx="5686498" cy="18258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679187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101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32000" y="597600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补充例题：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647564" y="1400879"/>
            <a:ext cx="7918648" cy="1602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一平行板电容器边长为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的正方形，间距为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，两板不严格平行，有一夹角θ，当θ</a:t>
            </a:r>
            <a:r>
              <a:rPr lang="en-US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&lt;&lt;d/a</a:t>
            </a:r>
            <a:r>
              <a:rPr lang="zh-CN" altLang="zh-CN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略去边缘效应。</a:t>
            </a:r>
            <a:endParaRPr lang="zh-CN" altLang="en-US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l" eaLnBrk="0" hangingPunct="0">
              <a:lnSpc>
                <a:spcPct val="125000"/>
              </a:lnSpc>
            </a:pPr>
            <a:r>
              <a:rPr lang="zh-CN" altLang="en-US" sz="2000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求：电容器的电容。</a:t>
            </a:r>
          </a:p>
          <a:p>
            <a:pPr algn="l" eaLnBrk="0" hangingPunct="0">
              <a:lnSpc>
                <a:spcPct val="125000"/>
              </a:lnSpc>
            </a:pPr>
            <a:endParaRPr lang="zh-CN" altLang="en-US" sz="2000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505" y="2647654"/>
            <a:ext cx="3497695" cy="1379950"/>
          </a:xfrm>
          <a:prstGeom prst="rect">
            <a:avLst/>
          </a:prstGeom>
        </p:spPr>
      </p:pic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791580" y="5403782"/>
            <a:ext cx="2616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86962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102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719572" y="1088740"/>
            <a:ext cx="70207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寻找</a:t>
            </a:r>
            <a:r>
              <a:rPr lang="en-US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l-GR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Δ</a:t>
            </a:r>
            <a:r>
              <a:rPr lang="en-US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之间的关系，有倾斜，不是均匀电场</a:t>
            </a:r>
            <a:r>
              <a:rPr lang="en-US" altLang="zh-CN" i="1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i="1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l-GR" altLang="zh-CN" i="1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i="1" kern="100" baseline="-25000" dirty="0">
                <a:ea typeface="仿宋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有变化。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571967" y="2974622"/>
            <a:ext cx="6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009801"/>
              </p:ext>
            </p:extLst>
          </p:nvPr>
        </p:nvGraphicFramePr>
        <p:xfrm>
          <a:off x="2491374" y="1520788"/>
          <a:ext cx="4161252" cy="4671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92080" imgH="3022560" progId="Equation.DSMT4">
                  <p:embed/>
                </p:oleObj>
              </mc:Choice>
              <mc:Fallback>
                <p:oleObj name="Equation" r:id="rId2" imgW="2692080" imgH="3022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91374" y="1520788"/>
                        <a:ext cx="4161252" cy="46715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440969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6635B-3828-47C7-AF94-9DBB0986B8DF}" type="slidenum">
              <a:rPr lang="en-US" altLang="zh-CN" smtClean="0"/>
              <a:pPr>
                <a:defRPr/>
              </a:pPr>
              <a:t>103</a:t>
            </a:fld>
            <a:endParaRPr lang="en-US" altLang="zh-CN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63588" y="116074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740533"/>
              </p:ext>
            </p:extLst>
          </p:nvPr>
        </p:nvGraphicFramePr>
        <p:xfrm>
          <a:off x="1205000" y="4631090"/>
          <a:ext cx="6300700" cy="9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65500" imgH="482600" progId="Equation.DSMT4">
                  <p:embed/>
                </p:oleObj>
              </mc:Choice>
              <mc:Fallback>
                <p:oleObj name="Equation" r:id="rId2" imgW="3365500" imgH="482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5000" y="4631090"/>
                        <a:ext cx="6300700" cy="900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863588" y="1112454"/>
            <a:ext cx="702078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：将电容器看成无穷多个窄条电容器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876333" y="1852375"/>
            <a:ext cx="4572000" cy="968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极板面积：</a:t>
            </a:r>
            <a:r>
              <a:rPr lang="en-US" altLang="zh-CN" kern="100" dirty="0" err="1">
                <a:ea typeface="仿宋" panose="02010609060101010101" pitchFamily="49" charset="-122"/>
                <a:cs typeface="Times New Roman" panose="02020603050405020304" pitchFamily="18" charset="0"/>
              </a:rPr>
              <a:t>dS</a:t>
            </a:r>
            <a:r>
              <a:rPr lang="zh-CN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kern="100" dirty="0" err="1">
                <a:ea typeface="仿宋" panose="02010609060101010101" pitchFamily="49" charset="-122"/>
                <a:cs typeface="Times New Roman" panose="02020603050405020304" pitchFamily="18" charset="0"/>
              </a:rPr>
              <a:t>adx</a:t>
            </a:r>
            <a:r>
              <a:rPr lang="en-US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lang="zh-CN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极板间距：</a:t>
            </a:r>
            <a:r>
              <a:rPr lang="en-US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＋</a:t>
            </a:r>
            <a:r>
              <a:rPr lang="en-US" altLang="zh-CN" kern="100" dirty="0" err="1">
                <a:ea typeface="仿宋" panose="02010609060101010101" pitchFamily="49" charset="-122"/>
                <a:cs typeface="Times New Roman" panose="02020603050405020304" pitchFamily="18" charset="0"/>
              </a:rPr>
              <a:t>xsin</a:t>
            </a:r>
            <a:r>
              <a:rPr lang="zh-CN" altLang="zh-CN" kern="100" dirty="0">
                <a:ea typeface="仿宋" panose="02010609060101010101" pitchFamily="49" charset="-122"/>
                <a:cs typeface="Times New Roman" panose="02020603050405020304" pitchFamily="18" charset="0"/>
              </a:rPr>
              <a:t>θ</a:t>
            </a:r>
            <a:endParaRPr lang="zh-CN" altLang="en-US" kern="100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876333" y="2890113"/>
            <a:ext cx="35702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平行板电容器的电容为：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422550"/>
              </p:ext>
            </p:extLst>
          </p:nvPr>
        </p:nvGraphicFramePr>
        <p:xfrm>
          <a:off x="4641784" y="2733958"/>
          <a:ext cx="1069490" cy="773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863" imgH="393529" progId="Equation.DSMT4">
                  <p:embed/>
                </p:oleObj>
              </mc:Choice>
              <mc:Fallback>
                <p:oleObj name="Equation" r:id="rId4" imgW="545863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784" y="2733958"/>
                        <a:ext cx="1069490" cy="7739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881129"/>
              </p:ext>
            </p:extLst>
          </p:nvPr>
        </p:nvGraphicFramePr>
        <p:xfrm>
          <a:off x="2123727" y="3537701"/>
          <a:ext cx="2887356" cy="767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85900" imgH="393700" progId="Equation.DSMT4">
                  <p:embed/>
                </p:oleObj>
              </mc:Choice>
              <mc:Fallback>
                <p:oleObj name="Equation" r:id="rId6" imgW="14859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7" y="3537701"/>
                        <a:ext cx="2887356" cy="7671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869670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标题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8640960" cy="936104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小结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75556" y="1274777"/>
                <a:ext cx="8424936" cy="54726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2800" b="1" dirty="0">
                    <a:solidFill>
                      <a:srgbClr val="0000FF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一、静电场中的导体</a:t>
                </a:r>
                <a:endParaRPr lang="en-US" altLang="zh-CN" sz="2800" b="1" dirty="0">
                  <a:solidFill>
                    <a:srgbClr val="0000FF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sz="28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、静电平衡条件：</a:t>
                </a:r>
                <a:endParaRPr lang="en-US" altLang="zh-CN" sz="2800" b="1" dirty="0">
                  <a:solidFill>
                    <a:srgbClr val="C00000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sz="2800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0" i="1" smtClean="0">
                                <a:latin typeface="Cambria Math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zh-CN" altLang="en-US" sz="2800" b="0" i="1" smtClean="0">
                            <a:latin typeface="Cambria Math"/>
                          </a:rPr>
                          <m:t>内</m:t>
                        </m:r>
                      </m:sub>
                    </m:sSub>
                    <m:r>
                      <a:rPr lang="en-US" altLang="zh-CN" sz="28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zh-CN" altLang="en-US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（内部电荷无定向运动）</a:t>
                </a:r>
                <a:endParaRPr lang="en-US" altLang="zh-CN" sz="28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sz="28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2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、导体性质（静电平衡）</a:t>
                </a:r>
                <a:endParaRPr lang="en-US" altLang="zh-CN" sz="2800" b="1" dirty="0">
                  <a:solidFill>
                    <a:srgbClr val="C00000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</a:t>
                </a:r>
                <a:r>
                  <a:rPr lang="en-US" altLang="zh-CN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r>
                  <a:rPr lang="zh-CN" altLang="en-US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）电场：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latin typeface="Cambria Math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zh-CN" altLang="en-US" sz="2800" i="1">
                            <a:latin typeface="Cambria Math"/>
                          </a:rPr>
                          <m:t>内</m:t>
                        </m:r>
                      </m:sub>
                    </m:sSub>
                    <m:r>
                      <a:rPr lang="en-US" altLang="zh-CN" sz="2800" i="1">
                        <a:solidFill>
                          <a:prstClr val="black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zh-CN" altLang="en-US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:r>
                  <a:rPr lang="en-US" altLang="zh-CN" sz="2800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zh-CN" altLang="en-US" sz="2800" b="0" i="1" smtClean="0">
                            <a:latin typeface="Cambria Math"/>
                          </a:rPr>
                          <m:t>外</m:t>
                        </m:r>
                      </m:sub>
                    </m:sSub>
                    <m:r>
                      <a:rPr lang="en-US" altLang="zh-CN" sz="2800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𝜎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，方向与表面正交</a:t>
                </a:r>
                <a:endParaRPr lang="en-US" altLang="zh-CN" sz="28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</a:t>
                </a:r>
                <a:r>
                  <a:rPr lang="en-US" altLang="zh-CN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2</a:t>
                </a:r>
                <a:r>
                  <a:rPr lang="zh-CN" altLang="en-US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）电位：导体为等位体，其表面为等位面。</a:t>
                </a:r>
                <a:endParaRPr lang="en-US" altLang="zh-CN" sz="28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2238375" indent="-2238375">
                  <a:buNone/>
                </a:pPr>
                <a:r>
                  <a:rPr lang="zh-CN" altLang="en-US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</a:t>
                </a:r>
                <a:r>
                  <a:rPr lang="en-US" altLang="zh-CN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3</a:t>
                </a:r>
                <a:r>
                  <a:rPr lang="zh-CN" altLang="en-US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）电荷：只分布在表面上。曲率越大，电荷面密度越大。</a:t>
                </a:r>
                <a:endParaRPr lang="en-US" altLang="zh-CN" sz="28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5556" y="1274777"/>
                <a:ext cx="8424936" cy="5472608"/>
              </a:xfrm>
              <a:blipFill rotWithShape="0">
                <a:blip r:embed="rId2"/>
                <a:stretch>
                  <a:fillRect l="-1447" t="-1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705354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620688"/>
            <a:ext cx="8208912" cy="5976664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、导体空腔的性质</a:t>
            </a:r>
            <a:r>
              <a:rPr lang="zh-CN" altLang="en-US" sz="24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endParaRPr lang="en-US" altLang="zh-CN" sz="24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269875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zh-CN" altLang="en-US" sz="24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、腔内无电荷：</a:t>
            </a:r>
            <a:endParaRPr lang="en-US" altLang="zh-CN" sz="2400" b="1" dirty="0">
              <a:solidFill>
                <a:srgbClr val="7030A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620713">
              <a:lnSpc>
                <a:spcPct val="114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）空腔的内表面不存在电荷；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620713">
              <a:lnSpc>
                <a:spcPct val="114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）腔内无电场；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620713">
              <a:lnSpc>
                <a:spcPct val="114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）腔内电位为常数。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269875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</a:t>
            </a:r>
            <a:r>
              <a:rPr lang="zh-CN" altLang="en-US" sz="24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、腔内有电荷：</a:t>
            </a:r>
            <a:endParaRPr lang="en-US" altLang="zh-CN" sz="2400" b="1" dirty="0">
              <a:solidFill>
                <a:srgbClr val="7030A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430338" lvl="0" indent="-809625">
              <a:lnSpc>
                <a:spcPct val="114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）导体空腔的内表面上的电荷与腔内的电荷等值异号；</a:t>
            </a:r>
            <a:endParaRPr lang="en-US" altLang="zh-CN" sz="2400" dirty="0">
              <a:solidFill>
                <a:prstClr val="black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430338" lvl="0" indent="-809625">
              <a:lnSpc>
                <a:spcPct val="114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）腔内的电场与电位分布都由腔内电荷决定；</a:t>
            </a:r>
            <a:endParaRPr lang="en-US" altLang="zh-CN" sz="2400" dirty="0">
              <a:solidFill>
                <a:prstClr val="black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430338" lvl="0" indent="-809625">
              <a:lnSpc>
                <a:spcPct val="114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）腔内表面电荷分布与腔外情况无关，整个空间的电场和电位分布都受腔内电荷影响；</a:t>
            </a:r>
            <a:endParaRPr lang="en-US" altLang="zh-CN" sz="24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430338" lvl="0" indent="-809625">
              <a:lnSpc>
                <a:spcPct val="114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）将</a:t>
            </a:r>
            <a:r>
              <a:rPr kumimoji="1" lang="zh-CN" altLang="en-US" sz="2400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空腔外壁接地，腔外电场及电位分布不受腔内电荷影响。</a:t>
            </a:r>
          </a:p>
        </p:txBody>
      </p:sp>
    </p:spTree>
    <p:extLst>
      <p:ext uri="{BB962C8B-B14F-4D97-AF65-F5344CB8AC3E}">
        <p14:creationId xmlns:p14="http://schemas.microsoft.com/office/powerpoint/2010/main" val="319391677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8335" y="512676"/>
            <a:ext cx="8064896" cy="2208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二、静电场中的电介质</a:t>
            </a:r>
            <a:endParaRPr lang="en-US" altLang="zh-CN" sz="3200" b="1" dirty="0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6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6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、极化</a:t>
            </a:r>
            <a:endParaRPr lang="en-US" altLang="zh-CN" sz="26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位移极化（无极分子，有极分子）</a:t>
            </a:r>
            <a:endParaRPr lang="en-US" altLang="zh-CN" sz="26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取向极化（有极分子）</a:t>
            </a:r>
          </a:p>
        </p:txBody>
      </p:sp>
      <p:graphicFrame>
        <p:nvGraphicFramePr>
          <p:cNvPr id="6" name="对象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838406268"/>
              </p:ext>
            </p:extLst>
          </p:nvPr>
        </p:nvGraphicFramePr>
        <p:xfrm>
          <a:off x="863588" y="2780928"/>
          <a:ext cx="7632848" cy="1105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457200" progId="Equation.DSMT4">
                  <p:embed/>
                </p:oleObj>
              </mc:Choice>
              <mc:Fallback>
                <p:oleObj name="Equation" r:id="rId2" imgW="3200400" imgH="4572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588" y="2780928"/>
                        <a:ext cx="7632848" cy="11052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50269" y="4329100"/>
                <a:ext cx="8208912" cy="2268252"/>
              </a:xfrm>
            </p:spPr>
            <p:txBody>
              <a:bodyPr>
                <a:normAutofit/>
              </a:bodyPr>
              <a:lstStyle/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en-US" altLang="zh-CN" sz="28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2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、高斯定律</a:t>
                </a:r>
                <a:endParaRPr lang="en-US" altLang="zh-CN" sz="2800" b="1" dirty="0">
                  <a:solidFill>
                    <a:srgbClr val="C00000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zh-CN" altLang="en-US" dirty="0">
                    <a:solidFill>
                      <a:prstClr val="black"/>
                    </a:solidFill>
                  </a:rPr>
                  <a:t>      </a:t>
                </a:r>
                <a14:m>
                  <m:oMath xmlns:m="http://schemas.openxmlformats.org/officeDocument/2006/math">
                    <m:nary>
                      <m:naryPr>
                        <m:chr m:val="∯"/>
                        <m:limLoc m:val="undOvr"/>
                        <m:subHide m:val="on"/>
                        <m:supHide m:val="on"/>
                        <m:ctrlPr>
                          <a:rPr lang="zh-CN" alt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⃗"/>
                            <m:ctrlPr>
                              <a:rPr lang="zh-CN" altLang="en-US" sz="28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𝐷</m:t>
                            </m:r>
                          </m:e>
                        </m:acc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⋅</m:t>
                        </m:r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altLang="zh-CN" sz="28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accPr>
                          <m:e>
                            <m:r>
                              <a:rPr lang="en-US" altLang="zh-CN" sz="2800" b="0" i="1" smtClean="0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</a:rPr>
                              <m:t>𝑆</m:t>
                            </m:r>
                          </m:e>
                        </m:acc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0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800" dirty="0">
                    <a:solidFill>
                      <a:prstClr val="black"/>
                    </a:solidFill>
                  </a:rPr>
                  <a:t>，</a:t>
                </a:r>
                <a:r>
                  <a:rPr lang="zh-CN" altLang="en-US" sz="2800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式中</a:t>
                </a:r>
                <a:r>
                  <a:rPr lang="en-US" altLang="zh-CN" sz="2800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D</a:t>
                </a:r>
                <a:r>
                  <a:rPr lang="zh-CN" altLang="en-US" sz="2800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为电位移矢量</a:t>
                </a:r>
                <a:r>
                  <a:rPr lang="zh-CN" altLang="en-US" sz="2800" dirty="0">
                    <a:solidFill>
                      <a:prstClr val="black"/>
                    </a:solidFill>
                  </a:rPr>
                  <a:t>。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en-US" altLang="zh-CN" sz="2800" dirty="0">
                    <a:solidFill>
                      <a:prstClr val="black"/>
                    </a:solidFill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𝐷</m:t>
                        </m:r>
                      </m:e>
                    </m:acc>
                    <m:r>
                      <a:rPr lang="en-US" altLang="zh-CN" sz="2800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smtClean="0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𝑟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𝐸</m:t>
                        </m:r>
                      </m:e>
                    </m:acc>
                    <m:r>
                      <a:rPr lang="en-US" altLang="zh-CN" sz="2800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prstClr val="black"/>
                        </a:solidFill>
                        <a:latin typeface="Cambria Math"/>
                        <a:ea typeface="Cambria Math"/>
                      </a:rPr>
                      <m:t>𝜀</m:t>
                    </m:r>
                    <m:acc>
                      <m:accPr>
                        <m:chr m:val="⃗"/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𝐸</m:t>
                        </m:r>
                      </m:e>
                    </m:acc>
                    <m:r>
                      <a:rPr lang="zh-CN" altLang="en-US" sz="2800" i="1">
                        <a:solidFill>
                          <a:prstClr val="black"/>
                        </a:solidFill>
                        <a:latin typeface="Cambria Math"/>
                      </a:rPr>
                      <m:t>（各向同性线性电介质</m:t>
                    </m:r>
                  </m:oMath>
                </a14:m>
                <a:r>
                  <a:rPr lang="zh-CN" altLang="en-US" sz="2800" dirty="0">
                    <a:solidFill>
                      <a:prstClr val="black"/>
                    </a:solidFill>
                  </a:rPr>
                  <a:t>）</a:t>
                </a:r>
              </a:p>
              <a:p>
                <a:pPr marL="0" lvl="0" indent="0">
                  <a:spcBef>
                    <a:spcPts val="0"/>
                  </a:spcBef>
                  <a:buNone/>
                </a:pP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altLang="zh-CN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7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269" y="4329100"/>
                <a:ext cx="8208912" cy="2268252"/>
              </a:xfrm>
              <a:blipFill rotWithShape="0">
                <a:blip r:embed="rId5"/>
                <a:stretch>
                  <a:fillRect l="-1485" t="-2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843126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38400" y="511200"/>
                <a:ext cx="8208912" cy="58326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>
                    <a:solidFill>
                      <a:srgbClr val="0000FF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三、电容</a:t>
                </a:r>
                <a:endParaRPr lang="en-US" altLang="zh-CN" b="1" dirty="0">
                  <a:solidFill>
                    <a:srgbClr val="0000FF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sz="28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、电容</a:t>
                </a:r>
                <a:endParaRPr lang="en-US" altLang="zh-CN" sz="2800" b="1" dirty="0">
                  <a:solidFill>
                    <a:srgbClr val="C00000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prstClr val="black"/>
                        </a:solidFill>
                        <a:latin typeface="Cambria Math"/>
                      </a:rPr>
                      <m:t>𝐶</m:t>
                    </m:r>
                    <m:r>
                      <a:rPr lang="en-US" altLang="zh-CN" sz="2800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𝑄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𝑈</m:t>
                        </m:r>
                      </m:den>
                    </m:f>
                  </m:oMath>
                </a14:m>
                <a:r>
                  <a:rPr lang="zh-CN" altLang="en-US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（电容只与自身的形状、尺寸、相对位置、极间介质有关。）</a:t>
                </a:r>
                <a:endParaRPr lang="en-US" altLang="zh-CN" sz="28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sz="28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2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、联接</a:t>
                </a:r>
                <a:endParaRPr lang="en-US" altLang="zh-CN" sz="2800" b="1" dirty="0">
                  <a:solidFill>
                    <a:srgbClr val="C00000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</a:t>
                </a:r>
                <a:r>
                  <a:rPr lang="en-US" altLang="zh-CN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r>
                  <a:rPr lang="zh-CN" altLang="en-US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）串联：                    </a:t>
                </a:r>
                <a:endParaRPr lang="en-US" altLang="zh-CN" sz="28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endParaRPr lang="en-US" altLang="zh-CN" sz="28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</a:t>
                </a:r>
                <a:r>
                  <a:rPr lang="en-US" altLang="zh-CN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2</a:t>
                </a:r>
                <a:r>
                  <a:rPr lang="zh-CN" altLang="en-US" sz="28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）并联：</a:t>
                </a:r>
                <a:endParaRPr lang="en-US" altLang="zh-CN" sz="28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8400" y="511200"/>
                <a:ext cx="8208912" cy="5832648"/>
              </a:xfrm>
              <a:blipFill>
                <a:blip r:embed="rId2"/>
                <a:stretch>
                  <a:fillRect l="-1932" t="-1358" r="-1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534832" y="4949123"/>
          <a:ext cx="1905000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634680" imgH="431640" progId="Equation.3">
                  <p:embed/>
                </p:oleObj>
              </mc:Choice>
              <mc:Fallback>
                <p:oleObj name="公式" r:id="rId3" imgW="6346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4832" y="4949123"/>
                        <a:ext cx="1905000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323694" y="3609020"/>
          <a:ext cx="2116138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761760" imgH="444240" progId="Equation.3">
                  <p:embed/>
                </p:oleObj>
              </mc:Choice>
              <mc:Fallback>
                <p:oleObj name="公式" r:id="rId5" imgW="7617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3694" y="3609020"/>
                        <a:ext cx="2116138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656455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08" y="548680"/>
            <a:ext cx="8244916" cy="60486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、典型电容</a:t>
            </a:r>
            <a:endParaRPr lang="en-US" altLang="zh-CN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）孤立导体球：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）平行板电容器：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）同心球形电容器：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）同轴柱形电容器：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997075"/>
              </p:ext>
            </p:extLst>
          </p:nvPr>
        </p:nvGraphicFramePr>
        <p:xfrm>
          <a:off x="3608046" y="1160748"/>
          <a:ext cx="2476122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50680" imgH="241200" progId="Equation.3">
                  <p:embed/>
                </p:oleObj>
              </mc:Choice>
              <mc:Fallback>
                <p:oleObj name="公式" r:id="rId2" imgW="8506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8046" y="1160748"/>
                        <a:ext cx="2476122" cy="72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014317"/>
              </p:ext>
            </p:extLst>
          </p:nvPr>
        </p:nvGraphicFramePr>
        <p:xfrm>
          <a:off x="3923928" y="2133549"/>
          <a:ext cx="2160240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72840" imgH="393480" progId="Equation.3">
                  <p:embed/>
                </p:oleObj>
              </mc:Choice>
              <mc:Fallback>
                <p:oleObj name="公式" r:id="rId4" imgW="6728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2133549"/>
                        <a:ext cx="2160240" cy="1080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345668"/>
              </p:ext>
            </p:extLst>
          </p:nvPr>
        </p:nvGraphicFramePr>
        <p:xfrm>
          <a:off x="4427984" y="3231208"/>
          <a:ext cx="2801938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28520" imgH="431640" progId="Equation.3">
                  <p:embed/>
                </p:oleObj>
              </mc:Choice>
              <mc:Fallback>
                <p:oleObj name="公式" r:id="rId6" imgW="10285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3231208"/>
                        <a:ext cx="2801938" cy="117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042428"/>
              </p:ext>
            </p:extLst>
          </p:nvPr>
        </p:nvGraphicFramePr>
        <p:xfrm>
          <a:off x="4427984" y="4509120"/>
          <a:ext cx="2249488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25480" imgH="622080" progId="Equation.3">
                  <p:embed/>
                </p:oleObj>
              </mc:Choice>
              <mc:Fallback>
                <p:oleObj name="公式" r:id="rId8" imgW="825480" imgH="622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4509120"/>
                        <a:ext cx="2249488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909641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38400" y="511200"/>
                <a:ext cx="8280920" cy="590465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zh-CN" altLang="en-US" b="1" dirty="0">
                    <a:solidFill>
                      <a:srgbClr val="0000FF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四、电场能量</a:t>
                </a:r>
                <a:endParaRPr lang="en-US" altLang="zh-CN" b="1" dirty="0">
                  <a:solidFill>
                    <a:srgbClr val="0000FF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r>
                  <a:rPr lang="zh-CN" altLang="en-US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、电容储能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/>
                      </a:rPr>
                      <m:t>：</m:t>
                    </m:r>
                    <m:r>
                      <a:rPr lang="en-US" altLang="zh-CN" b="0" i="1" smtClean="0">
                        <a:latin typeface="Cambria Math"/>
                      </a:rPr>
                      <m:t>𝑊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latin typeface="Cambria Math"/>
                          </a:rPr>
                          <m:t>𝐶</m:t>
                        </m:r>
                      </m:den>
                    </m:f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/>
                      </a:rPr>
                      <m:t>𝐶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𝑈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/>
                      </a:rPr>
                      <m:t>𝑄𝑈</m:t>
                    </m:r>
                  </m:oMath>
                </a14:m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2</a:t>
                </a:r>
                <a:r>
                  <a:rPr lang="zh-CN" altLang="en-US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、电场能量密度：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𝑤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𝐷</m:t>
                        </m:r>
                      </m:e>
                    </m:acc>
                    <m:r>
                      <a:rPr lang="zh-CN" altLang="en-US" b="0" i="1" smtClean="0">
                        <a:latin typeface="Cambria Math"/>
                      </a:rPr>
                      <m:t>⋅</m:t>
                    </m:r>
                    <m:acc>
                      <m:accPr>
                        <m:chr m:val="⃗"/>
                        <m:ctrlPr>
                          <a:rPr lang="zh-CN" alt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𝐸</m:t>
                        </m:r>
                      </m:e>
                    </m:acc>
                  </m:oMath>
                </a14:m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lvl="0" indent="0">
                  <a:buNone/>
                </a:pP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各向同性介质：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</a:rPr>
                      <m:t>𝑤</m:t>
                    </m:r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</a:rPr>
                      <m:t>𝐷𝐸</m:t>
                    </m:r>
                    <m:r>
                      <a:rPr lang="en-US" altLang="zh-CN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  <m:sub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𝑟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𝐸</m:t>
                        </m:r>
                      </m:e>
                      <m:sup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zh-CN" altLang="en-US" b="0" i="1" smtClean="0">
                        <a:solidFill>
                          <a:prstClr val="black"/>
                        </a:solidFill>
                        <a:latin typeface="Cambria Math"/>
                      </a:rPr>
                      <m:t>𝜀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𝐸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solidFill>
                    <a:prstClr val="black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lvl="0" indent="0">
                  <a:buNone/>
                </a:pPr>
                <a:r>
                  <a:rPr lang="zh-CN" altLang="en-US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真空：</a:t>
                </a:r>
                <a:r>
                  <a:rPr lang="en-US" altLang="zh-CN" dirty="0">
                    <a:solidFill>
                      <a:prstClr val="black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</a:rPr>
                      <m:t>𝑤</m:t>
                    </m:r>
                    <m:r>
                      <a:rPr lang="en-US" altLang="zh-CN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smtClean="0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0</m:t>
                            </m:r>
                          </m:sub>
                          <m:sup/>
                        </m:sSubSup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𝐸</m:t>
                        </m:r>
                      </m:e>
                      <m:sup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solidFill>
                    <a:prstClr val="black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lvl="0" indent="0">
                  <a:buNone/>
                </a:pPr>
                <a:r>
                  <a:rPr lang="en-US" altLang="zh-CN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3</a:t>
                </a:r>
                <a:r>
                  <a:rPr lang="zh-CN" altLang="en-US" b="1" dirty="0">
                    <a:solidFill>
                      <a:srgbClr val="C0000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、电场能量计算</a:t>
                </a:r>
                <a:endParaRPr lang="en-US" altLang="zh-CN" dirty="0">
                  <a:solidFill>
                    <a:srgbClr val="C00000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bHide m:val="on"/>
                          <m:supHide m:val="on"/>
                          <m:ctrlPr>
                            <a:rPr lang="en-US" altLang="zh-CN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𝜔</m:t>
                          </m:r>
                          <m: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𝑑𝑉</m:t>
                          </m:r>
                          <m: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nary>
                        <m:naryPr>
                          <m:chr m:val="∭"/>
                          <m:limLoc m:val="undOvr"/>
                          <m:subHide m:val="on"/>
                          <m:supHide m:val="on"/>
                          <m:ctrlPr>
                            <a:rPr lang="en-US" altLang="zh-CN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𝐷</m:t>
                              </m:r>
                            </m:e>
                          </m:acc>
                          <m:r>
                            <m:rPr>
                              <m:brk/>
                            </m:rP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zh-CN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𝐸</m:t>
                              </m:r>
                            </m:e>
                          </m:acc>
                        </m:e>
                      </m:nary>
                      <m:r>
                        <a:rPr lang="en-US" altLang="zh-CN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𝑑𝑉</m:t>
                      </m:r>
                      <m:r>
                        <a:rPr lang="en-US" altLang="zh-CN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∭"/>
                          <m:limLoc m:val="undOvr"/>
                          <m:subHide m:val="on"/>
                          <m:supHide m:val="on"/>
                          <m:ctrlP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altLang="zh-CN" dirty="0">
                  <a:solidFill>
                    <a:prstClr val="black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0" indent="0">
                  <a:buNone/>
                </a:pPr>
                <a:endParaRPr lang="zh-CN" altLang="en-US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8400" y="511200"/>
                <a:ext cx="8280920" cy="5904656"/>
              </a:xfrm>
              <a:blipFill>
                <a:blip r:embed="rId2"/>
                <a:stretch>
                  <a:fillRect l="-1915" t="-13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93950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1124744"/>
            <a:ext cx="7772400" cy="4114800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作业：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    P355   8.41; 8.46; 8.56 ; 8.58; 8.60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0743458"/>
      </p:ext>
    </p:extLst>
  </p:cSld>
  <p:clrMapOvr>
    <a:masterClrMapping/>
  </p:clrMapOvr>
</p:sld>
</file>

<file path=ppt/theme/theme1.xml><?xml version="1.0" encoding="utf-8"?>
<a:theme xmlns:a="http://schemas.openxmlformats.org/drawingml/2006/main" name="南开大学PPT模板2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34FE5D8C-411F-4FD0-95E3-9D93E29757ED}" vid="{DCC74189-3538-4D5F-997B-FC286C3854EC}"/>
    </a:ext>
  </a:extLst>
</a:theme>
</file>

<file path=ppt/theme/theme2.xml><?xml version="1.0" encoding="utf-8"?>
<a:theme xmlns:a="http://schemas.openxmlformats.org/drawingml/2006/main" name="1_南开大学PPT模板2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34FE5D8C-411F-4FD0-95E3-9D93E29757ED}" vid="{B39A5ADE-E521-4AA0-8ECF-633281CAA7A1}"/>
    </a:ext>
  </a:extLst>
</a:theme>
</file>

<file path=ppt/theme/theme3.xml><?xml version="1.0" encoding="utf-8"?>
<a:theme xmlns:a="http://schemas.openxmlformats.org/drawingml/2006/main" name="1_南开大学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34FE5D8C-411F-4FD0-95E3-9D93E29757ED}" vid="{BD54410D-4763-4571-AAA7-B81F1E2F4074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Nankai PPT Template</Template>
  <TotalTime>22215</TotalTime>
  <Words>5397</Words>
  <Application>Microsoft Office PowerPoint</Application>
  <PresentationFormat>全屏显示(4:3)</PresentationFormat>
  <Paragraphs>607</Paragraphs>
  <Slides>110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110</vt:i4>
      </vt:variant>
    </vt:vector>
  </HeadingPairs>
  <TitlesOfParts>
    <vt:vector size="131" baseType="lpstr">
      <vt:lpstr>Arial Unicode MS</vt:lpstr>
      <vt:lpstr>Arial‘</vt:lpstr>
      <vt:lpstr>仿宋</vt:lpstr>
      <vt:lpstr>华文新魏</vt:lpstr>
      <vt:lpstr>宋体</vt:lpstr>
      <vt:lpstr>微软雅黑</vt:lpstr>
      <vt:lpstr>Arial</vt:lpstr>
      <vt:lpstr>Bookman Old Style</vt:lpstr>
      <vt:lpstr>Calibri</vt:lpstr>
      <vt:lpstr>Cambria Math</vt:lpstr>
      <vt:lpstr>Franklin Gothic Book</vt:lpstr>
      <vt:lpstr>Franklin Gothic Medium</vt:lpstr>
      <vt:lpstr>Symbol</vt:lpstr>
      <vt:lpstr>Tahoma</vt:lpstr>
      <vt:lpstr>Times New Roman</vt:lpstr>
      <vt:lpstr>Wingdings</vt:lpstr>
      <vt:lpstr>南开大学PPT模板2</vt:lpstr>
      <vt:lpstr>1_南开大学PPT模板2</vt:lpstr>
      <vt:lpstr>1_南开大学PPT模板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二、静电屏蔽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三、电容、电容器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电介质与导体的区别</vt:lpstr>
      <vt:lpstr>§8  电介质中的高斯定理、环路定理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张 嘉为</cp:lastModifiedBy>
  <cp:revision>63</cp:revision>
  <dcterms:created xsi:type="dcterms:W3CDTF">2005-08-22T22:11:23Z</dcterms:created>
  <dcterms:modified xsi:type="dcterms:W3CDTF">2022-06-13T08:59:17Z</dcterms:modified>
</cp:coreProperties>
</file>