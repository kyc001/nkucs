
<file path=[Content_Types].xml><?xml version="1.0" encoding="utf-8"?>
<Types xmlns="http://schemas.openxmlformats.org/package/2006/content-types">
  <Default Extension="png" ContentType="image/png"/>
  <Default Extension="emf" ContentType="image/x-emf"/>
  <Default Extension="m4a" ContentType="audio/mp4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57"/>
  </p:notesMasterIdLst>
  <p:handoutMasterIdLst>
    <p:handoutMasterId r:id="rId58"/>
  </p:handoutMasterIdLst>
  <p:sldIdLst>
    <p:sldId id="256" r:id="rId2"/>
    <p:sldId id="747" r:id="rId3"/>
    <p:sldId id="860" r:id="rId4"/>
    <p:sldId id="799" r:id="rId5"/>
    <p:sldId id="800" r:id="rId6"/>
    <p:sldId id="801" r:id="rId7"/>
    <p:sldId id="847" r:id="rId8"/>
    <p:sldId id="848" r:id="rId9"/>
    <p:sldId id="805" r:id="rId10"/>
    <p:sldId id="849" r:id="rId11"/>
    <p:sldId id="851" r:id="rId12"/>
    <p:sldId id="850" r:id="rId13"/>
    <p:sldId id="808" r:id="rId14"/>
    <p:sldId id="809" r:id="rId15"/>
    <p:sldId id="810" r:id="rId16"/>
    <p:sldId id="811" r:id="rId17"/>
    <p:sldId id="812" r:id="rId18"/>
    <p:sldId id="855" r:id="rId19"/>
    <p:sldId id="814" r:id="rId20"/>
    <p:sldId id="815" r:id="rId21"/>
    <p:sldId id="816" r:id="rId22"/>
    <p:sldId id="817" r:id="rId23"/>
    <p:sldId id="818" r:id="rId24"/>
    <p:sldId id="852" r:id="rId25"/>
    <p:sldId id="858" r:id="rId26"/>
    <p:sldId id="820" r:id="rId27"/>
    <p:sldId id="821" r:id="rId28"/>
    <p:sldId id="822" r:id="rId29"/>
    <p:sldId id="823" r:id="rId30"/>
    <p:sldId id="824" r:id="rId31"/>
    <p:sldId id="825" r:id="rId32"/>
    <p:sldId id="826" r:id="rId33"/>
    <p:sldId id="827" r:id="rId34"/>
    <p:sldId id="828" r:id="rId35"/>
    <p:sldId id="829" r:id="rId36"/>
    <p:sldId id="830" r:id="rId37"/>
    <p:sldId id="831" r:id="rId38"/>
    <p:sldId id="832" r:id="rId39"/>
    <p:sldId id="833" r:id="rId40"/>
    <p:sldId id="862" r:id="rId41"/>
    <p:sldId id="863" r:id="rId42"/>
    <p:sldId id="856" r:id="rId43"/>
    <p:sldId id="834" r:id="rId44"/>
    <p:sldId id="857" r:id="rId45"/>
    <p:sldId id="836" r:id="rId46"/>
    <p:sldId id="837" r:id="rId47"/>
    <p:sldId id="838" r:id="rId48"/>
    <p:sldId id="840" r:id="rId49"/>
    <p:sldId id="841" r:id="rId50"/>
    <p:sldId id="842" r:id="rId51"/>
    <p:sldId id="861" r:id="rId52"/>
    <p:sldId id="843" r:id="rId53"/>
    <p:sldId id="844" r:id="rId54"/>
    <p:sldId id="845" r:id="rId55"/>
    <p:sldId id="746" r:id="rId56"/>
  </p:sldIdLst>
  <p:sldSz cx="9144000" cy="6858000" type="screen4x3"/>
  <p:notesSz cx="10234613" cy="70993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37" userDrawn="1">
          <p15:clr>
            <a:srgbClr val="A4A3A4"/>
          </p15:clr>
        </p15:guide>
        <p15:guide id="2" pos="322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006600"/>
    <a:srgbClr val="820064"/>
    <a:srgbClr val="86006A"/>
    <a:srgbClr val="FFE9FB"/>
    <a:srgbClr val="FFF1FC"/>
    <a:srgbClr val="173660"/>
    <a:srgbClr val="00FF00"/>
    <a:srgbClr val="3399FF"/>
    <a:srgbClr val="6400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13" autoAdjust="0"/>
    <p:restoredTop sz="88245" autoAdjust="0"/>
  </p:normalViewPr>
  <p:slideViewPr>
    <p:cSldViewPr>
      <p:cViewPr varScale="1">
        <p:scale>
          <a:sx n="91" d="100"/>
          <a:sy n="91" d="100"/>
        </p:scale>
        <p:origin x="1077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7" d="100"/>
          <a:sy n="67" d="100"/>
        </p:scale>
        <p:origin x="1704" y="27"/>
      </p:cViewPr>
      <p:guideLst>
        <p:guide orient="horz" pos="2237"/>
        <p:guide pos="322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434890" cy="354880"/>
          </a:xfrm>
          <a:prstGeom prst="rect">
            <a:avLst/>
          </a:prstGeom>
        </p:spPr>
        <p:txBody>
          <a:bodyPr vert="horz" lIns="99039" tIns="49520" rIns="99039" bIns="49520" rtlCol="0"/>
          <a:lstStyle>
            <a:lvl1pPr algn="l">
              <a:defRPr sz="13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798088" y="1"/>
            <a:ext cx="4434890" cy="354880"/>
          </a:xfrm>
          <a:prstGeom prst="rect">
            <a:avLst/>
          </a:prstGeom>
        </p:spPr>
        <p:txBody>
          <a:bodyPr vert="horz" lIns="99039" tIns="49520" rIns="99039" bIns="49520" rtlCol="0"/>
          <a:lstStyle>
            <a:lvl1pPr algn="r">
              <a:defRPr sz="13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28501B2C-9B6C-4A37-8148-72CA3CE66EDD}" type="datetimeFigureOut">
              <a:rPr lang="zh-CN" altLang="en-US"/>
              <a:t>2021/10/7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742730"/>
            <a:ext cx="4434890" cy="354880"/>
          </a:xfrm>
          <a:prstGeom prst="rect">
            <a:avLst/>
          </a:prstGeom>
        </p:spPr>
        <p:txBody>
          <a:bodyPr vert="horz" lIns="99039" tIns="49520" rIns="99039" bIns="49520" rtlCol="0" anchor="b"/>
          <a:lstStyle>
            <a:lvl1pPr algn="l">
              <a:defRPr sz="13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798088" y="6742730"/>
            <a:ext cx="4434890" cy="354880"/>
          </a:xfrm>
          <a:prstGeom prst="rect">
            <a:avLst/>
          </a:prstGeom>
        </p:spPr>
        <p:txBody>
          <a:bodyPr vert="horz" lIns="99039" tIns="49520" rIns="99039" bIns="49520" rtlCol="0" anchor="b"/>
          <a:lstStyle>
            <a:lvl1pPr algn="r">
              <a:defRPr sz="13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9FC47D02-C625-45A8-82E7-905A8D2AAA1D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434890" cy="354880"/>
          </a:xfrm>
          <a:prstGeom prst="rect">
            <a:avLst/>
          </a:prstGeom>
        </p:spPr>
        <p:txBody>
          <a:bodyPr vert="horz" lIns="99039" tIns="49520" rIns="99039" bIns="495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798088" y="1"/>
            <a:ext cx="4434890" cy="354880"/>
          </a:xfrm>
          <a:prstGeom prst="rect">
            <a:avLst/>
          </a:prstGeom>
        </p:spPr>
        <p:txBody>
          <a:bodyPr vert="horz" lIns="99039" tIns="49520" rIns="99039" bIns="495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</a:defRPr>
            </a:lvl1pPr>
          </a:lstStyle>
          <a:p>
            <a:pPr>
              <a:defRPr/>
            </a:pPr>
            <a:fld id="{C9222EA9-D2ED-491C-960B-2AC3CE6D8FB0}" type="datetimeFigureOut">
              <a:rPr lang="zh-CN" altLang="en-US"/>
              <a:t>2021/10/7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343275" y="531813"/>
            <a:ext cx="3548063" cy="26622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39" tIns="49520" rIns="99039" bIns="495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024444" y="3371365"/>
            <a:ext cx="8185727" cy="3195614"/>
          </a:xfrm>
          <a:prstGeom prst="rect">
            <a:avLst/>
          </a:prstGeom>
        </p:spPr>
        <p:txBody>
          <a:bodyPr vert="horz" lIns="99039" tIns="49520" rIns="99039" bIns="495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742730"/>
            <a:ext cx="4434890" cy="354880"/>
          </a:xfrm>
          <a:prstGeom prst="rect">
            <a:avLst/>
          </a:prstGeom>
        </p:spPr>
        <p:txBody>
          <a:bodyPr vert="horz" lIns="99039" tIns="49520" rIns="99039" bIns="495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798088" y="6742730"/>
            <a:ext cx="4434890" cy="354880"/>
          </a:xfrm>
          <a:prstGeom prst="rect">
            <a:avLst/>
          </a:prstGeom>
        </p:spPr>
        <p:txBody>
          <a:bodyPr vert="horz" lIns="99039" tIns="49520" rIns="99039" bIns="495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</a:defRPr>
            </a:lvl1pPr>
          </a:lstStyle>
          <a:p>
            <a:pPr>
              <a:defRPr/>
            </a:pPr>
            <a:fld id="{F1FEECBA-06CB-4ED2-B9B8-A5DB6840A686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0243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E84AF5-2530-48EF-A17D-F4F580DE30BF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4CD543C-87E0-4037-B871-8E209469E8F1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4CD543C-87E0-4037-B871-8E209469E8F1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521075" y="887413"/>
            <a:ext cx="3192463" cy="239553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F0E86E-7207-4357-BB7D-B84DAC83B4BC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4CD543C-87E0-4037-B871-8E209469E8F1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521075" y="887413"/>
            <a:ext cx="3192463" cy="239553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数据类型没有二义性时，修饰符可以省略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A5206D-904B-4230-84F4-E1C0F70D07E4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521075" y="887413"/>
            <a:ext cx="3192463" cy="239553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单精度</a:t>
            </a:r>
            <a:r>
              <a:rPr lang="en-US" altLang="zh-CN" dirty="0"/>
              <a:t>32bit</a:t>
            </a:r>
            <a:r>
              <a:rPr lang="zh-CN" altLang="en-US" dirty="0"/>
              <a:t>，其中</a:t>
            </a:r>
            <a:r>
              <a:rPr lang="en-US" altLang="zh-CN" dirty="0"/>
              <a:t>1</a:t>
            </a:r>
            <a:r>
              <a:rPr lang="zh-CN" altLang="en-US" dirty="0"/>
              <a:t>位为符号位，</a:t>
            </a:r>
            <a:r>
              <a:rPr lang="en-US" altLang="zh-CN" dirty="0"/>
              <a:t>8bit</a:t>
            </a:r>
            <a:r>
              <a:rPr lang="zh-CN" altLang="en-US" dirty="0"/>
              <a:t>为指数位，</a:t>
            </a:r>
            <a:r>
              <a:rPr lang="en-US" altLang="zh-CN" dirty="0"/>
              <a:t>23</a:t>
            </a:r>
            <a:r>
              <a:rPr lang="zh-CN" altLang="en-US" dirty="0"/>
              <a:t>位为尾数位，因此，指数的表示范围为</a:t>
            </a:r>
            <a:r>
              <a:rPr lang="en-US" altLang="zh-CN" dirty="0"/>
              <a:t>-128</a:t>
            </a:r>
            <a:r>
              <a:rPr lang="zh-CN" altLang="en-US" dirty="0"/>
              <a:t>至</a:t>
            </a:r>
            <a:r>
              <a:rPr lang="en-US" altLang="zh-CN"/>
              <a:t>127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A5206D-904B-4230-84F4-E1C0F70D07E4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'B'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FEECBA-06CB-4ED2-B9B8-A5DB6840A686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"  j="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FEECBA-06CB-4ED2-B9B8-A5DB6840A686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4CD543C-87E0-4037-B871-8E209469E8F1}" type="slidenum">
              <a:rPr lang="zh-CN" altLang="en-US" smtClean="0"/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如果是</a:t>
            </a:r>
            <a:r>
              <a:rPr lang="en-US" altLang="zh-CN" dirty="0"/>
              <a:t>char*</a:t>
            </a:r>
            <a:r>
              <a:rPr lang="zh-CN" altLang="en-US" dirty="0"/>
              <a:t>，是不是就不对了？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FEECBA-06CB-4ED2-B9B8-A5DB6840A686}" type="slidenum">
              <a:rPr lang="zh-CN" altLang="en-US" smtClean="0"/>
              <a:t>33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4CD543C-87E0-4037-B871-8E209469E8F1}" type="slidenum">
              <a:rPr lang="zh-CN" altLang="en-US" smtClean="0"/>
              <a:t>42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4CD543C-87E0-4037-B871-8E209469E8F1}" type="slidenum">
              <a:rPr lang="zh-CN" altLang="en-US" smtClean="0"/>
              <a:t>44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343275" y="531813"/>
            <a:ext cx="3548063" cy="266223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A5206D-904B-4230-84F4-E1C0F70D07E4}" type="slidenum">
              <a:rPr lang="zh-CN" altLang="en-US" smtClean="0"/>
              <a:t>54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0243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E84AF5-2530-48EF-A17D-F4F580DE30BF}" type="slidenum">
              <a:rPr lang="zh-CN" altLang="en-US" smtClean="0"/>
              <a:t>55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72250" y="179388"/>
            <a:ext cx="1447800" cy="646112"/>
          </a:xfrm>
          <a:prstGeom prst="rect">
            <a:avLst/>
          </a:prstGeom>
          <a:effectLst>
            <a:outerShdw blurRad="25400" dist="12700" dir="2700000" algn="tl" rotWithShape="0">
              <a:schemeClr val="bg1">
                <a:alpha val="60000"/>
              </a:schemeClr>
            </a:outerShdw>
          </a:effectLst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14348" y="2000240"/>
            <a:ext cx="7715304" cy="1928826"/>
          </a:xfrm>
        </p:spPr>
        <p:txBody>
          <a:bodyPr/>
          <a:lstStyle>
            <a:lvl1pPr algn="ctr">
              <a:defRPr sz="480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714348" y="4000504"/>
            <a:ext cx="7715304" cy="1928826"/>
          </a:xfrm>
        </p:spPr>
        <p:txBody>
          <a:bodyPr/>
          <a:lstStyle>
            <a:lvl1pPr marL="0" indent="0" algn="ctr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>
          <a:xfrm>
            <a:off x="6012160" y="6551613"/>
            <a:ext cx="1500187" cy="3063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21026" y="6551613"/>
            <a:ext cx="1715070" cy="306387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457200" y="1000125"/>
            <a:ext cx="8229600" cy="85725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28802"/>
            <a:ext cx="4038600" cy="450059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28802"/>
            <a:ext cx="4038600" cy="450059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21026" y="6551613"/>
            <a:ext cx="1715070" cy="3063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" name="文本占位符 2"/>
          <p:cNvSpPr>
            <a:spLocks noGrp="1"/>
          </p:cNvSpPr>
          <p:nvPr>
            <p:ph type="body" idx="1"/>
          </p:nvPr>
        </p:nvSpPr>
        <p:spPr>
          <a:xfrm>
            <a:off x="457200" y="4286256"/>
            <a:ext cx="2614602" cy="2143140"/>
          </a:xfrm>
        </p:spPr>
        <p:txBody>
          <a:bodyPr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1" name="内容占位符 3"/>
          <p:cNvSpPr>
            <a:spLocks noGrp="1"/>
          </p:cNvSpPr>
          <p:nvPr>
            <p:ph sz="half" idx="2"/>
          </p:nvPr>
        </p:nvSpPr>
        <p:spPr>
          <a:xfrm>
            <a:off x="457200" y="1928802"/>
            <a:ext cx="2614602" cy="21431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4" name="文本占位符 2"/>
          <p:cNvSpPr>
            <a:spLocks noGrp="1"/>
          </p:cNvSpPr>
          <p:nvPr>
            <p:ph type="body" idx="13"/>
          </p:nvPr>
        </p:nvSpPr>
        <p:spPr>
          <a:xfrm>
            <a:off x="3243282" y="4286256"/>
            <a:ext cx="2614602" cy="2143140"/>
          </a:xfrm>
        </p:spPr>
        <p:txBody>
          <a:bodyPr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5" name="内容占位符 3"/>
          <p:cNvSpPr>
            <a:spLocks noGrp="1"/>
          </p:cNvSpPr>
          <p:nvPr>
            <p:ph sz="half" idx="14"/>
          </p:nvPr>
        </p:nvSpPr>
        <p:spPr>
          <a:xfrm>
            <a:off x="3243282" y="1928802"/>
            <a:ext cx="2614602" cy="21431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6" name="文本占位符 2"/>
          <p:cNvSpPr>
            <a:spLocks noGrp="1"/>
          </p:cNvSpPr>
          <p:nvPr>
            <p:ph type="body" idx="15"/>
          </p:nvPr>
        </p:nvSpPr>
        <p:spPr>
          <a:xfrm>
            <a:off x="6072198" y="4286256"/>
            <a:ext cx="2614602" cy="2143140"/>
          </a:xfrm>
        </p:spPr>
        <p:txBody>
          <a:bodyPr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7" name="内容占位符 3"/>
          <p:cNvSpPr>
            <a:spLocks noGrp="1"/>
          </p:cNvSpPr>
          <p:nvPr>
            <p:ph sz="half" idx="16"/>
          </p:nvPr>
        </p:nvSpPr>
        <p:spPr>
          <a:xfrm>
            <a:off x="6072198" y="1928802"/>
            <a:ext cx="2614602" cy="21431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18"/>
          </p:nvPr>
        </p:nvSpPr>
        <p:spPr>
          <a:xfrm>
            <a:off x="3721026" y="6551613"/>
            <a:ext cx="1715070" cy="3063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6572250"/>
            <a:ext cx="9144000" cy="285750"/>
          </a:xfrm>
          <a:prstGeom prst="rect">
            <a:avLst/>
          </a:prstGeom>
          <a:gradFill flip="none" rotWithShape="1">
            <a:gsLst>
              <a:gs pos="0">
                <a:schemeClr val="tx2">
                  <a:shade val="30000"/>
                  <a:satMod val="115000"/>
                </a:schemeClr>
              </a:gs>
              <a:gs pos="50000">
                <a:schemeClr val="tx2">
                  <a:shade val="67500"/>
                  <a:satMod val="115000"/>
                </a:schemeClr>
              </a:gs>
              <a:gs pos="100000">
                <a:schemeClr val="tx2">
                  <a:shade val="100000"/>
                  <a:satMod val="115000"/>
                </a:schemeClr>
              </a:gs>
            </a:gsLst>
            <a:lin ang="5400000" scaled="1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0" y="0"/>
            <a:ext cx="2786063" cy="857250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50000">
                <a:schemeClr val="tx2"/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10800000" scaled="1"/>
            <a:tileRect/>
          </a:gradFill>
          <a:ln w="127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2786063" y="0"/>
            <a:ext cx="6357937" cy="857250"/>
          </a:xfrm>
          <a:prstGeom prst="rect">
            <a:avLst/>
          </a:prstGeom>
          <a:gradFill flip="none" rotWithShape="1">
            <a:gsLst>
              <a:gs pos="30000">
                <a:schemeClr val="tx2"/>
              </a:gs>
              <a:gs pos="60000">
                <a:schemeClr val="tx2">
                  <a:lumMod val="40000"/>
                  <a:lumOff val="60000"/>
                </a:schemeClr>
              </a:gs>
              <a:gs pos="90000">
                <a:schemeClr val="bg1"/>
              </a:gs>
            </a:gsLst>
            <a:lin ang="10800000" scaled="1"/>
            <a:tileRect/>
          </a:gra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029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1000125"/>
            <a:ext cx="8229600" cy="714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928813"/>
            <a:ext cx="8229600" cy="45005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pic>
        <p:nvPicPr>
          <p:cNvPr id="1034" name="图片 12"/>
          <p:cNvPicPr>
            <a:picLocks noChangeAspect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14313" y="6594475"/>
            <a:ext cx="19510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5" name="Picture 12">
            <a:hlinkClick r:id="" action="ppaction://hlinkshowjump?jump=firstslide"/>
          </p:cNvPr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8329613" y="50800"/>
            <a:ext cx="781050" cy="776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extBox 1"/>
          <p:cNvSpPr txBox="1"/>
          <p:nvPr userDrawn="1"/>
        </p:nvSpPr>
        <p:spPr>
          <a:xfrm>
            <a:off x="5868144" y="6572250"/>
            <a:ext cx="32425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200" dirty="0">
                <a:solidFill>
                  <a:schemeClr val="bg1"/>
                </a:solidFill>
              </a:rPr>
              <a:t>Database &amp; Information System Lab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 "/>
        <a:defRPr sz="2800" kern="1200">
          <a:solidFill>
            <a:schemeClr val="tx1"/>
          </a:solidFill>
          <a:latin typeface="+mn-lt"/>
          <a:ea typeface="黑体" panose="02010609060101010101" pitchFamily="2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黑体" panose="02010609060101010101" pitchFamily="2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黑体" panose="02010609060101010101" pitchFamily="2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黑体" panose="02010609060101010101" pitchFamily="2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ern="1200">
          <a:solidFill>
            <a:schemeClr val="tx1"/>
          </a:solidFill>
          <a:latin typeface="+mn-lt"/>
          <a:ea typeface="黑体" panose="02010609060101010101" pitchFamily="2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slide" Target="slide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slide" Target="slide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slide" Target="slide7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slide" Target="slide7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13.png"/><Relationship Id="rId4" Type="http://schemas.openxmlformats.org/officeDocument/2006/relationships/slide" Target="slide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3.xml"/><Relationship Id="rId6" Type="http://schemas.openxmlformats.org/officeDocument/2006/relationships/slide" Target="slide7.xml"/><Relationship Id="rId5" Type="http://schemas.openxmlformats.org/officeDocument/2006/relationships/image" Target="../media/image17.emf"/><Relationship Id="rId4" Type="http://schemas.openxmlformats.org/officeDocument/2006/relationships/image" Target="../media/image16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3.xml"/><Relationship Id="rId4" Type="http://schemas.openxmlformats.org/officeDocument/2006/relationships/slide" Target="slide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slide" Target="slide7.xml"/><Relationship Id="rId4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3.xml"/><Relationship Id="rId4" Type="http://schemas.openxmlformats.org/officeDocument/2006/relationships/slide" Target="slide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7.xml"/><Relationship Id="rId4" Type="http://schemas.openxmlformats.org/officeDocument/2006/relationships/image" Target="../media/image7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slide" Target="slide7.xml"/><Relationship Id="rId4" Type="http://schemas.openxmlformats.org/officeDocument/2006/relationships/image" Target="../media/image7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11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857250"/>
            <a:ext cx="9144000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5" name="标题 7"/>
          <p:cNvSpPr>
            <a:spLocks noGrp="1"/>
          </p:cNvSpPr>
          <p:nvPr>
            <p:ph type="ctrTitle"/>
          </p:nvPr>
        </p:nvSpPr>
        <p:spPr>
          <a:xfrm>
            <a:off x="714375" y="2000250"/>
            <a:ext cx="7715250" cy="1928813"/>
          </a:xfrm>
        </p:spPr>
        <p:txBody>
          <a:bodyPr/>
          <a:lstStyle/>
          <a:p>
            <a:r>
              <a:rPr lang="zh-CN" altLang="en-US" dirty="0">
                <a:solidFill>
                  <a:srgbClr val="000000"/>
                </a:solidFill>
              </a:rPr>
              <a:t>第二章 数据类型</a:t>
            </a:r>
          </a:p>
        </p:txBody>
      </p:sp>
      <p:sp>
        <p:nvSpPr>
          <p:cNvPr id="3076" name="副标题 8"/>
          <p:cNvSpPr>
            <a:spLocks noGrp="1"/>
          </p:cNvSpPr>
          <p:nvPr>
            <p:ph type="subTitle" idx="1"/>
          </p:nvPr>
        </p:nvSpPr>
        <p:spPr>
          <a:xfrm>
            <a:off x="714375" y="4000500"/>
            <a:ext cx="7715250" cy="1928813"/>
          </a:xfrm>
        </p:spPr>
        <p:txBody>
          <a:bodyPr/>
          <a:lstStyle/>
          <a:p>
            <a:r>
              <a:rPr lang="zh-CN" altLang="en-US" sz="2000" dirty="0"/>
              <a:t>主讲：刘晓光</a:t>
            </a:r>
            <a:endParaRPr lang="en-US" altLang="zh-CN" sz="2000" dirty="0"/>
          </a:p>
          <a:p>
            <a:r>
              <a:rPr lang="zh-CN" altLang="en-US" sz="2000" dirty="0"/>
              <a:t>张海威  张莹</a:t>
            </a:r>
            <a:endParaRPr lang="en-US" altLang="zh-CN" sz="2000" dirty="0"/>
          </a:p>
          <a:p>
            <a:r>
              <a:rPr lang="zh-CN" altLang="en-US" sz="2000" dirty="0"/>
              <a:t>殷爱茹 李雨森</a:t>
            </a:r>
            <a:endParaRPr lang="en-US" altLang="zh-CN" sz="2000" dirty="0"/>
          </a:p>
          <a:p>
            <a:r>
              <a:rPr lang="zh-CN" altLang="en-US" sz="2000" dirty="0"/>
              <a:t>宋春瑶 沈玮</a:t>
            </a:r>
            <a:endParaRPr lang="en-US" altLang="zh-CN" sz="2000" dirty="0"/>
          </a:p>
          <a:p>
            <a:r>
              <a:rPr lang="zh-CN" altLang="en-US" sz="2000"/>
              <a:t>卢少平</a:t>
            </a:r>
            <a:endParaRPr lang="zh-CN" altLang="en-US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6111979" y="6518579"/>
            <a:ext cx="3050277" cy="387798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zh-CN" altLang="en-US" sz="1600" dirty="0">
                <a:solidFill>
                  <a:schemeClr val="bg1"/>
                </a:solidFill>
                <a:latin typeface="+mn-lt"/>
                <a:ea typeface="方正姚体" panose="02010601030101010101" pitchFamily="2" charset="-122"/>
              </a:rPr>
              <a:t>计算机学院</a:t>
            </a:r>
            <a:r>
              <a:rPr lang="en-US" altLang="zh-CN" sz="1600" dirty="0">
                <a:solidFill>
                  <a:schemeClr val="bg1"/>
                </a:solidFill>
                <a:latin typeface="+mn-lt"/>
                <a:ea typeface="方正姚体" panose="02010601030101010101" pitchFamily="2" charset="-122"/>
              </a:rPr>
              <a:t>&amp;</a:t>
            </a:r>
            <a:r>
              <a:rPr lang="zh-CN" altLang="en-US" sz="1600" dirty="0">
                <a:solidFill>
                  <a:schemeClr val="bg1"/>
                </a:solidFill>
                <a:latin typeface="+mn-lt"/>
                <a:ea typeface="方正姚体" panose="02010601030101010101" pitchFamily="2" charset="-122"/>
              </a:rPr>
              <a:t>网络空间安全学院</a:t>
            </a:r>
          </a:p>
        </p:txBody>
      </p:sp>
      <p:pic>
        <p:nvPicPr>
          <p:cNvPr id="9" name="图片 12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598192" y="5666350"/>
            <a:ext cx="1463675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extBox 8"/>
          <p:cNvSpPr txBox="1">
            <a:spLocks noChangeArrowheads="1"/>
          </p:cNvSpPr>
          <p:nvPr/>
        </p:nvSpPr>
        <p:spPr bwMode="auto">
          <a:xfrm>
            <a:off x="5796136" y="895350"/>
            <a:ext cx="3199915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高级语言</a:t>
            </a:r>
            <a:r>
              <a:rPr lang="en-US" altLang="zh-CN" sz="2400" b="1" dirty="0">
                <a:solidFill>
                  <a:schemeClr val="bg1"/>
                </a:solidFill>
                <a:latin typeface="Courier New" panose="02070309020205020404" pitchFamily="49" charset="0"/>
                <a:ea typeface="华文琥珀" panose="02010800040101010101" pitchFamily="2" charset="-122"/>
                <a:cs typeface="Courier New" panose="02070309020205020404" pitchFamily="49" charset="0"/>
              </a:rPr>
              <a:t>C++</a:t>
            </a:r>
            <a:r>
              <a:rPr lang="zh-CN" altLang="en-US" sz="2400" dirty="0">
                <a:solidFill>
                  <a:schemeClr val="bg1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程序设计</a:t>
            </a:r>
          </a:p>
        </p:txBody>
      </p:sp>
    </p:spTree>
  </p:cSld>
  <p:clrMapOvr>
    <a:masterClrMapping/>
  </p:clrMapOvr>
  <p:transition advTm="4938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34"/>
          <p:cNvGrpSpPr/>
          <p:nvPr/>
        </p:nvGrpSpPr>
        <p:grpSpPr bwMode="auto">
          <a:xfrm>
            <a:off x="1664047" y="3284984"/>
            <a:ext cx="5356225" cy="795330"/>
            <a:chOff x="1643042" y="3209740"/>
            <a:chExt cx="5356246" cy="795334"/>
          </a:xfrm>
        </p:grpSpPr>
        <p:sp>
          <p:nvSpPr>
            <p:cNvPr id="14" name="五边形 13"/>
            <p:cNvSpPr/>
            <p:nvPr/>
          </p:nvSpPr>
          <p:spPr bwMode="auto">
            <a:xfrm flipH="1">
              <a:off x="2041506" y="3209740"/>
              <a:ext cx="4957782" cy="792166"/>
            </a:xfrm>
            <a:prstGeom prst="homePlate">
              <a:avLst/>
            </a:prstGeom>
            <a:gradFill flip="none" rotWithShape="1">
              <a:gsLst>
                <a:gs pos="0">
                  <a:schemeClr val="tx2">
                    <a:shade val="30000"/>
                    <a:satMod val="115000"/>
                  </a:schemeClr>
                </a:gs>
                <a:gs pos="50000">
                  <a:schemeClr val="tx2">
                    <a:shade val="67500"/>
                    <a:satMod val="115000"/>
                  </a:schemeClr>
                </a:gs>
                <a:gs pos="100000">
                  <a:schemeClr val="tx2">
                    <a:shade val="100000"/>
                    <a:satMod val="115000"/>
                  </a:schemeClr>
                </a:gs>
              </a:gsLst>
              <a:lin ang="1890000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3200" kern="0" dirty="0">
                <a:solidFill>
                  <a:sysClr val="window" lastClr="FFFFFF"/>
                </a:solidFill>
                <a:latin typeface="Arial" panose="020B0604020202020204"/>
                <a:ea typeface="黑体" panose="02010609060101010101" pitchFamily="2" charset="-122"/>
              </a:endParaRPr>
            </a:p>
          </p:txBody>
        </p:sp>
        <p:grpSp>
          <p:nvGrpSpPr>
            <p:cNvPr id="3" name="组合 19"/>
            <p:cNvGrpSpPr/>
            <p:nvPr/>
          </p:nvGrpSpPr>
          <p:grpSpPr bwMode="auto">
            <a:xfrm>
              <a:off x="1643042" y="3216082"/>
              <a:ext cx="792165" cy="788992"/>
              <a:chOff x="854055" y="2573140"/>
              <a:chExt cx="792165" cy="788992"/>
            </a:xfrm>
          </p:grpSpPr>
          <p:sp>
            <p:nvSpPr>
              <p:cNvPr id="27" name="椭圆 26"/>
              <p:cNvSpPr>
                <a:spLocks noChangeAspect="1"/>
              </p:cNvSpPr>
              <p:nvPr/>
            </p:nvSpPr>
            <p:spPr bwMode="auto">
              <a:xfrm>
                <a:off x="857230" y="2573140"/>
                <a:ext cx="788990" cy="788992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pic>
            <p:nvPicPr>
              <p:cNvPr id="4116" name="图片 22" descr="NANKAI.png"/>
              <p:cNvPicPr>
                <a:picLocks noChangeAspect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854055" y="2573140"/>
                <a:ext cx="788987" cy="7889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  <p:sp>
        <p:nvSpPr>
          <p:cNvPr id="46" name="TextBox 45"/>
          <p:cNvSpPr txBox="1"/>
          <p:nvPr/>
        </p:nvSpPr>
        <p:spPr>
          <a:xfrm>
            <a:off x="2576760" y="3407305"/>
            <a:ext cx="4320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复合数据类型</a:t>
            </a:r>
            <a:endParaRPr lang="zh-CN" altLang="en-US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9" name="组合 34"/>
          <p:cNvGrpSpPr/>
          <p:nvPr/>
        </p:nvGrpSpPr>
        <p:grpSpPr bwMode="auto">
          <a:xfrm>
            <a:off x="1664047" y="4221088"/>
            <a:ext cx="5356225" cy="1727783"/>
            <a:chOff x="1643042" y="3212518"/>
            <a:chExt cx="5356246" cy="1727791"/>
          </a:xfrm>
        </p:grpSpPr>
        <p:sp>
          <p:nvSpPr>
            <p:cNvPr id="20" name="五边形 19"/>
            <p:cNvSpPr/>
            <p:nvPr/>
          </p:nvSpPr>
          <p:spPr bwMode="auto">
            <a:xfrm flipH="1">
              <a:off x="2041506" y="3212518"/>
              <a:ext cx="4957782" cy="792166"/>
            </a:xfrm>
            <a:prstGeom prst="homePlate">
              <a:avLst/>
            </a:prstGeom>
            <a:gradFill flip="none" rotWithShape="1">
              <a:gsLst>
                <a:gs pos="0">
                  <a:schemeClr val="tx2">
                    <a:shade val="30000"/>
                    <a:satMod val="115000"/>
                  </a:schemeClr>
                </a:gs>
                <a:gs pos="50000">
                  <a:schemeClr val="tx2">
                    <a:shade val="67500"/>
                    <a:satMod val="115000"/>
                  </a:schemeClr>
                </a:gs>
                <a:gs pos="100000">
                  <a:schemeClr val="tx2">
                    <a:shade val="100000"/>
                    <a:satMod val="115000"/>
                  </a:schemeClr>
                </a:gs>
              </a:gsLst>
              <a:lin ang="1890000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3200" kern="0" dirty="0">
                <a:solidFill>
                  <a:sysClr val="window" lastClr="FFFFFF"/>
                </a:solidFill>
                <a:latin typeface="Arial" panose="020B0604020202020204"/>
                <a:ea typeface="黑体" panose="02010609060101010101" pitchFamily="2" charset="-122"/>
              </a:endParaRPr>
            </a:p>
          </p:txBody>
        </p:sp>
        <p:sp>
          <p:nvSpPr>
            <p:cNvPr id="21" name="五边形 20"/>
            <p:cNvSpPr/>
            <p:nvPr/>
          </p:nvSpPr>
          <p:spPr bwMode="auto">
            <a:xfrm flipH="1">
              <a:off x="2041506" y="4146556"/>
              <a:ext cx="4957782" cy="793753"/>
            </a:xfrm>
            <a:prstGeom prst="homePlate">
              <a:avLst/>
            </a:prstGeom>
            <a:gradFill flip="none" rotWithShape="1">
              <a:gsLst>
                <a:gs pos="0">
                  <a:schemeClr val="tx2">
                    <a:shade val="30000"/>
                    <a:satMod val="115000"/>
                  </a:schemeClr>
                </a:gs>
                <a:gs pos="50000">
                  <a:schemeClr val="tx2">
                    <a:shade val="67500"/>
                    <a:satMod val="115000"/>
                  </a:schemeClr>
                </a:gs>
                <a:gs pos="100000">
                  <a:schemeClr val="tx2">
                    <a:shade val="100000"/>
                    <a:satMod val="115000"/>
                  </a:schemeClr>
                </a:gs>
              </a:gsLst>
              <a:lin ang="1890000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3200" kern="0" dirty="0">
                <a:solidFill>
                  <a:sysClr val="window" lastClr="FFFFFF"/>
                </a:solidFill>
                <a:latin typeface="Arial" panose="020B0604020202020204"/>
                <a:ea typeface="黑体" panose="02010609060101010101" pitchFamily="2" charset="-122"/>
              </a:endParaRPr>
            </a:p>
          </p:txBody>
        </p:sp>
        <p:grpSp>
          <p:nvGrpSpPr>
            <p:cNvPr id="24" name="组合 19"/>
            <p:cNvGrpSpPr/>
            <p:nvPr/>
          </p:nvGrpSpPr>
          <p:grpSpPr bwMode="auto">
            <a:xfrm>
              <a:off x="1643042" y="3218860"/>
              <a:ext cx="792165" cy="788993"/>
              <a:chOff x="854055" y="2575918"/>
              <a:chExt cx="792165" cy="788993"/>
            </a:xfrm>
          </p:grpSpPr>
          <p:sp>
            <p:nvSpPr>
              <p:cNvPr id="31" name="椭圆 30"/>
              <p:cNvSpPr>
                <a:spLocks noChangeAspect="1"/>
              </p:cNvSpPr>
              <p:nvPr/>
            </p:nvSpPr>
            <p:spPr bwMode="auto">
              <a:xfrm>
                <a:off x="857230" y="2575919"/>
                <a:ext cx="788990" cy="788992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pic>
            <p:nvPicPr>
              <p:cNvPr id="33" name="图片 22" descr="NANKAI.png"/>
              <p:cNvPicPr>
                <a:picLocks noChangeAspect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854055" y="2575918"/>
                <a:ext cx="788987" cy="7889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grpSp>
          <p:nvGrpSpPr>
            <p:cNvPr id="26" name="组合 28"/>
            <p:cNvGrpSpPr/>
            <p:nvPr/>
          </p:nvGrpSpPr>
          <p:grpSpPr bwMode="auto">
            <a:xfrm>
              <a:off x="1643042" y="4143380"/>
              <a:ext cx="792156" cy="788988"/>
              <a:chOff x="854055" y="1643050"/>
              <a:chExt cx="792156" cy="788988"/>
            </a:xfrm>
          </p:grpSpPr>
          <p:sp>
            <p:nvSpPr>
              <p:cNvPr id="28" name="椭圆 27"/>
              <p:cNvSpPr>
                <a:spLocks noChangeAspect="1"/>
              </p:cNvSpPr>
              <p:nvPr/>
            </p:nvSpPr>
            <p:spPr bwMode="auto">
              <a:xfrm>
                <a:off x="857230" y="1643051"/>
                <a:ext cx="788990" cy="788991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pic>
            <p:nvPicPr>
              <p:cNvPr id="30" name="图片 22" descr="NANKAI.png"/>
              <p:cNvPicPr>
                <a:picLocks noChangeAspect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854055" y="1643050"/>
                <a:ext cx="788987" cy="7889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  <p:sp>
        <p:nvSpPr>
          <p:cNvPr id="34" name="TextBox 33"/>
          <p:cNvSpPr txBox="1"/>
          <p:nvPr/>
        </p:nvSpPr>
        <p:spPr>
          <a:xfrm>
            <a:off x="2578223" y="4340629"/>
            <a:ext cx="4320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r>
              <a:rPr lang="en-US" altLang="zh-CN" dirty="0"/>
              <a:t>CV</a:t>
            </a:r>
            <a:r>
              <a:rPr lang="zh-CN" altLang="en-US" dirty="0"/>
              <a:t>限定数据类型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78223" y="5276733"/>
            <a:ext cx="4320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说明语句</a:t>
            </a:r>
          </a:p>
        </p:txBody>
      </p:sp>
      <p:grpSp>
        <p:nvGrpSpPr>
          <p:cNvPr id="39" name="组合 34"/>
          <p:cNvGrpSpPr/>
          <p:nvPr/>
        </p:nvGrpSpPr>
        <p:grpSpPr bwMode="auto">
          <a:xfrm>
            <a:off x="1664047" y="1412776"/>
            <a:ext cx="5356225" cy="1727783"/>
            <a:chOff x="1643042" y="3212518"/>
            <a:chExt cx="5356246" cy="1727791"/>
          </a:xfrm>
        </p:grpSpPr>
        <p:sp>
          <p:nvSpPr>
            <p:cNvPr id="40" name="五边形 39"/>
            <p:cNvSpPr/>
            <p:nvPr/>
          </p:nvSpPr>
          <p:spPr bwMode="auto">
            <a:xfrm flipH="1">
              <a:off x="2041506" y="3212518"/>
              <a:ext cx="4957782" cy="792166"/>
            </a:xfrm>
            <a:prstGeom prst="homePlate">
              <a:avLst/>
            </a:prstGeom>
            <a:gradFill flip="none" rotWithShape="1">
              <a:gsLst>
                <a:gs pos="0">
                  <a:schemeClr val="tx2">
                    <a:shade val="30000"/>
                    <a:satMod val="115000"/>
                  </a:schemeClr>
                </a:gs>
                <a:gs pos="50000">
                  <a:schemeClr val="tx2">
                    <a:shade val="67500"/>
                    <a:satMod val="115000"/>
                  </a:schemeClr>
                </a:gs>
                <a:gs pos="100000">
                  <a:schemeClr val="tx2">
                    <a:shade val="100000"/>
                    <a:satMod val="115000"/>
                  </a:schemeClr>
                </a:gs>
              </a:gsLst>
              <a:lin ang="1890000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3200" kern="0" dirty="0">
                <a:solidFill>
                  <a:sysClr val="window" lastClr="FFFFFF"/>
                </a:solidFill>
                <a:latin typeface="Arial" panose="020B0604020202020204"/>
                <a:ea typeface="黑体" panose="02010609060101010101" pitchFamily="2" charset="-122"/>
              </a:endParaRPr>
            </a:p>
          </p:txBody>
        </p:sp>
        <p:sp>
          <p:nvSpPr>
            <p:cNvPr id="45" name="五边形 44"/>
            <p:cNvSpPr/>
            <p:nvPr/>
          </p:nvSpPr>
          <p:spPr bwMode="auto">
            <a:xfrm flipH="1">
              <a:off x="2041506" y="4146556"/>
              <a:ext cx="4957782" cy="793753"/>
            </a:xfrm>
            <a:prstGeom prst="homePlate">
              <a:avLst/>
            </a:prstGeom>
            <a:gradFill flip="none" rotWithShape="1">
              <a:gsLst>
                <a:gs pos="0">
                  <a:schemeClr val="tx2">
                    <a:shade val="30000"/>
                    <a:satMod val="115000"/>
                  </a:schemeClr>
                </a:gs>
                <a:gs pos="50000">
                  <a:schemeClr val="tx2">
                    <a:shade val="67500"/>
                    <a:satMod val="115000"/>
                  </a:schemeClr>
                </a:gs>
                <a:gs pos="100000">
                  <a:schemeClr val="tx2">
                    <a:shade val="100000"/>
                    <a:satMod val="115000"/>
                  </a:schemeClr>
                </a:gs>
              </a:gsLst>
              <a:lin ang="1890000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3200" kern="0" dirty="0">
                <a:solidFill>
                  <a:sysClr val="window" lastClr="FFFFFF"/>
                </a:solidFill>
                <a:latin typeface="Arial" panose="020B0604020202020204"/>
                <a:ea typeface="黑体" panose="02010609060101010101" pitchFamily="2" charset="-122"/>
              </a:endParaRPr>
            </a:p>
          </p:txBody>
        </p:sp>
        <p:grpSp>
          <p:nvGrpSpPr>
            <p:cNvPr id="47" name="组合 19"/>
            <p:cNvGrpSpPr/>
            <p:nvPr/>
          </p:nvGrpSpPr>
          <p:grpSpPr bwMode="auto">
            <a:xfrm>
              <a:off x="1643042" y="3218860"/>
              <a:ext cx="792165" cy="788993"/>
              <a:chOff x="854055" y="2575918"/>
              <a:chExt cx="792165" cy="788993"/>
            </a:xfrm>
          </p:grpSpPr>
          <p:sp>
            <p:nvSpPr>
              <p:cNvPr id="51" name="椭圆 50"/>
              <p:cNvSpPr>
                <a:spLocks noChangeAspect="1"/>
              </p:cNvSpPr>
              <p:nvPr/>
            </p:nvSpPr>
            <p:spPr bwMode="auto">
              <a:xfrm>
                <a:off x="857230" y="2575919"/>
                <a:ext cx="788990" cy="788992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pic>
            <p:nvPicPr>
              <p:cNvPr id="52" name="图片 22" descr="NANKAI.png"/>
              <p:cNvPicPr>
                <a:picLocks noChangeAspect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854055" y="2575918"/>
                <a:ext cx="788987" cy="7889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grpSp>
          <p:nvGrpSpPr>
            <p:cNvPr id="48" name="组合 28"/>
            <p:cNvGrpSpPr/>
            <p:nvPr/>
          </p:nvGrpSpPr>
          <p:grpSpPr bwMode="auto">
            <a:xfrm>
              <a:off x="1643042" y="4143380"/>
              <a:ext cx="792156" cy="788988"/>
              <a:chOff x="854055" y="1643050"/>
              <a:chExt cx="792156" cy="788988"/>
            </a:xfrm>
          </p:grpSpPr>
          <p:sp>
            <p:nvSpPr>
              <p:cNvPr id="49" name="椭圆 48"/>
              <p:cNvSpPr>
                <a:spLocks noChangeAspect="1"/>
              </p:cNvSpPr>
              <p:nvPr/>
            </p:nvSpPr>
            <p:spPr bwMode="auto">
              <a:xfrm>
                <a:off x="857230" y="1643051"/>
                <a:ext cx="788990" cy="788991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pic>
            <p:nvPicPr>
              <p:cNvPr id="50" name="图片 22" descr="NANKAI.png"/>
              <p:cNvPicPr>
                <a:picLocks noChangeAspect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854055" y="1643050"/>
                <a:ext cx="788987" cy="7889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  <p:sp>
        <p:nvSpPr>
          <p:cNvPr id="53" name="TextBox 52"/>
          <p:cNvSpPr txBox="1"/>
          <p:nvPr/>
        </p:nvSpPr>
        <p:spPr>
          <a:xfrm>
            <a:off x="2578223" y="1532317"/>
            <a:ext cx="4320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r>
              <a:rPr lang="zh-CN" altLang="en-US" dirty="0"/>
              <a:t>数据与数据表示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578223" y="2468421"/>
            <a:ext cx="4320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</a:t>
            </a:r>
          </a:p>
        </p:txBody>
      </p:sp>
    </p:spTree>
  </p:cSld>
  <p:clrMapOvr>
    <a:masterClrMapping/>
  </p:clrMapOvr>
  <p:transition advTm="751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34"/>
          <p:cNvGrpSpPr/>
          <p:nvPr/>
        </p:nvGrpSpPr>
        <p:grpSpPr bwMode="auto">
          <a:xfrm>
            <a:off x="1664047" y="3284984"/>
            <a:ext cx="5356225" cy="795330"/>
            <a:chOff x="1643042" y="3209740"/>
            <a:chExt cx="5356246" cy="795334"/>
          </a:xfrm>
        </p:grpSpPr>
        <p:sp>
          <p:nvSpPr>
            <p:cNvPr id="14" name="五边形 13"/>
            <p:cNvSpPr/>
            <p:nvPr/>
          </p:nvSpPr>
          <p:spPr bwMode="auto">
            <a:xfrm flipH="1">
              <a:off x="2041506" y="3209740"/>
              <a:ext cx="4957782" cy="792166"/>
            </a:xfrm>
            <a:prstGeom prst="homePlate">
              <a:avLst/>
            </a:prstGeom>
            <a:gradFill flip="none" rotWithShape="1">
              <a:gsLst>
                <a:gs pos="0">
                  <a:schemeClr val="tx2">
                    <a:shade val="30000"/>
                    <a:satMod val="115000"/>
                  </a:schemeClr>
                </a:gs>
                <a:gs pos="50000">
                  <a:schemeClr val="tx2">
                    <a:shade val="67500"/>
                    <a:satMod val="115000"/>
                  </a:schemeClr>
                </a:gs>
                <a:gs pos="100000">
                  <a:schemeClr val="tx2">
                    <a:shade val="100000"/>
                    <a:satMod val="115000"/>
                  </a:schemeClr>
                </a:gs>
              </a:gsLst>
              <a:lin ang="1890000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3200" kern="0" dirty="0">
                <a:solidFill>
                  <a:sysClr val="window" lastClr="FFFFFF"/>
                </a:solidFill>
                <a:latin typeface="Arial" panose="020B0604020202020204"/>
                <a:ea typeface="黑体" panose="02010609060101010101" pitchFamily="2" charset="-122"/>
              </a:endParaRPr>
            </a:p>
          </p:txBody>
        </p:sp>
        <p:grpSp>
          <p:nvGrpSpPr>
            <p:cNvPr id="3" name="组合 19"/>
            <p:cNvGrpSpPr/>
            <p:nvPr/>
          </p:nvGrpSpPr>
          <p:grpSpPr bwMode="auto">
            <a:xfrm>
              <a:off x="1643042" y="3216082"/>
              <a:ext cx="792165" cy="788992"/>
              <a:chOff x="854055" y="2573140"/>
              <a:chExt cx="792165" cy="788992"/>
            </a:xfrm>
          </p:grpSpPr>
          <p:sp>
            <p:nvSpPr>
              <p:cNvPr id="27" name="椭圆 26"/>
              <p:cNvSpPr>
                <a:spLocks noChangeAspect="1"/>
              </p:cNvSpPr>
              <p:nvPr/>
            </p:nvSpPr>
            <p:spPr bwMode="auto">
              <a:xfrm>
                <a:off x="857230" y="2573140"/>
                <a:ext cx="788990" cy="788992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pic>
            <p:nvPicPr>
              <p:cNvPr id="4116" name="图片 22" descr="NANKAI.png"/>
              <p:cNvPicPr>
                <a:picLocks noChangeAspect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854055" y="2573140"/>
                <a:ext cx="788987" cy="7889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  <p:grpSp>
        <p:nvGrpSpPr>
          <p:cNvPr id="22" name="组合 34"/>
          <p:cNvGrpSpPr/>
          <p:nvPr/>
        </p:nvGrpSpPr>
        <p:grpSpPr bwMode="auto">
          <a:xfrm>
            <a:off x="1664047" y="2343632"/>
            <a:ext cx="5356225" cy="796925"/>
            <a:chOff x="1643042" y="4143380"/>
            <a:chExt cx="5356246" cy="796929"/>
          </a:xfrm>
        </p:grpSpPr>
        <p:sp>
          <p:nvSpPr>
            <p:cNvPr id="25" name="五边形 24"/>
            <p:cNvSpPr/>
            <p:nvPr/>
          </p:nvSpPr>
          <p:spPr bwMode="auto">
            <a:xfrm flipH="1">
              <a:off x="2041506" y="4146556"/>
              <a:ext cx="4957782" cy="793753"/>
            </a:xfrm>
            <a:prstGeom prst="homePlate">
              <a:avLst/>
            </a:prstGeom>
            <a:gradFill flip="none" rotWithShape="1">
              <a:gsLst>
                <a:gs pos="0">
                  <a:schemeClr val="tx2">
                    <a:shade val="30000"/>
                    <a:satMod val="115000"/>
                  </a:schemeClr>
                </a:gs>
                <a:gs pos="50000">
                  <a:schemeClr val="tx2">
                    <a:shade val="67500"/>
                    <a:satMod val="115000"/>
                  </a:schemeClr>
                </a:gs>
                <a:gs pos="100000">
                  <a:schemeClr val="tx2">
                    <a:shade val="100000"/>
                    <a:satMod val="115000"/>
                  </a:schemeClr>
                </a:gs>
              </a:gsLst>
              <a:lin ang="1890000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3200" kern="0" dirty="0">
                <a:solidFill>
                  <a:sysClr val="window" lastClr="FFFFFF"/>
                </a:solidFill>
                <a:latin typeface="Arial" panose="020B0604020202020204"/>
                <a:ea typeface="黑体" panose="02010609060101010101" pitchFamily="2" charset="-122"/>
              </a:endParaRPr>
            </a:p>
          </p:txBody>
        </p:sp>
        <p:grpSp>
          <p:nvGrpSpPr>
            <p:cNvPr id="32" name="组合 28"/>
            <p:cNvGrpSpPr/>
            <p:nvPr/>
          </p:nvGrpSpPr>
          <p:grpSpPr bwMode="auto">
            <a:xfrm>
              <a:off x="1643042" y="4143380"/>
              <a:ext cx="792156" cy="788988"/>
              <a:chOff x="854055" y="1643050"/>
              <a:chExt cx="792156" cy="788988"/>
            </a:xfrm>
          </p:grpSpPr>
          <p:sp>
            <p:nvSpPr>
              <p:cNvPr id="37" name="椭圆 36"/>
              <p:cNvSpPr>
                <a:spLocks noChangeAspect="1"/>
              </p:cNvSpPr>
              <p:nvPr/>
            </p:nvSpPr>
            <p:spPr bwMode="auto">
              <a:xfrm>
                <a:off x="857230" y="1643051"/>
                <a:ext cx="788990" cy="788991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pic>
            <p:nvPicPr>
              <p:cNvPr id="38" name="图片 22" descr="NANKAI.png"/>
              <p:cNvPicPr>
                <a:picLocks noChangeAspect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854055" y="1643050"/>
                <a:ext cx="788987" cy="7889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  <p:sp>
        <p:nvSpPr>
          <p:cNvPr id="43" name="TextBox 42"/>
          <p:cNvSpPr txBox="1"/>
          <p:nvPr/>
        </p:nvSpPr>
        <p:spPr>
          <a:xfrm>
            <a:off x="2578223" y="1582581"/>
            <a:ext cx="4320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r>
              <a:rPr lang="zh-CN" altLang="en-US" dirty="0"/>
              <a:t>数据与数据表示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78223" y="2468421"/>
            <a:ext cx="4320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76760" y="3407305"/>
            <a:ext cx="4320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复合数据类型</a:t>
            </a:r>
            <a:endParaRPr lang="zh-CN" altLang="en-US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9" name="组合 34"/>
          <p:cNvGrpSpPr/>
          <p:nvPr/>
        </p:nvGrpSpPr>
        <p:grpSpPr bwMode="auto">
          <a:xfrm>
            <a:off x="1664047" y="4221088"/>
            <a:ext cx="5356225" cy="1727783"/>
            <a:chOff x="1643042" y="3212518"/>
            <a:chExt cx="5356246" cy="1727791"/>
          </a:xfrm>
        </p:grpSpPr>
        <p:sp>
          <p:nvSpPr>
            <p:cNvPr id="20" name="五边形 19"/>
            <p:cNvSpPr/>
            <p:nvPr/>
          </p:nvSpPr>
          <p:spPr bwMode="auto">
            <a:xfrm flipH="1">
              <a:off x="2041506" y="3212518"/>
              <a:ext cx="4957782" cy="792166"/>
            </a:xfrm>
            <a:prstGeom prst="homePlate">
              <a:avLst/>
            </a:prstGeom>
            <a:gradFill flip="none" rotWithShape="1">
              <a:gsLst>
                <a:gs pos="0">
                  <a:schemeClr val="tx2">
                    <a:shade val="30000"/>
                    <a:satMod val="115000"/>
                  </a:schemeClr>
                </a:gs>
                <a:gs pos="50000">
                  <a:schemeClr val="tx2">
                    <a:shade val="67500"/>
                    <a:satMod val="115000"/>
                  </a:schemeClr>
                </a:gs>
                <a:gs pos="100000">
                  <a:schemeClr val="tx2">
                    <a:shade val="100000"/>
                    <a:satMod val="115000"/>
                  </a:schemeClr>
                </a:gs>
              </a:gsLst>
              <a:lin ang="1890000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3200" kern="0" dirty="0">
                <a:solidFill>
                  <a:sysClr val="window" lastClr="FFFFFF"/>
                </a:solidFill>
                <a:latin typeface="Arial" panose="020B0604020202020204"/>
                <a:ea typeface="黑体" panose="02010609060101010101" pitchFamily="2" charset="-122"/>
              </a:endParaRPr>
            </a:p>
          </p:txBody>
        </p:sp>
        <p:sp>
          <p:nvSpPr>
            <p:cNvPr id="21" name="五边形 20"/>
            <p:cNvSpPr/>
            <p:nvPr/>
          </p:nvSpPr>
          <p:spPr bwMode="auto">
            <a:xfrm flipH="1">
              <a:off x="2041506" y="4146556"/>
              <a:ext cx="4957782" cy="793753"/>
            </a:xfrm>
            <a:prstGeom prst="homePlate">
              <a:avLst/>
            </a:prstGeom>
            <a:gradFill flip="none" rotWithShape="1">
              <a:gsLst>
                <a:gs pos="0">
                  <a:schemeClr val="tx2">
                    <a:shade val="30000"/>
                    <a:satMod val="115000"/>
                  </a:schemeClr>
                </a:gs>
                <a:gs pos="50000">
                  <a:schemeClr val="tx2">
                    <a:shade val="67500"/>
                    <a:satMod val="115000"/>
                  </a:schemeClr>
                </a:gs>
                <a:gs pos="100000">
                  <a:schemeClr val="tx2">
                    <a:shade val="100000"/>
                    <a:satMod val="115000"/>
                  </a:schemeClr>
                </a:gs>
              </a:gsLst>
              <a:lin ang="1890000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3200" kern="0" dirty="0">
                <a:solidFill>
                  <a:sysClr val="window" lastClr="FFFFFF"/>
                </a:solidFill>
                <a:latin typeface="Arial" panose="020B0604020202020204"/>
                <a:ea typeface="黑体" panose="02010609060101010101" pitchFamily="2" charset="-122"/>
              </a:endParaRPr>
            </a:p>
          </p:txBody>
        </p:sp>
        <p:grpSp>
          <p:nvGrpSpPr>
            <p:cNvPr id="24" name="组合 19"/>
            <p:cNvGrpSpPr/>
            <p:nvPr/>
          </p:nvGrpSpPr>
          <p:grpSpPr bwMode="auto">
            <a:xfrm>
              <a:off x="1643042" y="3218860"/>
              <a:ext cx="792165" cy="788993"/>
              <a:chOff x="854055" y="2575918"/>
              <a:chExt cx="792165" cy="788993"/>
            </a:xfrm>
          </p:grpSpPr>
          <p:sp>
            <p:nvSpPr>
              <p:cNvPr id="31" name="椭圆 30"/>
              <p:cNvSpPr>
                <a:spLocks noChangeAspect="1"/>
              </p:cNvSpPr>
              <p:nvPr/>
            </p:nvSpPr>
            <p:spPr bwMode="auto">
              <a:xfrm>
                <a:off x="857230" y="2575919"/>
                <a:ext cx="788990" cy="788992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pic>
            <p:nvPicPr>
              <p:cNvPr id="33" name="图片 22" descr="NANKAI.png"/>
              <p:cNvPicPr>
                <a:picLocks noChangeAspect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854055" y="2575918"/>
                <a:ext cx="788987" cy="7889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grpSp>
          <p:nvGrpSpPr>
            <p:cNvPr id="26" name="组合 28"/>
            <p:cNvGrpSpPr/>
            <p:nvPr/>
          </p:nvGrpSpPr>
          <p:grpSpPr bwMode="auto">
            <a:xfrm>
              <a:off x="1643042" y="4143380"/>
              <a:ext cx="792156" cy="788988"/>
              <a:chOff x="854055" y="1643050"/>
              <a:chExt cx="792156" cy="788988"/>
            </a:xfrm>
          </p:grpSpPr>
          <p:sp>
            <p:nvSpPr>
              <p:cNvPr id="28" name="椭圆 27"/>
              <p:cNvSpPr>
                <a:spLocks noChangeAspect="1"/>
              </p:cNvSpPr>
              <p:nvPr/>
            </p:nvSpPr>
            <p:spPr bwMode="auto">
              <a:xfrm>
                <a:off x="857230" y="1643051"/>
                <a:ext cx="788990" cy="788991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pic>
            <p:nvPicPr>
              <p:cNvPr id="30" name="图片 22" descr="NANKAI.png"/>
              <p:cNvPicPr>
                <a:picLocks noChangeAspect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854055" y="1643050"/>
                <a:ext cx="788987" cy="7889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  <p:sp>
        <p:nvSpPr>
          <p:cNvPr id="34" name="TextBox 33"/>
          <p:cNvSpPr txBox="1"/>
          <p:nvPr/>
        </p:nvSpPr>
        <p:spPr>
          <a:xfrm>
            <a:off x="2578223" y="4340629"/>
            <a:ext cx="4320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r>
              <a:rPr lang="en-US" altLang="zh-CN" dirty="0"/>
              <a:t>CV</a:t>
            </a:r>
            <a:r>
              <a:rPr lang="zh-CN" altLang="en-US" dirty="0"/>
              <a:t>限定数据类型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78223" y="5276733"/>
            <a:ext cx="4320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说明语句</a:t>
            </a:r>
          </a:p>
        </p:txBody>
      </p:sp>
      <p:sp>
        <p:nvSpPr>
          <p:cNvPr id="36" name="五边形 35"/>
          <p:cNvSpPr/>
          <p:nvPr/>
        </p:nvSpPr>
        <p:spPr bwMode="auto">
          <a:xfrm flipH="1">
            <a:off x="2062509" y="1416909"/>
            <a:ext cx="4957763" cy="793750"/>
          </a:xfrm>
          <a:prstGeom prst="homePlate">
            <a:avLst/>
          </a:prstGeom>
          <a:gradFill flip="none" rotWithShape="1">
            <a:gsLst>
              <a:gs pos="0">
                <a:schemeClr val="accent3">
                  <a:lumMod val="75000"/>
                  <a:shade val="30000"/>
                  <a:satMod val="115000"/>
                </a:schemeClr>
              </a:gs>
              <a:gs pos="50000">
                <a:schemeClr val="accent3">
                  <a:lumMod val="75000"/>
                  <a:shade val="67500"/>
                  <a:satMod val="115000"/>
                </a:schemeClr>
              </a:gs>
              <a:gs pos="100000">
                <a:schemeClr val="accent3">
                  <a:lumMod val="75000"/>
                  <a:shade val="100000"/>
                  <a:satMod val="115000"/>
                </a:schemeClr>
              </a:gs>
            </a:gsLst>
            <a:lin ang="18900000" scaled="1"/>
            <a:tileRect/>
          </a:gra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200" kern="0" dirty="0">
              <a:solidFill>
                <a:sysClr val="window" lastClr="FFFFFF"/>
              </a:solidFill>
              <a:latin typeface="Arial" panose="020B0604020202020204"/>
              <a:ea typeface="黑体" panose="02010609060101010101" pitchFamily="2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576760" y="1524942"/>
            <a:ext cx="4320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</a:t>
            </a:r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3200" y="1391032"/>
            <a:ext cx="885840" cy="885840"/>
          </a:xfrm>
          <a:prstGeom prst="rect">
            <a:avLst/>
          </a:prstGeom>
        </p:spPr>
      </p:pic>
      <p:sp>
        <p:nvSpPr>
          <p:cNvPr id="45" name="矩形 44">
            <a:hlinkClick r:id="rId5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 ■</a:t>
            </a:r>
          </a:p>
        </p:txBody>
      </p:sp>
      <p:sp>
        <p:nvSpPr>
          <p:cNvPr id="47" name="矩形 46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 □</a:t>
            </a:r>
          </a:p>
        </p:txBody>
      </p:sp>
      <p:sp>
        <p:nvSpPr>
          <p:cNvPr id="48" name="矩形 47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复合数据类型 □</a:t>
            </a:r>
          </a:p>
        </p:txBody>
      </p:sp>
      <p:sp>
        <p:nvSpPr>
          <p:cNvPr id="49" name="矩形 48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</a:t>
            </a: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限定数据类型 □</a:t>
            </a:r>
          </a:p>
        </p:txBody>
      </p:sp>
      <p:sp>
        <p:nvSpPr>
          <p:cNvPr id="50" name="矩形 49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数据</a:t>
            </a:r>
          </a:p>
        </p:txBody>
      </p:sp>
      <p:sp>
        <p:nvSpPr>
          <p:cNvPr id="51" name="矩形 50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数据类型</a:t>
            </a:r>
          </a:p>
        </p:txBody>
      </p:sp>
      <p:sp>
        <p:nvSpPr>
          <p:cNvPr id="52" name="矩形 51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数据表示</a:t>
            </a:r>
          </a:p>
        </p:txBody>
      </p:sp>
    </p:spTree>
  </p:cSld>
  <p:clrMapOvr>
    <a:masterClrMapping/>
  </p:clrMapOvr>
  <p:transition advTm="2912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什么是数据</a:t>
            </a:r>
            <a:endParaRPr lang="en-US" altLang="zh-CN" dirty="0"/>
          </a:p>
          <a:p>
            <a:pPr lvl="1"/>
            <a:r>
              <a:rPr lang="zh-CN" altLang="en-US" dirty="0"/>
              <a:t>计算机处理的对象</a:t>
            </a:r>
            <a:endParaRPr lang="en-US" altLang="zh-CN" dirty="0"/>
          </a:p>
          <a:p>
            <a:pPr lvl="1"/>
            <a:r>
              <a:rPr lang="zh-CN" altLang="en-US" dirty="0"/>
              <a:t>以某种特定的形式存在（数据类型）</a:t>
            </a:r>
            <a:endParaRPr lang="en-US" altLang="zh-CN" dirty="0"/>
          </a:p>
          <a:p>
            <a:pPr lvl="1"/>
            <a:r>
              <a:rPr lang="zh-CN" altLang="en-US" dirty="0"/>
              <a:t>数据之间存在某些联系</a:t>
            </a:r>
            <a:endParaRPr lang="en-US" altLang="zh-CN" dirty="0"/>
          </a:p>
          <a:p>
            <a:pPr lvl="1"/>
            <a:r>
              <a:rPr lang="zh-CN" altLang="en-US" dirty="0"/>
              <a:t>数据在程序设计中的地位</a:t>
            </a:r>
            <a:endParaRPr lang="en-US" altLang="zh-CN" dirty="0"/>
          </a:p>
          <a:p>
            <a:pPr lvl="2"/>
            <a:r>
              <a:rPr lang="zh-CN" altLang="en-US" dirty="0"/>
              <a:t>第一要素</a:t>
            </a:r>
            <a:endParaRPr lang="en-US" altLang="zh-CN" dirty="0"/>
          </a:p>
          <a:p>
            <a:pPr lvl="1"/>
            <a:r>
              <a:rPr lang="zh-CN" altLang="en-US" dirty="0"/>
              <a:t>程序设计中，数据用</a:t>
            </a:r>
            <a:r>
              <a:rPr lang="zh-CN" altLang="en-US" dirty="0">
                <a:solidFill>
                  <a:srgbClr val="C00000"/>
                </a:solidFill>
              </a:rPr>
              <a:t>常量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C00000"/>
                </a:solidFill>
              </a:rPr>
              <a:t>变量</a:t>
            </a:r>
            <a:r>
              <a:rPr lang="zh-CN" altLang="en-US" dirty="0"/>
              <a:t>进行描述</a:t>
            </a:r>
            <a:endParaRPr lang="en-US" altLang="zh-CN" dirty="0"/>
          </a:p>
          <a:p>
            <a:pPr lvl="2"/>
            <a:r>
              <a:rPr lang="zh-CN" altLang="en-US" dirty="0"/>
              <a:t>数组元素、类对象的性质与变量类似</a:t>
            </a:r>
          </a:p>
        </p:txBody>
      </p:sp>
      <p:sp>
        <p:nvSpPr>
          <p:cNvPr id="6" name="矩形 5">
            <a:hlinkClick r:id="rId2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 ■</a:t>
            </a: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 □</a:t>
            </a: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复合数据类型 □</a:t>
            </a: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</a:t>
            </a: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限定数据类型 □</a:t>
            </a: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数据</a:t>
            </a: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数据类型</a:t>
            </a:r>
          </a:p>
        </p:txBody>
      </p:sp>
      <p:sp>
        <p:nvSpPr>
          <p:cNvPr id="12" name="矩形 11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数据表示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561"/>
    </mc:Choice>
    <mc:Fallback xmlns="">
      <p:transition spd="slow" advTm="2156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数据类型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2800" dirty="0"/>
              <a:t>每一项数据应唯一地属于某种类型</a:t>
            </a:r>
            <a:endParaRPr lang="en-US" altLang="zh-CN" sz="2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dirty="0"/>
              <a:t>每一数据类型意味着一个有明确定义的值的集合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dirty="0"/>
              <a:t>同一类型的数据占有相同大小的存储空间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dirty="0"/>
              <a:t>同一类型的数据具有相同的（允许对其施加的）运算操作集</a:t>
            </a:r>
          </a:p>
        </p:txBody>
      </p:sp>
      <p:sp>
        <p:nvSpPr>
          <p:cNvPr id="6" name="矩形 5">
            <a:hlinkClick r:id="rId2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 ■</a:t>
            </a: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 □</a:t>
            </a: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复合数据类型 □</a:t>
            </a: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</a:t>
            </a: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限定数据类型 □</a:t>
            </a: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数据</a:t>
            </a: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数据类型</a:t>
            </a:r>
          </a:p>
        </p:txBody>
      </p:sp>
      <p:sp>
        <p:nvSpPr>
          <p:cNvPr id="12" name="矩形 11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数据表示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661"/>
    </mc:Choice>
    <mc:Fallback xmlns="">
      <p:transition spd="slow" advTm="1966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124744"/>
            <a:ext cx="7153275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457200" y="1000125"/>
            <a:ext cx="8229600" cy="714375"/>
          </a:xfrm>
        </p:spPr>
        <p:txBody>
          <a:bodyPr/>
          <a:lstStyle/>
          <a:p>
            <a:r>
              <a:rPr lang="zh-CN" altLang="en-US" dirty="0"/>
              <a:t>数据类型</a:t>
            </a:r>
          </a:p>
        </p:txBody>
      </p:sp>
      <p:sp>
        <p:nvSpPr>
          <p:cNvPr id="11" name="矩形 10">
            <a:hlinkClick r:id="rId4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 ■</a:t>
            </a:r>
          </a:p>
        </p:txBody>
      </p:sp>
      <p:sp>
        <p:nvSpPr>
          <p:cNvPr id="12" name="矩形 11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 □</a:t>
            </a:r>
          </a:p>
        </p:txBody>
      </p:sp>
      <p:sp>
        <p:nvSpPr>
          <p:cNvPr id="13" name="矩形 12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复合数据类型 □</a:t>
            </a:r>
          </a:p>
        </p:txBody>
      </p:sp>
      <p:sp>
        <p:nvSpPr>
          <p:cNvPr id="14" name="矩形 13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</a:t>
            </a: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限定数据类型 □</a:t>
            </a:r>
          </a:p>
        </p:txBody>
      </p:sp>
      <p:sp>
        <p:nvSpPr>
          <p:cNvPr id="15" name="矩形 14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数据</a:t>
            </a:r>
          </a:p>
        </p:txBody>
      </p:sp>
      <p:sp>
        <p:nvSpPr>
          <p:cNvPr id="16" name="矩形 15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数据类型</a:t>
            </a:r>
          </a:p>
        </p:txBody>
      </p:sp>
      <p:sp>
        <p:nvSpPr>
          <p:cNvPr id="17" name="矩形 16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数据表示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978"/>
    </mc:Choice>
    <mc:Fallback xmlns="">
      <p:transition spd="slow" advTm="17978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程序运行过程中不能改变值的数据，分为</a:t>
            </a:r>
            <a:endParaRPr lang="en-US" altLang="zh-CN" dirty="0"/>
          </a:p>
          <a:p>
            <a:pPr lvl="1"/>
            <a:r>
              <a:rPr lang="zh-CN" altLang="en-US" dirty="0"/>
              <a:t>字面值常量</a:t>
            </a:r>
            <a:endParaRPr lang="en-US" altLang="zh-CN" dirty="0"/>
          </a:p>
          <a:p>
            <a:pPr lvl="2"/>
            <a:r>
              <a:rPr lang="zh-CN" altLang="en-US" dirty="0"/>
              <a:t>整型字面值常量、浮点型字面值常量、字符型常量、字符串字面值常量、用户定义字面值常量</a:t>
            </a:r>
            <a:r>
              <a:rPr lang="en-US" altLang="zh-CN" dirty="0"/>
              <a:t>……</a:t>
            </a:r>
          </a:p>
          <a:p>
            <a:pPr lvl="1"/>
            <a:r>
              <a:rPr lang="zh-CN" altLang="en-US" dirty="0"/>
              <a:t>常变量</a:t>
            </a:r>
            <a:endParaRPr lang="en-US" altLang="zh-CN" dirty="0"/>
          </a:p>
          <a:p>
            <a:pPr lvl="2"/>
            <a:r>
              <a:rPr lang="zh-CN" altLang="en-US" dirty="0"/>
              <a:t>用</a:t>
            </a:r>
            <a:r>
              <a:rPr lang="en-US" altLang="zh-CN" dirty="0" err="1"/>
              <a:t>const</a:t>
            </a:r>
            <a:r>
              <a:rPr lang="zh-CN" altLang="en-US" dirty="0"/>
              <a:t>对变量进行限定</a:t>
            </a:r>
            <a:endParaRPr lang="en-US" altLang="zh-CN" dirty="0"/>
          </a:p>
          <a:p>
            <a:pPr lvl="2"/>
            <a:r>
              <a:rPr lang="zh-CN" altLang="en-US" dirty="0"/>
              <a:t>说明常变量</a:t>
            </a:r>
            <a:endParaRPr lang="en-US" altLang="zh-CN" dirty="0"/>
          </a:p>
          <a:p>
            <a:pPr lvl="3"/>
            <a:r>
              <a:rPr lang="en-US" altLang="zh-CN" dirty="0" err="1"/>
              <a:t>const</a:t>
            </a:r>
            <a:r>
              <a:rPr lang="en-US" altLang="zh-CN" dirty="0"/>
              <a:t> &lt;</a:t>
            </a:r>
            <a:r>
              <a:rPr lang="zh-CN" altLang="en-US" dirty="0"/>
              <a:t>数据类型</a:t>
            </a:r>
            <a:r>
              <a:rPr lang="en-US" altLang="zh-CN" dirty="0"/>
              <a:t>&gt; &lt;</a:t>
            </a:r>
            <a:r>
              <a:rPr lang="zh-CN" altLang="en-US" dirty="0"/>
              <a:t>常量名</a:t>
            </a:r>
            <a:r>
              <a:rPr lang="en-US" altLang="zh-CN" dirty="0"/>
              <a:t>&gt; = &lt;</a:t>
            </a:r>
            <a:r>
              <a:rPr lang="zh-CN" altLang="en-US" dirty="0"/>
              <a:t>表达式</a:t>
            </a:r>
            <a:r>
              <a:rPr lang="en-US" altLang="zh-CN" dirty="0"/>
              <a:t>&gt;</a:t>
            </a:r>
          </a:p>
          <a:p>
            <a:pPr lvl="1"/>
            <a:r>
              <a:rPr lang="zh-CN" altLang="en-US" dirty="0"/>
              <a:t>宏定义常量</a:t>
            </a:r>
            <a:endParaRPr lang="en-US" altLang="zh-CN" dirty="0"/>
          </a:p>
          <a:p>
            <a:pPr lvl="2"/>
            <a:r>
              <a:rPr lang="en-US" altLang="zh-CN" dirty="0"/>
              <a:t>#define &lt;</a:t>
            </a:r>
            <a:r>
              <a:rPr lang="zh-CN" altLang="en-US" dirty="0"/>
              <a:t>宏名</a:t>
            </a:r>
            <a:r>
              <a:rPr lang="en-US" altLang="zh-CN" dirty="0"/>
              <a:t>&gt; &lt;</a:t>
            </a:r>
            <a:r>
              <a:rPr lang="zh-CN" altLang="en-US" dirty="0"/>
              <a:t>宏替换体</a:t>
            </a:r>
            <a:r>
              <a:rPr lang="en-US" altLang="zh-CN" dirty="0"/>
              <a:t>&gt;</a:t>
            </a:r>
          </a:p>
          <a:p>
            <a:pPr lvl="3"/>
            <a:r>
              <a:rPr lang="zh-CN" altLang="en-US" dirty="0"/>
              <a:t>宏名可理解为常量名，宏替换体可理解为常量值</a:t>
            </a:r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常量</a:t>
            </a:r>
          </a:p>
        </p:txBody>
      </p:sp>
      <p:sp>
        <p:nvSpPr>
          <p:cNvPr id="4" name="矩形 3">
            <a:hlinkClick r:id="rId2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 ■</a:t>
            </a:r>
          </a:p>
        </p:txBody>
      </p:sp>
      <p:sp>
        <p:nvSpPr>
          <p:cNvPr id="5" name="矩形 4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 □</a:t>
            </a:r>
          </a:p>
        </p:txBody>
      </p:sp>
      <p:sp>
        <p:nvSpPr>
          <p:cNvPr id="6" name="矩形 5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复合数据类型 □</a:t>
            </a: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</a:t>
            </a: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限定数据类型 □</a:t>
            </a: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数据</a:t>
            </a: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数据类型</a:t>
            </a: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数据表示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493"/>
    </mc:Choice>
    <mc:Fallback xmlns="">
      <p:transition spd="slow" advTm="14493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变量</a:t>
            </a:r>
            <a:endParaRPr lang="en-US" altLang="zh-CN" dirty="0"/>
          </a:p>
          <a:p>
            <a:pPr lvl="1"/>
            <a:r>
              <a:rPr lang="zh-CN" altLang="en-US" dirty="0"/>
              <a:t>程序运行过程中其值能够改变的数据</a:t>
            </a:r>
            <a:endParaRPr lang="en-US" altLang="zh-CN" dirty="0"/>
          </a:p>
          <a:p>
            <a:pPr lvl="1"/>
            <a:r>
              <a:rPr lang="zh-CN" altLang="en-US" dirty="0"/>
              <a:t>根据变量的数据类型，在内存中开辟相应大小的空间</a:t>
            </a:r>
            <a:endParaRPr lang="en-US" altLang="zh-CN" dirty="0"/>
          </a:p>
          <a:p>
            <a:pPr lvl="1"/>
            <a:r>
              <a:rPr lang="zh-CN" altLang="en-US" dirty="0"/>
              <a:t>变量的存储类型</a:t>
            </a:r>
            <a:endParaRPr lang="en-US" altLang="zh-CN" dirty="0"/>
          </a:p>
          <a:p>
            <a:pPr lvl="2"/>
            <a:r>
              <a:rPr lang="en-US" altLang="zh-CN" dirty="0"/>
              <a:t>static</a:t>
            </a:r>
          </a:p>
          <a:p>
            <a:pPr lvl="2"/>
            <a:r>
              <a:rPr lang="en-US" altLang="zh-CN" dirty="0"/>
              <a:t>thread-local</a:t>
            </a:r>
          </a:p>
          <a:p>
            <a:pPr lvl="2"/>
            <a:r>
              <a:rPr lang="en-US" altLang="zh-CN" dirty="0"/>
              <a:t>extern</a:t>
            </a:r>
          </a:p>
          <a:p>
            <a:pPr lvl="2"/>
            <a:r>
              <a:rPr lang="en-US" altLang="zh-CN" dirty="0"/>
              <a:t>mutable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变量</a:t>
            </a:r>
          </a:p>
        </p:txBody>
      </p:sp>
      <p:sp>
        <p:nvSpPr>
          <p:cNvPr id="4" name="矩形 3">
            <a:hlinkClick r:id="rId2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 ■</a:t>
            </a:r>
          </a:p>
        </p:txBody>
      </p:sp>
      <p:sp>
        <p:nvSpPr>
          <p:cNvPr id="5" name="矩形 4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 □</a:t>
            </a:r>
          </a:p>
        </p:txBody>
      </p:sp>
      <p:sp>
        <p:nvSpPr>
          <p:cNvPr id="6" name="矩形 5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复合数据类型 □</a:t>
            </a: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</a:t>
            </a: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限定数据类型 □</a:t>
            </a: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数据</a:t>
            </a: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数据类型</a:t>
            </a: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数据表示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641"/>
    </mc:Choice>
    <mc:Fallback xmlns="">
      <p:transition spd="slow" advTm="1464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变量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说明变量</a:t>
            </a:r>
            <a:endParaRPr lang="en-US" altLang="zh-CN" dirty="0"/>
          </a:p>
          <a:p>
            <a:pPr lvl="1"/>
            <a:r>
              <a:rPr lang="zh-CN" altLang="en-US" dirty="0"/>
              <a:t>赋给该变量一标识符作为其名</a:t>
            </a:r>
            <a:endParaRPr lang="en-US" altLang="zh-CN" dirty="0"/>
          </a:p>
          <a:p>
            <a:pPr lvl="1"/>
            <a:r>
              <a:rPr lang="zh-CN" altLang="en-US" dirty="0"/>
              <a:t>指定其类型</a:t>
            </a:r>
            <a:endParaRPr lang="en-US" altLang="zh-CN" dirty="0"/>
          </a:p>
          <a:p>
            <a:pPr lvl="1"/>
            <a:r>
              <a:rPr lang="zh-CN" altLang="en-US" dirty="0"/>
              <a:t>在内存中分配给它一片存放空间，其大小由类型决定</a:t>
            </a:r>
            <a:endParaRPr lang="en-US" altLang="zh-CN" dirty="0"/>
          </a:p>
          <a:p>
            <a:pPr lvl="1"/>
            <a:r>
              <a:rPr lang="zh-CN" altLang="en-US" dirty="0"/>
              <a:t>使用说明语句</a:t>
            </a:r>
            <a:endParaRPr lang="en-US" altLang="zh-CN" dirty="0"/>
          </a:p>
          <a:p>
            <a:pPr lvl="2"/>
            <a:r>
              <a:rPr lang="zh-CN" altLang="en-US" dirty="0"/>
              <a:t>在说明语句中，通过赋初值给它一个当前值，作为变量的初始值，该过程称为变量</a:t>
            </a:r>
            <a:r>
              <a:rPr lang="zh-CN" altLang="en-US" dirty="0">
                <a:solidFill>
                  <a:srgbClr val="C00000"/>
                </a:solidFill>
              </a:rPr>
              <a:t>初始化</a:t>
            </a:r>
          </a:p>
        </p:txBody>
      </p:sp>
      <p:sp>
        <p:nvSpPr>
          <p:cNvPr id="6" name="矩形 5">
            <a:hlinkClick r:id="rId2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 ■</a:t>
            </a: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 □</a:t>
            </a: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复合数据类型 □</a:t>
            </a: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</a:t>
            </a: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限定数据类型 □</a:t>
            </a: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数据</a:t>
            </a: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数据类型</a:t>
            </a:r>
          </a:p>
        </p:txBody>
      </p:sp>
      <p:sp>
        <p:nvSpPr>
          <p:cNvPr id="12" name="矩形 11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数据表示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626"/>
    </mc:Choice>
    <mc:Fallback xmlns="">
      <p:transition spd="slow" advTm="17626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常变量与变量的存储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lvl="1"/>
            <a:r>
              <a:rPr lang="zh-CN" altLang="en-US" dirty="0"/>
              <a:t>自动变量（</a:t>
            </a:r>
            <a:r>
              <a:rPr lang="en-US" altLang="zh-CN" dirty="0"/>
              <a:t>C</a:t>
            </a:r>
            <a:r>
              <a:rPr lang="zh-CN" altLang="en-US" dirty="0"/>
              <a:t>语言的概念）就是普通变量</a:t>
            </a:r>
            <a:endParaRPr lang="en-US" altLang="zh-CN" dirty="0"/>
          </a:p>
          <a:p>
            <a:pPr lvl="1"/>
            <a:r>
              <a:rPr lang="zh-CN" altLang="en-US" dirty="0"/>
              <a:t>外部变量存储与其所指变量的存储位置有关</a:t>
            </a:r>
            <a:endParaRPr lang="en-US" altLang="zh-CN" dirty="0"/>
          </a:p>
          <a:p>
            <a:pPr lvl="1"/>
            <a:r>
              <a:rPr lang="zh-CN" altLang="en-US" dirty="0"/>
              <a:t>还有一类存储于</a:t>
            </a:r>
            <a:r>
              <a:rPr lang="en-US" altLang="zh-CN" dirty="0"/>
              <a:t>CPU</a:t>
            </a:r>
            <a:r>
              <a:rPr lang="zh-CN" altLang="en-US" dirty="0"/>
              <a:t>寄存器中的变量，称为寄存器变量（</a:t>
            </a:r>
            <a:r>
              <a:rPr lang="en-US" altLang="zh-CN" dirty="0"/>
              <a:t>register</a:t>
            </a:r>
            <a:r>
              <a:rPr lang="zh-CN" altLang="en-US" dirty="0"/>
              <a:t>），也属于</a:t>
            </a:r>
            <a:r>
              <a:rPr lang="en-US" altLang="zh-CN" dirty="0"/>
              <a:t>C</a:t>
            </a:r>
            <a:r>
              <a:rPr lang="zh-CN" altLang="en-US" dirty="0"/>
              <a:t>语言的概念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65456" y="1772816"/>
            <a:ext cx="2705536" cy="253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165237" y="1700808"/>
            <a:ext cx="3143067" cy="8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165237" y="2564904"/>
            <a:ext cx="3143067" cy="8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165237" y="3429000"/>
            <a:ext cx="3143067" cy="8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矩形 9">
            <a:hlinkClick r:id="rId7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 ■</a:t>
            </a: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 □</a:t>
            </a:r>
          </a:p>
        </p:txBody>
      </p:sp>
      <p:sp>
        <p:nvSpPr>
          <p:cNvPr id="12" name="矩形 11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复合数据类型 □</a:t>
            </a:r>
          </a:p>
        </p:txBody>
      </p:sp>
      <p:sp>
        <p:nvSpPr>
          <p:cNvPr id="13" name="矩形 12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</a:t>
            </a: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限定数据类型 □</a:t>
            </a:r>
          </a:p>
        </p:txBody>
      </p:sp>
      <p:sp>
        <p:nvSpPr>
          <p:cNvPr id="14" name="矩形 13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数据</a:t>
            </a:r>
          </a:p>
        </p:txBody>
      </p:sp>
      <p:sp>
        <p:nvSpPr>
          <p:cNvPr id="15" name="矩形 14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数据类型</a:t>
            </a:r>
          </a:p>
        </p:txBody>
      </p:sp>
      <p:sp>
        <p:nvSpPr>
          <p:cNvPr id="16" name="矩形 15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数据表示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947"/>
    </mc:Choice>
    <mc:Fallback xmlns="">
      <p:transition spd="slow" advTm="3294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34"/>
          <p:cNvGrpSpPr/>
          <p:nvPr/>
        </p:nvGrpSpPr>
        <p:grpSpPr bwMode="auto">
          <a:xfrm>
            <a:off x="1664047" y="3284984"/>
            <a:ext cx="5356225" cy="795330"/>
            <a:chOff x="1643042" y="3209740"/>
            <a:chExt cx="5356246" cy="795334"/>
          </a:xfrm>
        </p:grpSpPr>
        <p:sp>
          <p:nvSpPr>
            <p:cNvPr id="14" name="五边形 13"/>
            <p:cNvSpPr/>
            <p:nvPr/>
          </p:nvSpPr>
          <p:spPr bwMode="auto">
            <a:xfrm flipH="1">
              <a:off x="2041506" y="3209740"/>
              <a:ext cx="4957782" cy="792166"/>
            </a:xfrm>
            <a:prstGeom prst="homePlate">
              <a:avLst/>
            </a:prstGeom>
            <a:gradFill flip="none" rotWithShape="1">
              <a:gsLst>
                <a:gs pos="0">
                  <a:schemeClr val="tx2">
                    <a:shade val="30000"/>
                    <a:satMod val="115000"/>
                  </a:schemeClr>
                </a:gs>
                <a:gs pos="50000">
                  <a:schemeClr val="tx2">
                    <a:shade val="67500"/>
                    <a:satMod val="115000"/>
                  </a:schemeClr>
                </a:gs>
                <a:gs pos="100000">
                  <a:schemeClr val="tx2">
                    <a:shade val="100000"/>
                    <a:satMod val="115000"/>
                  </a:schemeClr>
                </a:gs>
              </a:gsLst>
              <a:lin ang="1890000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3200" kern="0" dirty="0">
                <a:solidFill>
                  <a:sysClr val="window" lastClr="FFFFFF"/>
                </a:solidFill>
                <a:latin typeface="Arial" panose="020B0604020202020204"/>
                <a:ea typeface="黑体" panose="02010609060101010101" pitchFamily="2" charset="-122"/>
              </a:endParaRPr>
            </a:p>
          </p:txBody>
        </p:sp>
        <p:grpSp>
          <p:nvGrpSpPr>
            <p:cNvPr id="3" name="组合 19"/>
            <p:cNvGrpSpPr/>
            <p:nvPr/>
          </p:nvGrpSpPr>
          <p:grpSpPr bwMode="auto">
            <a:xfrm>
              <a:off x="1643042" y="3216082"/>
              <a:ext cx="792165" cy="788992"/>
              <a:chOff x="854055" y="2573140"/>
              <a:chExt cx="792165" cy="788992"/>
            </a:xfrm>
          </p:grpSpPr>
          <p:sp>
            <p:nvSpPr>
              <p:cNvPr id="27" name="椭圆 26"/>
              <p:cNvSpPr>
                <a:spLocks noChangeAspect="1"/>
              </p:cNvSpPr>
              <p:nvPr/>
            </p:nvSpPr>
            <p:spPr bwMode="auto">
              <a:xfrm>
                <a:off x="857230" y="2573140"/>
                <a:ext cx="788990" cy="788992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pic>
            <p:nvPicPr>
              <p:cNvPr id="4116" name="图片 22" descr="NANKAI.png"/>
              <p:cNvPicPr>
                <a:picLocks noChangeAspect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854055" y="2573140"/>
                <a:ext cx="788987" cy="7889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  <p:grpSp>
        <p:nvGrpSpPr>
          <p:cNvPr id="22" name="组合 34"/>
          <p:cNvGrpSpPr/>
          <p:nvPr/>
        </p:nvGrpSpPr>
        <p:grpSpPr bwMode="auto">
          <a:xfrm>
            <a:off x="1664047" y="1335931"/>
            <a:ext cx="5356225" cy="796925"/>
            <a:chOff x="1643042" y="4143380"/>
            <a:chExt cx="5356246" cy="796929"/>
          </a:xfrm>
        </p:grpSpPr>
        <p:sp>
          <p:nvSpPr>
            <p:cNvPr id="25" name="五边形 24"/>
            <p:cNvSpPr/>
            <p:nvPr/>
          </p:nvSpPr>
          <p:spPr bwMode="auto">
            <a:xfrm flipH="1">
              <a:off x="2041506" y="4146556"/>
              <a:ext cx="4957782" cy="793753"/>
            </a:xfrm>
            <a:prstGeom prst="homePlate">
              <a:avLst/>
            </a:prstGeom>
            <a:gradFill flip="none" rotWithShape="1">
              <a:gsLst>
                <a:gs pos="0">
                  <a:schemeClr val="tx2">
                    <a:shade val="30000"/>
                    <a:satMod val="115000"/>
                  </a:schemeClr>
                </a:gs>
                <a:gs pos="50000">
                  <a:schemeClr val="tx2">
                    <a:shade val="67500"/>
                    <a:satMod val="115000"/>
                  </a:schemeClr>
                </a:gs>
                <a:gs pos="100000">
                  <a:schemeClr val="tx2">
                    <a:shade val="100000"/>
                    <a:satMod val="115000"/>
                  </a:schemeClr>
                </a:gs>
              </a:gsLst>
              <a:lin ang="1890000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3200" kern="0" dirty="0">
                <a:solidFill>
                  <a:sysClr val="window" lastClr="FFFFFF"/>
                </a:solidFill>
                <a:latin typeface="Arial" panose="020B0604020202020204"/>
                <a:ea typeface="黑体" panose="02010609060101010101" pitchFamily="2" charset="-122"/>
              </a:endParaRPr>
            </a:p>
          </p:txBody>
        </p:sp>
        <p:grpSp>
          <p:nvGrpSpPr>
            <p:cNvPr id="32" name="组合 28"/>
            <p:cNvGrpSpPr/>
            <p:nvPr/>
          </p:nvGrpSpPr>
          <p:grpSpPr bwMode="auto">
            <a:xfrm>
              <a:off x="1643042" y="4143380"/>
              <a:ext cx="792156" cy="788988"/>
              <a:chOff x="854055" y="1643050"/>
              <a:chExt cx="792156" cy="788988"/>
            </a:xfrm>
          </p:grpSpPr>
          <p:sp>
            <p:nvSpPr>
              <p:cNvPr id="37" name="椭圆 36"/>
              <p:cNvSpPr>
                <a:spLocks noChangeAspect="1"/>
              </p:cNvSpPr>
              <p:nvPr/>
            </p:nvSpPr>
            <p:spPr bwMode="auto">
              <a:xfrm>
                <a:off x="857230" y="1643051"/>
                <a:ext cx="788990" cy="788991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pic>
            <p:nvPicPr>
              <p:cNvPr id="38" name="图片 22" descr="NANKAI.png"/>
              <p:cNvPicPr>
                <a:picLocks noChangeAspect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854055" y="1643050"/>
                <a:ext cx="788987" cy="7889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  <p:sp>
        <p:nvSpPr>
          <p:cNvPr id="44" name="TextBox 43"/>
          <p:cNvSpPr txBox="1"/>
          <p:nvPr/>
        </p:nvSpPr>
        <p:spPr>
          <a:xfrm>
            <a:off x="2578223" y="1460720"/>
            <a:ext cx="4320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76760" y="3407305"/>
            <a:ext cx="4320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复合数据类型</a:t>
            </a:r>
            <a:endParaRPr lang="zh-CN" altLang="en-US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9" name="组合 34"/>
          <p:cNvGrpSpPr/>
          <p:nvPr/>
        </p:nvGrpSpPr>
        <p:grpSpPr bwMode="auto">
          <a:xfrm>
            <a:off x="1664047" y="4221088"/>
            <a:ext cx="5356225" cy="1727783"/>
            <a:chOff x="1643042" y="3212518"/>
            <a:chExt cx="5356246" cy="1727791"/>
          </a:xfrm>
        </p:grpSpPr>
        <p:sp>
          <p:nvSpPr>
            <p:cNvPr id="20" name="五边形 19"/>
            <p:cNvSpPr/>
            <p:nvPr/>
          </p:nvSpPr>
          <p:spPr bwMode="auto">
            <a:xfrm flipH="1">
              <a:off x="2041506" y="3212518"/>
              <a:ext cx="4957782" cy="792166"/>
            </a:xfrm>
            <a:prstGeom prst="homePlate">
              <a:avLst/>
            </a:prstGeom>
            <a:gradFill flip="none" rotWithShape="1">
              <a:gsLst>
                <a:gs pos="0">
                  <a:schemeClr val="tx2">
                    <a:shade val="30000"/>
                    <a:satMod val="115000"/>
                  </a:schemeClr>
                </a:gs>
                <a:gs pos="50000">
                  <a:schemeClr val="tx2">
                    <a:shade val="67500"/>
                    <a:satMod val="115000"/>
                  </a:schemeClr>
                </a:gs>
                <a:gs pos="100000">
                  <a:schemeClr val="tx2">
                    <a:shade val="100000"/>
                    <a:satMod val="115000"/>
                  </a:schemeClr>
                </a:gs>
              </a:gsLst>
              <a:lin ang="1890000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3200" kern="0" dirty="0">
                <a:solidFill>
                  <a:sysClr val="window" lastClr="FFFFFF"/>
                </a:solidFill>
                <a:latin typeface="Arial" panose="020B0604020202020204"/>
                <a:ea typeface="黑体" panose="02010609060101010101" pitchFamily="2" charset="-122"/>
              </a:endParaRPr>
            </a:p>
          </p:txBody>
        </p:sp>
        <p:sp>
          <p:nvSpPr>
            <p:cNvPr id="21" name="五边形 20"/>
            <p:cNvSpPr/>
            <p:nvPr/>
          </p:nvSpPr>
          <p:spPr bwMode="auto">
            <a:xfrm flipH="1">
              <a:off x="2041506" y="4146556"/>
              <a:ext cx="4957782" cy="793753"/>
            </a:xfrm>
            <a:prstGeom prst="homePlate">
              <a:avLst/>
            </a:prstGeom>
            <a:gradFill flip="none" rotWithShape="1">
              <a:gsLst>
                <a:gs pos="0">
                  <a:schemeClr val="tx2">
                    <a:shade val="30000"/>
                    <a:satMod val="115000"/>
                  </a:schemeClr>
                </a:gs>
                <a:gs pos="50000">
                  <a:schemeClr val="tx2">
                    <a:shade val="67500"/>
                    <a:satMod val="115000"/>
                  </a:schemeClr>
                </a:gs>
                <a:gs pos="100000">
                  <a:schemeClr val="tx2">
                    <a:shade val="100000"/>
                    <a:satMod val="115000"/>
                  </a:schemeClr>
                </a:gs>
              </a:gsLst>
              <a:lin ang="1890000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3200" kern="0" dirty="0">
                <a:solidFill>
                  <a:sysClr val="window" lastClr="FFFFFF"/>
                </a:solidFill>
                <a:latin typeface="Arial" panose="020B0604020202020204"/>
                <a:ea typeface="黑体" panose="02010609060101010101" pitchFamily="2" charset="-122"/>
              </a:endParaRPr>
            </a:p>
          </p:txBody>
        </p:sp>
        <p:grpSp>
          <p:nvGrpSpPr>
            <p:cNvPr id="24" name="组合 19"/>
            <p:cNvGrpSpPr/>
            <p:nvPr/>
          </p:nvGrpSpPr>
          <p:grpSpPr bwMode="auto">
            <a:xfrm>
              <a:off x="1643042" y="3218860"/>
              <a:ext cx="792165" cy="788993"/>
              <a:chOff x="854055" y="2575918"/>
              <a:chExt cx="792165" cy="788993"/>
            </a:xfrm>
          </p:grpSpPr>
          <p:sp>
            <p:nvSpPr>
              <p:cNvPr id="31" name="椭圆 30"/>
              <p:cNvSpPr>
                <a:spLocks noChangeAspect="1"/>
              </p:cNvSpPr>
              <p:nvPr/>
            </p:nvSpPr>
            <p:spPr bwMode="auto">
              <a:xfrm>
                <a:off x="857230" y="2575919"/>
                <a:ext cx="788990" cy="788992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pic>
            <p:nvPicPr>
              <p:cNvPr id="33" name="图片 22" descr="NANKAI.png"/>
              <p:cNvPicPr>
                <a:picLocks noChangeAspect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854055" y="2575918"/>
                <a:ext cx="788987" cy="7889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grpSp>
          <p:nvGrpSpPr>
            <p:cNvPr id="26" name="组合 28"/>
            <p:cNvGrpSpPr/>
            <p:nvPr/>
          </p:nvGrpSpPr>
          <p:grpSpPr bwMode="auto">
            <a:xfrm>
              <a:off x="1643042" y="4143380"/>
              <a:ext cx="792156" cy="788988"/>
              <a:chOff x="854055" y="1643050"/>
              <a:chExt cx="792156" cy="788988"/>
            </a:xfrm>
          </p:grpSpPr>
          <p:sp>
            <p:nvSpPr>
              <p:cNvPr id="28" name="椭圆 27"/>
              <p:cNvSpPr>
                <a:spLocks noChangeAspect="1"/>
              </p:cNvSpPr>
              <p:nvPr/>
            </p:nvSpPr>
            <p:spPr bwMode="auto">
              <a:xfrm>
                <a:off x="857230" y="1643051"/>
                <a:ext cx="788990" cy="788991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pic>
            <p:nvPicPr>
              <p:cNvPr id="30" name="图片 22" descr="NANKAI.png"/>
              <p:cNvPicPr>
                <a:picLocks noChangeAspect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854055" y="1643050"/>
                <a:ext cx="788987" cy="7889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  <p:sp>
        <p:nvSpPr>
          <p:cNvPr id="34" name="TextBox 33"/>
          <p:cNvSpPr txBox="1"/>
          <p:nvPr/>
        </p:nvSpPr>
        <p:spPr>
          <a:xfrm>
            <a:off x="2578223" y="4340629"/>
            <a:ext cx="4320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r>
              <a:rPr lang="en-US" altLang="zh-CN" dirty="0"/>
              <a:t>CV</a:t>
            </a:r>
            <a:r>
              <a:rPr lang="zh-CN" altLang="en-US" dirty="0"/>
              <a:t>限定数据类型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78223" y="5276733"/>
            <a:ext cx="4320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说明语句</a:t>
            </a:r>
          </a:p>
        </p:txBody>
      </p:sp>
      <p:sp>
        <p:nvSpPr>
          <p:cNvPr id="36" name="五边形 35"/>
          <p:cNvSpPr/>
          <p:nvPr/>
        </p:nvSpPr>
        <p:spPr bwMode="auto">
          <a:xfrm flipH="1">
            <a:off x="2062509" y="2301173"/>
            <a:ext cx="4957763" cy="793750"/>
          </a:xfrm>
          <a:prstGeom prst="homePlate">
            <a:avLst/>
          </a:prstGeom>
          <a:gradFill flip="none" rotWithShape="1">
            <a:gsLst>
              <a:gs pos="0">
                <a:schemeClr val="accent3">
                  <a:lumMod val="75000"/>
                  <a:shade val="30000"/>
                  <a:satMod val="115000"/>
                </a:schemeClr>
              </a:gs>
              <a:gs pos="50000">
                <a:schemeClr val="accent3">
                  <a:lumMod val="75000"/>
                  <a:shade val="67500"/>
                  <a:satMod val="115000"/>
                </a:schemeClr>
              </a:gs>
              <a:gs pos="100000">
                <a:schemeClr val="accent3">
                  <a:lumMod val="75000"/>
                  <a:shade val="100000"/>
                  <a:satMod val="115000"/>
                </a:schemeClr>
              </a:gs>
            </a:gsLst>
            <a:lin ang="18900000" scaled="1"/>
            <a:tileRect/>
          </a:gra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200" kern="0" dirty="0">
              <a:solidFill>
                <a:sysClr val="window" lastClr="FFFFFF"/>
              </a:solidFill>
              <a:latin typeface="Arial" panose="020B0604020202020204"/>
              <a:ea typeface="黑体" panose="02010609060101010101" pitchFamily="2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576760" y="2409206"/>
            <a:ext cx="4320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</a:t>
            </a:r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4156" y="2255128"/>
            <a:ext cx="885840" cy="885840"/>
          </a:xfrm>
          <a:prstGeom prst="rect">
            <a:avLst/>
          </a:prstGeom>
        </p:spPr>
      </p:pic>
      <p:sp>
        <p:nvSpPr>
          <p:cNvPr id="45" name="矩形 44">
            <a:hlinkClick r:id="rId5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 □</a:t>
            </a:r>
          </a:p>
        </p:txBody>
      </p:sp>
      <p:sp>
        <p:nvSpPr>
          <p:cNvPr id="47" name="矩形 46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 ■</a:t>
            </a:r>
          </a:p>
        </p:txBody>
      </p:sp>
      <p:sp>
        <p:nvSpPr>
          <p:cNvPr id="48" name="矩形 47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复合数据类型 □</a:t>
            </a:r>
          </a:p>
        </p:txBody>
      </p:sp>
      <p:sp>
        <p:nvSpPr>
          <p:cNvPr id="49" name="矩形 48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</a:t>
            </a: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限定数据类型 □</a:t>
            </a:r>
          </a:p>
        </p:txBody>
      </p:sp>
      <p:sp>
        <p:nvSpPr>
          <p:cNvPr id="50" name="矩形 49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整型</a:t>
            </a:r>
          </a:p>
        </p:txBody>
      </p:sp>
      <p:sp>
        <p:nvSpPr>
          <p:cNvPr id="51" name="矩形 50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浮点型</a:t>
            </a:r>
          </a:p>
        </p:txBody>
      </p:sp>
      <p:sp>
        <p:nvSpPr>
          <p:cNvPr id="52" name="矩形 51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字符型</a:t>
            </a:r>
          </a:p>
        </p:txBody>
      </p:sp>
      <p:sp>
        <p:nvSpPr>
          <p:cNvPr id="53" name="矩形 52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布尔型</a:t>
            </a:r>
          </a:p>
        </p:txBody>
      </p:sp>
    </p:spTree>
  </p:cSld>
  <p:clrMapOvr>
    <a:masterClrMapping/>
  </p:clrMapOvr>
  <p:transition advTm="4277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Freeform 3"/>
          <p:cNvSpPr>
            <a:spLocks noEditPoints="1"/>
          </p:cNvSpPr>
          <p:nvPr/>
        </p:nvSpPr>
        <p:spPr bwMode="gray">
          <a:xfrm rot="-1358056">
            <a:off x="1077913" y="2614613"/>
            <a:ext cx="6853237" cy="2803525"/>
          </a:xfrm>
          <a:custGeom>
            <a:avLst/>
            <a:gdLst/>
            <a:ahLst/>
            <a:cxnLst>
              <a:cxn ang="0">
                <a:pos x="1692" y="12"/>
              </a:cxn>
              <a:cxn ang="0">
                <a:pos x="1234" y="74"/>
              </a:cxn>
              <a:cxn ang="0">
                <a:pos x="828" y="182"/>
              </a:cxn>
              <a:cxn ang="0">
                <a:pos x="486" y="330"/>
              </a:cxn>
              <a:cxn ang="0">
                <a:pos x="226" y="510"/>
              </a:cxn>
              <a:cxn ang="0">
                <a:pos x="58" y="718"/>
              </a:cxn>
              <a:cxn ang="0">
                <a:pos x="0" y="944"/>
              </a:cxn>
              <a:cxn ang="0">
                <a:pos x="58" y="1170"/>
              </a:cxn>
              <a:cxn ang="0">
                <a:pos x="226" y="1378"/>
              </a:cxn>
              <a:cxn ang="0">
                <a:pos x="486" y="1558"/>
              </a:cxn>
              <a:cxn ang="0">
                <a:pos x="828" y="1706"/>
              </a:cxn>
              <a:cxn ang="0">
                <a:pos x="1234" y="1814"/>
              </a:cxn>
              <a:cxn ang="0">
                <a:pos x="1692" y="1876"/>
              </a:cxn>
              <a:cxn ang="0">
                <a:pos x="2186" y="1884"/>
              </a:cxn>
              <a:cxn ang="0">
                <a:pos x="2658" y="1840"/>
              </a:cxn>
              <a:cxn ang="0">
                <a:pos x="3084" y="1746"/>
              </a:cxn>
              <a:cxn ang="0">
                <a:pos x="3448" y="1612"/>
              </a:cxn>
              <a:cxn ang="0">
                <a:pos x="3738" y="1442"/>
              </a:cxn>
              <a:cxn ang="0">
                <a:pos x="3938" y="1242"/>
              </a:cxn>
              <a:cxn ang="0">
                <a:pos x="4034" y="1022"/>
              </a:cxn>
              <a:cxn ang="0">
                <a:pos x="4014" y="790"/>
              </a:cxn>
              <a:cxn ang="0">
                <a:pos x="3882" y="576"/>
              </a:cxn>
              <a:cxn ang="0">
                <a:pos x="3650" y="386"/>
              </a:cxn>
              <a:cxn ang="0">
                <a:pos x="3334" y="228"/>
              </a:cxn>
              <a:cxn ang="0">
                <a:pos x="2948" y="106"/>
              </a:cxn>
              <a:cxn ang="0">
                <a:pos x="2506" y="28"/>
              </a:cxn>
              <a:cxn ang="0">
                <a:pos x="2020" y="0"/>
              </a:cxn>
              <a:cxn ang="0">
                <a:pos x="1606" y="1736"/>
              </a:cxn>
              <a:cxn ang="0">
                <a:pos x="1164" y="1678"/>
              </a:cxn>
              <a:cxn ang="0">
                <a:pos x="776" y="1576"/>
              </a:cxn>
              <a:cxn ang="0">
                <a:pos x="458" y="1436"/>
              </a:cxn>
              <a:cxn ang="0">
                <a:pos x="224" y="1266"/>
              </a:cxn>
              <a:cxn ang="0">
                <a:pos x="88" y="1074"/>
              </a:cxn>
              <a:cxn ang="0">
                <a:pos x="68" y="864"/>
              </a:cxn>
              <a:cxn ang="0">
                <a:pos x="166" y="664"/>
              </a:cxn>
              <a:cxn ang="0">
                <a:pos x="370" y="486"/>
              </a:cxn>
              <a:cxn ang="0">
                <a:pos x="662" y="336"/>
              </a:cxn>
              <a:cxn ang="0">
                <a:pos x="1028" y="222"/>
              </a:cxn>
              <a:cxn ang="0">
                <a:pos x="1454" y="148"/>
              </a:cxn>
              <a:cxn ang="0">
                <a:pos x="1922" y="120"/>
              </a:cxn>
              <a:cxn ang="0">
                <a:pos x="2392" y="148"/>
              </a:cxn>
              <a:cxn ang="0">
                <a:pos x="2818" y="222"/>
              </a:cxn>
              <a:cxn ang="0">
                <a:pos x="3184" y="336"/>
              </a:cxn>
              <a:cxn ang="0">
                <a:pos x="3476" y="486"/>
              </a:cxn>
              <a:cxn ang="0">
                <a:pos x="3680" y="664"/>
              </a:cxn>
              <a:cxn ang="0">
                <a:pos x="3778" y="864"/>
              </a:cxn>
              <a:cxn ang="0">
                <a:pos x="3758" y="1074"/>
              </a:cxn>
              <a:cxn ang="0">
                <a:pos x="3622" y="1266"/>
              </a:cxn>
              <a:cxn ang="0">
                <a:pos x="3388" y="1436"/>
              </a:cxn>
              <a:cxn ang="0">
                <a:pos x="3070" y="1576"/>
              </a:cxn>
              <a:cxn ang="0">
                <a:pos x="2682" y="1678"/>
              </a:cxn>
              <a:cxn ang="0">
                <a:pos x="2240" y="1736"/>
              </a:cxn>
            </a:cxnLst>
            <a:rect l="0" t="0" r="r" b="b"/>
            <a:pathLst>
              <a:path w="4040" h="1888">
                <a:moveTo>
                  <a:pt x="2020" y="0"/>
                </a:moveTo>
                <a:lnTo>
                  <a:pt x="1854" y="4"/>
                </a:lnTo>
                <a:lnTo>
                  <a:pt x="1692" y="12"/>
                </a:lnTo>
                <a:lnTo>
                  <a:pt x="1534" y="28"/>
                </a:lnTo>
                <a:lnTo>
                  <a:pt x="1382" y="48"/>
                </a:lnTo>
                <a:lnTo>
                  <a:pt x="1234" y="74"/>
                </a:lnTo>
                <a:lnTo>
                  <a:pt x="1092" y="106"/>
                </a:lnTo>
                <a:lnTo>
                  <a:pt x="956" y="142"/>
                </a:lnTo>
                <a:lnTo>
                  <a:pt x="828" y="182"/>
                </a:lnTo>
                <a:lnTo>
                  <a:pt x="706" y="228"/>
                </a:lnTo>
                <a:lnTo>
                  <a:pt x="592" y="276"/>
                </a:lnTo>
                <a:lnTo>
                  <a:pt x="486" y="330"/>
                </a:lnTo>
                <a:lnTo>
                  <a:pt x="390" y="386"/>
                </a:lnTo>
                <a:lnTo>
                  <a:pt x="302" y="446"/>
                </a:lnTo>
                <a:lnTo>
                  <a:pt x="226" y="510"/>
                </a:lnTo>
                <a:lnTo>
                  <a:pt x="158" y="576"/>
                </a:lnTo>
                <a:lnTo>
                  <a:pt x="102" y="646"/>
                </a:lnTo>
                <a:lnTo>
                  <a:pt x="58" y="718"/>
                </a:lnTo>
                <a:lnTo>
                  <a:pt x="26" y="790"/>
                </a:lnTo>
                <a:lnTo>
                  <a:pt x="6" y="866"/>
                </a:lnTo>
                <a:lnTo>
                  <a:pt x="0" y="944"/>
                </a:lnTo>
                <a:lnTo>
                  <a:pt x="6" y="1022"/>
                </a:lnTo>
                <a:lnTo>
                  <a:pt x="26" y="1098"/>
                </a:lnTo>
                <a:lnTo>
                  <a:pt x="58" y="1170"/>
                </a:lnTo>
                <a:lnTo>
                  <a:pt x="102" y="1242"/>
                </a:lnTo>
                <a:lnTo>
                  <a:pt x="158" y="1312"/>
                </a:lnTo>
                <a:lnTo>
                  <a:pt x="226" y="1378"/>
                </a:lnTo>
                <a:lnTo>
                  <a:pt x="302" y="1442"/>
                </a:lnTo>
                <a:lnTo>
                  <a:pt x="390" y="1502"/>
                </a:lnTo>
                <a:lnTo>
                  <a:pt x="486" y="1558"/>
                </a:lnTo>
                <a:lnTo>
                  <a:pt x="592" y="1612"/>
                </a:lnTo>
                <a:lnTo>
                  <a:pt x="706" y="1660"/>
                </a:lnTo>
                <a:lnTo>
                  <a:pt x="828" y="1706"/>
                </a:lnTo>
                <a:lnTo>
                  <a:pt x="956" y="1746"/>
                </a:lnTo>
                <a:lnTo>
                  <a:pt x="1092" y="1782"/>
                </a:lnTo>
                <a:lnTo>
                  <a:pt x="1234" y="1814"/>
                </a:lnTo>
                <a:lnTo>
                  <a:pt x="1382" y="1840"/>
                </a:lnTo>
                <a:lnTo>
                  <a:pt x="1534" y="1860"/>
                </a:lnTo>
                <a:lnTo>
                  <a:pt x="1692" y="1876"/>
                </a:lnTo>
                <a:lnTo>
                  <a:pt x="1854" y="1884"/>
                </a:lnTo>
                <a:lnTo>
                  <a:pt x="2020" y="1888"/>
                </a:lnTo>
                <a:lnTo>
                  <a:pt x="2186" y="1884"/>
                </a:lnTo>
                <a:lnTo>
                  <a:pt x="2348" y="1876"/>
                </a:lnTo>
                <a:lnTo>
                  <a:pt x="2506" y="1860"/>
                </a:lnTo>
                <a:lnTo>
                  <a:pt x="2658" y="1840"/>
                </a:lnTo>
                <a:lnTo>
                  <a:pt x="2806" y="1814"/>
                </a:lnTo>
                <a:lnTo>
                  <a:pt x="2948" y="1782"/>
                </a:lnTo>
                <a:lnTo>
                  <a:pt x="3084" y="1746"/>
                </a:lnTo>
                <a:lnTo>
                  <a:pt x="3212" y="1706"/>
                </a:lnTo>
                <a:lnTo>
                  <a:pt x="3334" y="1660"/>
                </a:lnTo>
                <a:lnTo>
                  <a:pt x="3448" y="1612"/>
                </a:lnTo>
                <a:lnTo>
                  <a:pt x="3554" y="1558"/>
                </a:lnTo>
                <a:lnTo>
                  <a:pt x="3650" y="1502"/>
                </a:lnTo>
                <a:lnTo>
                  <a:pt x="3738" y="1442"/>
                </a:lnTo>
                <a:lnTo>
                  <a:pt x="3814" y="1378"/>
                </a:lnTo>
                <a:lnTo>
                  <a:pt x="3882" y="1312"/>
                </a:lnTo>
                <a:lnTo>
                  <a:pt x="3938" y="1242"/>
                </a:lnTo>
                <a:lnTo>
                  <a:pt x="3982" y="1170"/>
                </a:lnTo>
                <a:lnTo>
                  <a:pt x="4014" y="1098"/>
                </a:lnTo>
                <a:lnTo>
                  <a:pt x="4034" y="1022"/>
                </a:lnTo>
                <a:lnTo>
                  <a:pt x="4040" y="944"/>
                </a:lnTo>
                <a:lnTo>
                  <a:pt x="4034" y="866"/>
                </a:lnTo>
                <a:lnTo>
                  <a:pt x="4014" y="790"/>
                </a:lnTo>
                <a:lnTo>
                  <a:pt x="3982" y="718"/>
                </a:lnTo>
                <a:lnTo>
                  <a:pt x="3938" y="646"/>
                </a:lnTo>
                <a:lnTo>
                  <a:pt x="3882" y="576"/>
                </a:lnTo>
                <a:lnTo>
                  <a:pt x="3814" y="510"/>
                </a:lnTo>
                <a:lnTo>
                  <a:pt x="3738" y="446"/>
                </a:lnTo>
                <a:lnTo>
                  <a:pt x="3650" y="386"/>
                </a:lnTo>
                <a:lnTo>
                  <a:pt x="3554" y="330"/>
                </a:lnTo>
                <a:lnTo>
                  <a:pt x="3448" y="276"/>
                </a:lnTo>
                <a:lnTo>
                  <a:pt x="3334" y="228"/>
                </a:lnTo>
                <a:lnTo>
                  <a:pt x="3212" y="182"/>
                </a:lnTo>
                <a:lnTo>
                  <a:pt x="3084" y="142"/>
                </a:lnTo>
                <a:lnTo>
                  <a:pt x="2948" y="106"/>
                </a:lnTo>
                <a:lnTo>
                  <a:pt x="2806" y="74"/>
                </a:lnTo>
                <a:lnTo>
                  <a:pt x="2658" y="48"/>
                </a:lnTo>
                <a:lnTo>
                  <a:pt x="2506" y="28"/>
                </a:lnTo>
                <a:lnTo>
                  <a:pt x="2348" y="12"/>
                </a:lnTo>
                <a:lnTo>
                  <a:pt x="2186" y="4"/>
                </a:lnTo>
                <a:lnTo>
                  <a:pt x="2020" y="0"/>
                </a:lnTo>
                <a:close/>
                <a:moveTo>
                  <a:pt x="1922" y="1748"/>
                </a:moveTo>
                <a:lnTo>
                  <a:pt x="1762" y="1746"/>
                </a:lnTo>
                <a:lnTo>
                  <a:pt x="1606" y="1736"/>
                </a:lnTo>
                <a:lnTo>
                  <a:pt x="1454" y="1722"/>
                </a:lnTo>
                <a:lnTo>
                  <a:pt x="1306" y="1702"/>
                </a:lnTo>
                <a:lnTo>
                  <a:pt x="1164" y="1678"/>
                </a:lnTo>
                <a:lnTo>
                  <a:pt x="1028" y="1648"/>
                </a:lnTo>
                <a:lnTo>
                  <a:pt x="898" y="1614"/>
                </a:lnTo>
                <a:lnTo>
                  <a:pt x="776" y="1576"/>
                </a:lnTo>
                <a:lnTo>
                  <a:pt x="662" y="1532"/>
                </a:lnTo>
                <a:lnTo>
                  <a:pt x="554" y="1486"/>
                </a:lnTo>
                <a:lnTo>
                  <a:pt x="458" y="1436"/>
                </a:lnTo>
                <a:lnTo>
                  <a:pt x="370" y="1382"/>
                </a:lnTo>
                <a:lnTo>
                  <a:pt x="292" y="1326"/>
                </a:lnTo>
                <a:lnTo>
                  <a:pt x="224" y="1266"/>
                </a:lnTo>
                <a:lnTo>
                  <a:pt x="166" y="1204"/>
                </a:lnTo>
                <a:lnTo>
                  <a:pt x="122" y="1140"/>
                </a:lnTo>
                <a:lnTo>
                  <a:pt x="88" y="1074"/>
                </a:lnTo>
                <a:lnTo>
                  <a:pt x="68" y="1004"/>
                </a:lnTo>
                <a:lnTo>
                  <a:pt x="62" y="934"/>
                </a:lnTo>
                <a:lnTo>
                  <a:pt x="68" y="864"/>
                </a:lnTo>
                <a:lnTo>
                  <a:pt x="88" y="796"/>
                </a:lnTo>
                <a:lnTo>
                  <a:pt x="122" y="730"/>
                </a:lnTo>
                <a:lnTo>
                  <a:pt x="166" y="664"/>
                </a:lnTo>
                <a:lnTo>
                  <a:pt x="224" y="602"/>
                </a:lnTo>
                <a:lnTo>
                  <a:pt x="292" y="544"/>
                </a:lnTo>
                <a:lnTo>
                  <a:pt x="370" y="486"/>
                </a:lnTo>
                <a:lnTo>
                  <a:pt x="458" y="434"/>
                </a:lnTo>
                <a:lnTo>
                  <a:pt x="554" y="382"/>
                </a:lnTo>
                <a:lnTo>
                  <a:pt x="662" y="336"/>
                </a:lnTo>
                <a:lnTo>
                  <a:pt x="776" y="294"/>
                </a:lnTo>
                <a:lnTo>
                  <a:pt x="898" y="256"/>
                </a:lnTo>
                <a:lnTo>
                  <a:pt x="1028" y="222"/>
                </a:lnTo>
                <a:lnTo>
                  <a:pt x="1164" y="192"/>
                </a:lnTo>
                <a:lnTo>
                  <a:pt x="1306" y="166"/>
                </a:lnTo>
                <a:lnTo>
                  <a:pt x="1454" y="148"/>
                </a:lnTo>
                <a:lnTo>
                  <a:pt x="1606" y="132"/>
                </a:lnTo>
                <a:lnTo>
                  <a:pt x="1762" y="124"/>
                </a:lnTo>
                <a:lnTo>
                  <a:pt x="1922" y="120"/>
                </a:lnTo>
                <a:lnTo>
                  <a:pt x="2084" y="124"/>
                </a:lnTo>
                <a:lnTo>
                  <a:pt x="2240" y="132"/>
                </a:lnTo>
                <a:lnTo>
                  <a:pt x="2392" y="148"/>
                </a:lnTo>
                <a:lnTo>
                  <a:pt x="2540" y="166"/>
                </a:lnTo>
                <a:lnTo>
                  <a:pt x="2682" y="192"/>
                </a:lnTo>
                <a:lnTo>
                  <a:pt x="2818" y="222"/>
                </a:lnTo>
                <a:lnTo>
                  <a:pt x="2948" y="256"/>
                </a:lnTo>
                <a:lnTo>
                  <a:pt x="3070" y="294"/>
                </a:lnTo>
                <a:lnTo>
                  <a:pt x="3184" y="336"/>
                </a:lnTo>
                <a:lnTo>
                  <a:pt x="3292" y="382"/>
                </a:lnTo>
                <a:lnTo>
                  <a:pt x="3388" y="434"/>
                </a:lnTo>
                <a:lnTo>
                  <a:pt x="3476" y="486"/>
                </a:lnTo>
                <a:lnTo>
                  <a:pt x="3554" y="544"/>
                </a:lnTo>
                <a:lnTo>
                  <a:pt x="3622" y="602"/>
                </a:lnTo>
                <a:lnTo>
                  <a:pt x="3680" y="664"/>
                </a:lnTo>
                <a:lnTo>
                  <a:pt x="3724" y="730"/>
                </a:lnTo>
                <a:lnTo>
                  <a:pt x="3758" y="796"/>
                </a:lnTo>
                <a:lnTo>
                  <a:pt x="3778" y="864"/>
                </a:lnTo>
                <a:lnTo>
                  <a:pt x="3784" y="934"/>
                </a:lnTo>
                <a:lnTo>
                  <a:pt x="3778" y="1004"/>
                </a:lnTo>
                <a:lnTo>
                  <a:pt x="3758" y="1074"/>
                </a:lnTo>
                <a:lnTo>
                  <a:pt x="3724" y="1140"/>
                </a:lnTo>
                <a:lnTo>
                  <a:pt x="3680" y="1204"/>
                </a:lnTo>
                <a:lnTo>
                  <a:pt x="3622" y="1266"/>
                </a:lnTo>
                <a:lnTo>
                  <a:pt x="3554" y="1326"/>
                </a:lnTo>
                <a:lnTo>
                  <a:pt x="3476" y="1382"/>
                </a:lnTo>
                <a:lnTo>
                  <a:pt x="3388" y="1436"/>
                </a:lnTo>
                <a:lnTo>
                  <a:pt x="3292" y="1486"/>
                </a:lnTo>
                <a:lnTo>
                  <a:pt x="3184" y="1532"/>
                </a:lnTo>
                <a:lnTo>
                  <a:pt x="3070" y="1576"/>
                </a:lnTo>
                <a:lnTo>
                  <a:pt x="2948" y="1614"/>
                </a:lnTo>
                <a:lnTo>
                  <a:pt x="2818" y="1648"/>
                </a:lnTo>
                <a:lnTo>
                  <a:pt x="2682" y="1678"/>
                </a:lnTo>
                <a:lnTo>
                  <a:pt x="2540" y="1702"/>
                </a:lnTo>
                <a:lnTo>
                  <a:pt x="2392" y="1722"/>
                </a:lnTo>
                <a:lnTo>
                  <a:pt x="2240" y="1736"/>
                </a:lnTo>
                <a:lnTo>
                  <a:pt x="2084" y="1746"/>
                </a:lnTo>
                <a:lnTo>
                  <a:pt x="1922" y="1748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>
            <a:noFill/>
            <a:prstDash val="solid"/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036" name="Oval 4"/>
          <p:cNvSpPr>
            <a:spLocks noChangeArrowheads="1"/>
          </p:cNvSpPr>
          <p:nvPr/>
        </p:nvSpPr>
        <p:spPr bwMode="gray">
          <a:xfrm>
            <a:off x="3810000" y="1752600"/>
            <a:ext cx="1284288" cy="1274763"/>
          </a:xfrm>
          <a:prstGeom prst="ellipse">
            <a:avLst/>
          </a:prstGeom>
          <a:gradFill rotWithShape="1">
            <a:gsLst>
              <a:gs pos="0">
                <a:schemeClr val="hlink"/>
              </a:gs>
              <a:gs pos="100000">
                <a:schemeClr val="hlink">
                  <a:gamma/>
                  <a:shade val="34510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</a:ln>
          <a:effectLst>
            <a:prstShdw prst="shdw12" dist="76200" dir="10800000">
              <a:srgbClr val="001D3A">
                <a:alpha val="50000"/>
              </a:srgbClr>
            </a:prstShdw>
          </a:effec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44037" name="Oval 5"/>
          <p:cNvSpPr>
            <a:spLocks noChangeArrowheads="1"/>
          </p:cNvSpPr>
          <p:nvPr/>
        </p:nvSpPr>
        <p:spPr bwMode="gray">
          <a:xfrm>
            <a:off x="1295400" y="3276600"/>
            <a:ext cx="1284288" cy="1274763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31373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</a:ln>
          <a:effectLst>
            <a:prstShdw prst="shdw12" dist="76200" dir="10800000">
              <a:srgbClr val="001D3A">
                <a:alpha val="50000"/>
              </a:srgbClr>
            </a:prstShdw>
          </a:effec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44038" name="Oval 6"/>
          <p:cNvSpPr>
            <a:spLocks noChangeArrowheads="1"/>
          </p:cNvSpPr>
          <p:nvPr/>
        </p:nvSpPr>
        <p:spPr bwMode="gray">
          <a:xfrm>
            <a:off x="2178050" y="4973638"/>
            <a:ext cx="1282700" cy="1274762"/>
          </a:xfrm>
          <a:prstGeom prst="ellipse">
            <a:avLst/>
          </a:prstGeom>
          <a:gradFill rotWithShape="1">
            <a:gsLst>
              <a:gs pos="0">
                <a:schemeClr val="accent2"/>
              </a:gs>
              <a:gs pos="100000">
                <a:schemeClr val="accent2">
                  <a:gamma/>
                  <a:shade val="35686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</a:ln>
          <a:effectLst>
            <a:prstShdw prst="shdw12" dist="76200" dir="10800000">
              <a:srgbClr val="001D3A">
                <a:alpha val="50000"/>
              </a:srgbClr>
            </a:prstShdw>
          </a:effec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44039" name="Oval 7"/>
          <p:cNvSpPr>
            <a:spLocks noChangeArrowheads="1"/>
          </p:cNvSpPr>
          <p:nvPr/>
        </p:nvSpPr>
        <p:spPr bwMode="gray">
          <a:xfrm>
            <a:off x="4953000" y="4343400"/>
            <a:ext cx="1284288" cy="1274763"/>
          </a:xfrm>
          <a:prstGeom prst="ellipse">
            <a:avLst/>
          </a:prstGeom>
          <a:gradFill rotWithShape="1">
            <a:gsLst>
              <a:gs pos="0">
                <a:srgbClr val="692AA2"/>
              </a:gs>
              <a:gs pos="100000">
                <a:srgbClr val="692AA2">
                  <a:gamma/>
                  <a:shade val="57647"/>
                  <a:invGamma/>
                </a:srgbClr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</a:ln>
          <a:effectLst>
            <a:prstShdw prst="shdw12" dist="76200" dir="10800000">
              <a:srgbClr val="001D3A">
                <a:alpha val="50000"/>
              </a:srgbClr>
            </a:prstShdw>
          </a:effec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44040" name="Oval 8"/>
          <p:cNvSpPr>
            <a:spLocks noChangeArrowheads="1"/>
          </p:cNvSpPr>
          <p:nvPr/>
        </p:nvSpPr>
        <p:spPr bwMode="gray">
          <a:xfrm>
            <a:off x="6781800" y="1981200"/>
            <a:ext cx="1212850" cy="1274763"/>
          </a:xfrm>
          <a:prstGeom prst="ellipse">
            <a:avLst/>
          </a:prstGeom>
          <a:gradFill rotWithShape="1">
            <a:gsLst>
              <a:gs pos="0">
                <a:schemeClr val="folHlink"/>
              </a:gs>
              <a:gs pos="100000">
                <a:schemeClr val="folHlink">
                  <a:gamma/>
                  <a:shade val="34510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</a:ln>
          <a:effectLst>
            <a:prstShdw prst="shdw12" dist="76200" dir="10800000">
              <a:srgbClr val="001D3A">
                <a:alpha val="50000"/>
              </a:srgbClr>
            </a:prstShdw>
          </a:effec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44041" name="Text Box 9"/>
          <p:cNvSpPr txBox="1">
            <a:spLocks noChangeArrowheads="1"/>
          </p:cNvSpPr>
          <p:nvPr/>
        </p:nvSpPr>
        <p:spPr bwMode="white">
          <a:xfrm>
            <a:off x="1532486" y="3667116"/>
            <a:ext cx="803425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整型</a:t>
            </a:r>
            <a:endParaRPr lang="en-US" altLang="zh-CN" sz="2400" b="1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4042" name="Text Box 10"/>
          <p:cNvSpPr txBox="1">
            <a:spLocks noChangeArrowheads="1"/>
          </p:cNvSpPr>
          <p:nvPr/>
        </p:nvSpPr>
        <p:spPr bwMode="white">
          <a:xfrm>
            <a:off x="3944860" y="2143116"/>
            <a:ext cx="1112805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浮点型</a:t>
            </a:r>
            <a:endParaRPr lang="en-US" altLang="zh-CN" sz="2400" b="1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4043" name="Text Box 11"/>
          <p:cNvSpPr txBox="1">
            <a:spLocks noChangeArrowheads="1"/>
          </p:cNvSpPr>
          <p:nvPr/>
        </p:nvSpPr>
        <p:spPr bwMode="white">
          <a:xfrm>
            <a:off x="6893725" y="2362184"/>
            <a:ext cx="1112805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字符型</a:t>
            </a:r>
            <a:endParaRPr lang="en-US" altLang="zh-CN" sz="2400" b="1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4044" name="Text Box 12"/>
          <p:cNvSpPr txBox="1">
            <a:spLocks noChangeArrowheads="1"/>
          </p:cNvSpPr>
          <p:nvPr/>
        </p:nvSpPr>
        <p:spPr bwMode="white">
          <a:xfrm>
            <a:off x="5087868" y="4719638"/>
            <a:ext cx="1112805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布尔型</a:t>
            </a:r>
            <a:endParaRPr lang="en-US" altLang="zh-CN" sz="2400" b="1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4045" name="Text Box 13"/>
          <p:cNvSpPr txBox="1">
            <a:spLocks noChangeArrowheads="1"/>
          </p:cNvSpPr>
          <p:nvPr/>
        </p:nvSpPr>
        <p:spPr bwMode="white">
          <a:xfrm>
            <a:off x="2250255" y="5357804"/>
            <a:ext cx="1112805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无值型</a:t>
            </a:r>
            <a:endParaRPr lang="en-US" altLang="zh-CN" sz="2400" b="1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0" name="标题 1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>
                <a:latin typeface="黑体" panose="02010609060101010101" pitchFamily="2" charset="-122"/>
                <a:ea typeface="黑体" panose="02010609060101010101" pitchFamily="2" charset="-122"/>
              </a:rPr>
              <a:t>基本数据类型</a:t>
            </a:r>
          </a:p>
        </p:txBody>
      </p:sp>
      <p:sp>
        <p:nvSpPr>
          <p:cNvPr id="21" name="矩形 20">
            <a:hlinkClick r:id="rId2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 □</a:t>
            </a:r>
          </a:p>
        </p:txBody>
      </p:sp>
      <p:sp>
        <p:nvSpPr>
          <p:cNvPr id="22" name="矩形 21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 ■</a:t>
            </a:r>
          </a:p>
        </p:txBody>
      </p:sp>
      <p:sp>
        <p:nvSpPr>
          <p:cNvPr id="23" name="矩形 22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复合数据类型 □</a:t>
            </a:r>
          </a:p>
        </p:txBody>
      </p:sp>
      <p:sp>
        <p:nvSpPr>
          <p:cNvPr id="24" name="矩形 23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</a:t>
            </a: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限定数据类型 □</a:t>
            </a:r>
          </a:p>
        </p:txBody>
      </p:sp>
      <p:sp>
        <p:nvSpPr>
          <p:cNvPr id="25" name="矩形 24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整型</a:t>
            </a:r>
          </a:p>
        </p:txBody>
      </p:sp>
      <p:sp>
        <p:nvSpPr>
          <p:cNvPr id="26" name="矩形 25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浮点型</a:t>
            </a:r>
          </a:p>
        </p:txBody>
      </p:sp>
      <p:sp>
        <p:nvSpPr>
          <p:cNvPr id="27" name="矩形 26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字符型</a:t>
            </a:r>
          </a:p>
        </p:txBody>
      </p:sp>
      <p:sp>
        <p:nvSpPr>
          <p:cNvPr id="28" name="矩形 27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布尔型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359"/>
    </mc:Choice>
    <mc:Fallback xmlns="">
      <p:transition spd="slow" advTm="5359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整型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表示整数，用关键字</a:t>
            </a:r>
            <a:r>
              <a:rPr lang="en-US" altLang="zh-CN" dirty="0" err="1"/>
              <a:t>int</a:t>
            </a:r>
            <a:r>
              <a:rPr lang="zh-CN" altLang="en-US" dirty="0"/>
              <a:t>描述</a:t>
            </a:r>
            <a:endParaRPr lang="en-US" altLang="zh-CN" dirty="0"/>
          </a:p>
          <a:p>
            <a:pPr lvl="1"/>
            <a:r>
              <a:rPr lang="zh-CN" altLang="en-US" dirty="0"/>
              <a:t>正数、负数、</a:t>
            </a:r>
            <a:r>
              <a:rPr lang="en-US" altLang="zh-CN" dirty="0"/>
              <a:t>0</a:t>
            </a:r>
          </a:p>
          <a:p>
            <a:r>
              <a:rPr lang="zh-CN" altLang="en-US" dirty="0"/>
              <a:t>最常用、最基本的数据类型</a:t>
            </a:r>
            <a:endParaRPr lang="en-US" altLang="zh-CN" dirty="0"/>
          </a:p>
          <a:p>
            <a:r>
              <a:rPr lang="en-US" altLang="zh-CN" dirty="0"/>
              <a:t>short</a:t>
            </a:r>
            <a:r>
              <a:rPr lang="zh-CN" altLang="en-US" dirty="0"/>
              <a:t>、</a:t>
            </a:r>
            <a:r>
              <a:rPr lang="en-US" altLang="zh-CN" dirty="0"/>
              <a:t>long</a:t>
            </a:r>
            <a:r>
              <a:rPr lang="zh-CN" altLang="en-US" dirty="0"/>
              <a:t>、</a:t>
            </a:r>
            <a:r>
              <a:rPr lang="en-US" altLang="zh-CN" dirty="0"/>
              <a:t>signed</a:t>
            </a:r>
            <a:r>
              <a:rPr lang="zh-CN" altLang="en-US" dirty="0"/>
              <a:t>和</a:t>
            </a:r>
            <a:r>
              <a:rPr lang="en-US" altLang="zh-CN" dirty="0"/>
              <a:t>unsigned</a:t>
            </a:r>
            <a:r>
              <a:rPr lang="zh-CN" altLang="en-US" dirty="0"/>
              <a:t>描述不同类型的整型数据</a:t>
            </a:r>
            <a:r>
              <a:rPr lang="en-US" altLang="zh-CN" dirty="0"/>
              <a:t>——</a:t>
            </a:r>
            <a:r>
              <a:rPr lang="zh-CN" altLang="en-US" dirty="0"/>
              <a:t>整型的派生类型</a:t>
            </a:r>
            <a:endParaRPr lang="en-US" altLang="zh-CN" dirty="0"/>
          </a:p>
          <a:p>
            <a:r>
              <a:rPr lang="en-US" altLang="zh-CN" dirty="0"/>
              <a:t>C++</a:t>
            </a:r>
            <a:r>
              <a:rPr lang="zh-CN" altLang="en-US" dirty="0"/>
              <a:t>语言规定整型数据占</a:t>
            </a:r>
            <a:r>
              <a:rPr lang="en-US" altLang="zh-CN" dirty="0"/>
              <a:t>4</a:t>
            </a:r>
            <a:r>
              <a:rPr lang="zh-CN" altLang="en-US" dirty="0"/>
              <a:t>个字节存储空间</a:t>
            </a:r>
            <a:endParaRPr lang="en-US" altLang="zh-CN" dirty="0"/>
          </a:p>
          <a:p>
            <a:pPr lvl="1"/>
            <a:r>
              <a:rPr lang="zh-CN" altLang="en-US" dirty="0"/>
              <a:t>短整型（</a:t>
            </a:r>
            <a:r>
              <a:rPr lang="en-US" altLang="zh-CN" dirty="0"/>
              <a:t>short </a:t>
            </a:r>
            <a:r>
              <a:rPr lang="en-US" altLang="zh-CN" dirty="0" err="1"/>
              <a:t>int</a:t>
            </a:r>
            <a:r>
              <a:rPr lang="zh-CN" altLang="en-US" dirty="0"/>
              <a:t>）占</a:t>
            </a:r>
            <a:r>
              <a:rPr lang="en-US" altLang="zh-CN" dirty="0"/>
              <a:t>2</a:t>
            </a:r>
            <a:r>
              <a:rPr lang="zh-CN" altLang="en-US" dirty="0"/>
              <a:t>个字节</a:t>
            </a:r>
            <a:endParaRPr lang="en-US" altLang="zh-CN" dirty="0"/>
          </a:p>
          <a:p>
            <a:pPr lvl="1"/>
            <a:r>
              <a:rPr lang="zh-CN" altLang="en-US" dirty="0"/>
              <a:t>长整型（</a:t>
            </a:r>
            <a:r>
              <a:rPr lang="en-US" altLang="zh-CN" dirty="0"/>
              <a:t>long </a:t>
            </a:r>
            <a:r>
              <a:rPr lang="en-US" altLang="zh-CN" dirty="0" err="1"/>
              <a:t>int</a:t>
            </a:r>
            <a:r>
              <a:rPr lang="zh-CN" altLang="en-US" dirty="0"/>
              <a:t>或</a:t>
            </a:r>
            <a:r>
              <a:rPr lang="en-US" altLang="zh-CN" dirty="0"/>
              <a:t>long</a:t>
            </a:r>
            <a:r>
              <a:rPr lang="zh-CN" altLang="en-US" dirty="0"/>
              <a:t>）占</a:t>
            </a:r>
            <a:r>
              <a:rPr lang="en-US" altLang="zh-CN" dirty="0"/>
              <a:t>4</a:t>
            </a:r>
            <a:r>
              <a:rPr lang="zh-CN" altLang="en-US" dirty="0"/>
              <a:t>个字节</a:t>
            </a:r>
            <a:endParaRPr lang="en-US" altLang="zh-CN" dirty="0"/>
          </a:p>
          <a:p>
            <a:pPr lvl="1"/>
            <a:r>
              <a:rPr lang="zh-CN" altLang="en-US" dirty="0"/>
              <a:t>长长整型（</a:t>
            </a:r>
            <a:r>
              <a:rPr lang="en-US" altLang="zh-CN" dirty="0"/>
              <a:t>long </a:t>
            </a:r>
            <a:r>
              <a:rPr lang="en-US" altLang="zh-CN" dirty="0" err="1"/>
              <a:t>long</a:t>
            </a:r>
            <a:r>
              <a:rPr lang="en-US" altLang="zh-CN" dirty="0"/>
              <a:t>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zh-CN" altLang="en-US" dirty="0"/>
              <a:t>或</a:t>
            </a:r>
            <a:r>
              <a:rPr lang="en-US" altLang="zh-CN" dirty="0"/>
              <a:t>long </a:t>
            </a:r>
            <a:r>
              <a:rPr lang="en-US" altLang="zh-CN" dirty="0" err="1"/>
              <a:t>long</a:t>
            </a:r>
            <a:r>
              <a:rPr lang="zh-CN" altLang="en-US" dirty="0"/>
              <a:t>）占</a:t>
            </a:r>
            <a:r>
              <a:rPr lang="en-US" altLang="zh-CN" dirty="0"/>
              <a:t>8</a:t>
            </a:r>
            <a:r>
              <a:rPr lang="zh-CN" altLang="en-US" dirty="0"/>
              <a:t>个字节</a:t>
            </a:r>
            <a:endParaRPr lang="en-US" altLang="zh-CN" dirty="0"/>
          </a:p>
          <a:p>
            <a:r>
              <a:rPr lang="en-US" altLang="zh-CN" dirty="0">
                <a:solidFill>
                  <a:srgbClr val="C00000"/>
                </a:solidFill>
              </a:rPr>
              <a:t>P59</a:t>
            </a:r>
            <a:r>
              <a:rPr lang="zh-CN" altLang="en-US" dirty="0">
                <a:solidFill>
                  <a:srgbClr val="C00000"/>
                </a:solidFill>
              </a:rPr>
              <a:t>程序</a:t>
            </a:r>
            <a:r>
              <a:rPr lang="en-US" altLang="zh-CN" dirty="0">
                <a:solidFill>
                  <a:srgbClr val="C00000"/>
                </a:solidFill>
              </a:rPr>
              <a:t>3.1</a:t>
            </a:r>
          </a:p>
        </p:txBody>
      </p:sp>
      <p:sp>
        <p:nvSpPr>
          <p:cNvPr id="6" name="矩形 5">
            <a:hlinkClick r:id="rId2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 □</a:t>
            </a: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 ■</a:t>
            </a: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复合数据类型 □</a:t>
            </a: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</a:t>
            </a: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限定数据类型 □</a:t>
            </a: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整型</a:t>
            </a: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浮点型</a:t>
            </a:r>
          </a:p>
        </p:txBody>
      </p:sp>
      <p:sp>
        <p:nvSpPr>
          <p:cNvPr id="12" name="矩形 11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字符型</a:t>
            </a:r>
          </a:p>
        </p:txBody>
      </p:sp>
      <p:sp>
        <p:nvSpPr>
          <p:cNvPr id="13" name="矩形 12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布尔型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475"/>
    </mc:Choice>
    <mc:Fallback xmlns="">
      <p:transition spd="slow" advTm="24475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整型的修饰符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47864" y="1124744"/>
            <a:ext cx="3816424" cy="486536"/>
          </a:xfrm>
        </p:spPr>
        <p:txBody>
          <a:bodyPr/>
          <a:lstStyle/>
          <a:p>
            <a:r>
              <a:rPr lang="en-US" altLang="zh-CN" dirty="0"/>
              <a:t>signed</a:t>
            </a:r>
            <a:r>
              <a:rPr lang="zh-CN" altLang="en-US" dirty="0"/>
              <a:t>、</a:t>
            </a:r>
            <a:r>
              <a:rPr lang="en-US" altLang="zh-CN" dirty="0"/>
              <a:t>unsigned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251520" y="1704424"/>
          <a:ext cx="8712968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6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68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20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类型描述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字长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取值范围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简写</a:t>
                      </a: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short </a:t>
                      </a:r>
                      <a:r>
                        <a:rPr lang="en-US" altLang="zh-CN" dirty="0" err="1"/>
                        <a:t>int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-32768~32767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short</a:t>
                      </a:r>
                      <a:endParaRPr lang="zh-CN" altLang="en-US" dirty="0"/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signed short </a:t>
                      </a:r>
                      <a:r>
                        <a:rPr lang="en-US" altLang="zh-CN" dirty="0" err="1"/>
                        <a:t>int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/>
                        <a:t>-32768~32767(</a:t>
                      </a:r>
                      <a:r>
                        <a:rPr lang="en-US" altLang="zh-CN">
                          <a:solidFill>
                            <a:srgbClr val="0000FF"/>
                          </a:solidFill>
                        </a:rPr>
                        <a:t>-2</a:t>
                      </a:r>
                      <a:r>
                        <a:rPr lang="en-US" altLang="zh-CN" sz="1800" kern="1200" baseline="3000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  <a:r>
                        <a:rPr lang="en-US" altLang="zh-CN">
                          <a:solidFill>
                            <a:srgbClr val="0000FF"/>
                          </a:solidFill>
                        </a:rPr>
                        <a:t>~2</a:t>
                      </a:r>
                      <a:r>
                        <a:rPr lang="en-US" altLang="zh-CN" sz="1800" kern="1200" baseline="3000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  <a:r>
                        <a:rPr lang="en-US" altLang="zh-CN">
                          <a:solidFill>
                            <a:srgbClr val="0000FF"/>
                          </a:solidFill>
                        </a:rPr>
                        <a:t>-1</a:t>
                      </a:r>
                      <a:r>
                        <a:rPr lang="en-US" altLang="zh-CN"/>
                        <a:t>)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short</a:t>
                      </a:r>
                      <a:endParaRPr lang="zh-CN" altLang="en-US" dirty="0"/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unsigned short </a:t>
                      </a:r>
                      <a:r>
                        <a:rPr lang="en-US" altLang="zh-CN" dirty="0" err="1"/>
                        <a:t>int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0~65535(</a:t>
                      </a:r>
                      <a:r>
                        <a:rPr lang="en-US" altLang="zh-CN">
                          <a:solidFill>
                            <a:srgbClr val="0000FF"/>
                          </a:solidFill>
                        </a:rPr>
                        <a:t>2</a:t>
                      </a:r>
                      <a:r>
                        <a:rPr lang="en-US" altLang="zh-CN" sz="1800" kern="1200" baseline="3000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  <a:r>
                        <a:rPr lang="en-US" altLang="zh-CN" sz="1800" kern="120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r>
                        <a:rPr lang="en-US" altLang="zh-CN"/>
                        <a:t>)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unsigned short</a:t>
                      </a:r>
                      <a:endParaRPr lang="zh-CN" altLang="en-US" dirty="0"/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>
                          <a:solidFill>
                            <a:srgbClr val="C00000"/>
                          </a:solidFill>
                        </a:rPr>
                        <a:t>int</a:t>
                      </a:r>
                      <a:endParaRPr lang="zh-CN" altLang="en-US" dirty="0">
                        <a:solidFill>
                          <a:srgbClr val="C00000"/>
                        </a:solidFill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C00000"/>
                          </a:solidFill>
                        </a:rPr>
                        <a:t>4</a:t>
                      </a:r>
                      <a:endParaRPr lang="zh-CN" altLang="en-US" dirty="0">
                        <a:solidFill>
                          <a:srgbClr val="C00000"/>
                        </a:solidFill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C00000"/>
                          </a:solidFill>
                        </a:rPr>
                        <a:t>-2</a:t>
                      </a:r>
                      <a:r>
                        <a:rPr lang="en-US" altLang="zh-CN" baseline="30000" dirty="0">
                          <a:solidFill>
                            <a:srgbClr val="C00000"/>
                          </a:solidFill>
                        </a:rPr>
                        <a:t>31</a:t>
                      </a:r>
                      <a:r>
                        <a:rPr lang="en-US" altLang="zh-CN" dirty="0">
                          <a:solidFill>
                            <a:srgbClr val="C00000"/>
                          </a:solidFill>
                        </a:rPr>
                        <a:t>~2</a:t>
                      </a:r>
                      <a:r>
                        <a:rPr lang="en-US" altLang="zh-CN" baseline="30000" dirty="0">
                          <a:solidFill>
                            <a:srgbClr val="C00000"/>
                          </a:solidFill>
                        </a:rPr>
                        <a:t>31</a:t>
                      </a:r>
                      <a:r>
                        <a:rPr lang="en-US" altLang="zh-CN" dirty="0">
                          <a:solidFill>
                            <a:srgbClr val="C00000"/>
                          </a:solidFill>
                        </a:rPr>
                        <a:t>-1</a:t>
                      </a:r>
                      <a:endParaRPr lang="zh-CN" altLang="en-US" dirty="0">
                        <a:solidFill>
                          <a:srgbClr val="C00000"/>
                        </a:solidFill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 dirty="0" err="1">
                          <a:solidFill>
                            <a:srgbClr val="C00000"/>
                          </a:solidFill>
                        </a:rPr>
                        <a:t>int</a:t>
                      </a:r>
                      <a:endParaRPr lang="zh-CN" altLang="en-US" dirty="0">
                        <a:solidFill>
                          <a:srgbClr val="C00000"/>
                        </a:solidFill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signed </a:t>
                      </a:r>
                      <a:r>
                        <a:rPr lang="en-US" altLang="zh-CN" dirty="0" err="1"/>
                        <a:t>int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-2</a:t>
                      </a:r>
                      <a:r>
                        <a:rPr lang="en-US" altLang="zh-CN" baseline="30000" dirty="0"/>
                        <a:t>31</a:t>
                      </a:r>
                      <a:r>
                        <a:rPr lang="en-US" altLang="zh-CN" dirty="0"/>
                        <a:t>~2</a:t>
                      </a:r>
                      <a:r>
                        <a:rPr lang="en-US" altLang="zh-CN" baseline="30000" dirty="0"/>
                        <a:t>31</a:t>
                      </a:r>
                      <a:r>
                        <a:rPr lang="en-US" altLang="zh-CN" dirty="0"/>
                        <a:t>-1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int</a:t>
                      </a:r>
                      <a:endParaRPr lang="en-US" altLang="zh-CN" dirty="0"/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unsigned </a:t>
                      </a:r>
                      <a:r>
                        <a:rPr lang="en-US" altLang="zh-CN" dirty="0" err="1"/>
                        <a:t>int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0~4294967295(</a:t>
                      </a:r>
                      <a:r>
                        <a:rPr lang="en-US" altLang="zh-CN">
                          <a:solidFill>
                            <a:srgbClr val="0000FF"/>
                          </a:solidFill>
                        </a:rPr>
                        <a:t>2</a:t>
                      </a:r>
                      <a:r>
                        <a:rPr lang="en-US" altLang="zh-CN" sz="1800" kern="1200" baseline="3000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32</a:t>
                      </a:r>
                      <a:r>
                        <a:rPr lang="en-US" altLang="zh-CN" sz="1800" kern="120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r>
                        <a:rPr lang="en-US" altLang="zh-CN"/>
                        <a:t>)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unsigned</a:t>
                      </a:r>
                      <a:endParaRPr lang="zh-CN" altLang="en-US" dirty="0"/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long </a:t>
                      </a:r>
                      <a:r>
                        <a:rPr lang="en-US" altLang="zh-CN" dirty="0" err="1"/>
                        <a:t>int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-2147483648~2147483647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long</a:t>
                      </a:r>
                      <a:endParaRPr lang="zh-CN" altLang="en-US" dirty="0"/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signed long </a:t>
                      </a:r>
                      <a:r>
                        <a:rPr lang="en-US" altLang="zh-CN" dirty="0" err="1"/>
                        <a:t>int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-2147483648~2147483647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long</a:t>
                      </a:r>
                      <a:endParaRPr lang="zh-CN" altLang="en-US" dirty="0"/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unsigned long </a:t>
                      </a:r>
                      <a:r>
                        <a:rPr lang="en-US" altLang="zh-CN" dirty="0" err="1"/>
                        <a:t>int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0~4294967295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unsigned long</a:t>
                      </a:r>
                      <a:endParaRPr lang="zh-CN" altLang="en-US" dirty="0"/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long</a:t>
                      </a:r>
                      <a:r>
                        <a:rPr lang="en-US" altLang="zh-CN" baseline="0" dirty="0"/>
                        <a:t> </a:t>
                      </a:r>
                      <a:r>
                        <a:rPr lang="en-US" altLang="zh-CN" baseline="0" dirty="0" err="1"/>
                        <a:t>long</a:t>
                      </a:r>
                      <a:r>
                        <a:rPr lang="en-US" altLang="zh-CN" baseline="0" dirty="0"/>
                        <a:t> </a:t>
                      </a:r>
                      <a:r>
                        <a:rPr lang="en-US" altLang="zh-CN" baseline="0" dirty="0" err="1"/>
                        <a:t>int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-2</a:t>
                      </a:r>
                      <a:r>
                        <a:rPr lang="en-US" altLang="zh-CN" baseline="30000" dirty="0"/>
                        <a:t>63</a:t>
                      </a:r>
                      <a:r>
                        <a:rPr lang="en-US" altLang="zh-CN" dirty="0"/>
                        <a:t>~2</a:t>
                      </a:r>
                      <a:r>
                        <a:rPr lang="en-US" altLang="zh-CN" baseline="30000" dirty="0"/>
                        <a:t>63</a:t>
                      </a:r>
                      <a:r>
                        <a:rPr lang="en-US" altLang="zh-CN" dirty="0"/>
                        <a:t>-1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long long</a:t>
                      </a:r>
                      <a:endParaRPr lang="zh-CN" altLang="en-US" dirty="0"/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signed</a:t>
                      </a:r>
                      <a:r>
                        <a:rPr lang="en-US" altLang="zh-CN" baseline="0" dirty="0"/>
                        <a:t> long </a:t>
                      </a:r>
                      <a:r>
                        <a:rPr lang="en-US" altLang="zh-CN" baseline="0" dirty="0" err="1"/>
                        <a:t>long</a:t>
                      </a:r>
                      <a:r>
                        <a:rPr lang="en-US" altLang="zh-CN" baseline="0" dirty="0"/>
                        <a:t> </a:t>
                      </a:r>
                      <a:r>
                        <a:rPr lang="en-US" altLang="zh-CN" baseline="0" dirty="0" err="1"/>
                        <a:t>int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-2</a:t>
                      </a:r>
                      <a:r>
                        <a:rPr lang="en-US" altLang="zh-CN" baseline="30000" dirty="0"/>
                        <a:t>63</a:t>
                      </a:r>
                      <a:r>
                        <a:rPr lang="en-US" altLang="zh-CN" dirty="0"/>
                        <a:t>~2</a:t>
                      </a:r>
                      <a:r>
                        <a:rPr lang="en-US" altLang="zh-CN" baseline="30000" dirty="0"/>
                        <a:t>63</a:t>
                      </a:r>
                      <a:r>
                        <a:rPr lang="en-US" altLang="zh-CN" dirty="0"/>
                        <a:t>-1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long </a:t>
                      </a:r>
                      <a:r>
                        <a:rPr lang="en-US" altLang="zh-CN" dirty="0" err="1"/>
                        <a:t>long</a:t>
                      </a:r>
                      <a:endParaRPr lang="zh-CN" altLang="en-US" dirty="0"/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unsigned</a:t>
                      </a:r>
                      <a:r>
                        <a:rPr lang="en-US" altLang="zh-CN" baseline="0" dirty="0"/>
                        <a:t> long </a:t>
                      </a:r>
                      <a:r>
                        <a:rPr lang="en-US" altLang="zh-CN" baseline="0" dirty="0" err="1"/>
                        <a:t>long</a:t>
                      </a:r>
                      <a:r>
                        <a:rPr lang="en-US" altLang="zh-CN" baseline="0" dirty="0"/>
                        <a:t> </a:t>
                      </a:r>
                      <a:r>
                        <a:rPr lang="en-US" altLang="zh-CN" baseline="0" dirty="0" err="1"/>
                        <a:t>int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0~2</a:t>
                      </a:r>
                      <a:r>
                        <a:rPr lang="en-US" altLang="zh-CN" baseline="30000" dirty="0"/>
                        <a:t>64</a:t>
                      </a:r>
                      <a:r>
                        <a:rPr lang="en-US" altLang="zh-CN" dirty="0"/>
                        <a:t>-1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unsigned</a:t>
                      </a:r>
                      <a:r>
                        <a:rPr lang="en-US" altLang="zh-CN" baseline="0" dirty="0"/>
                        <a:t> long </a:t>
                      </a:r>
                      <a:r>
                        <a:rPr lang="en-US" altLang="zh-CN" baseline="0" dirty="0" err="1"/>
                        <a:t>long</a:t>
                      </a:r>
                      <a:endParaRPr lang="zh-CN" altLang="en-US" dirty="0"/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7" name="矩形 6">
            <a:hlinkClick r:id="rId3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 □</a:t>
            </a: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 ■</a:t>
            </a: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复合数据类型 □</a:t>
            </a: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</a:t>
            </a: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限定数据类型 □</a:t>
            </a: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整型</a:t>
            </a:r>
          </a:p>
        </p:txBody>
      </p:sp>
      <p:sp>
        <p:nvSpPr>
          <p:cNvPr id="12" name="矩形 11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浮点型</a:t>
            </a:r>
          </a:p>
        </p:txBody>
      </p:sp>
      <p:sp>
        <p:nvSpPr>
          <p:cNvPr id="13" name="矩形 12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字符型</a:t>
            </a:r>
          </a:p>
        </p:txBody>
      </p:sp>
      <p:sp>
        <p:nvSpPr>
          <p:cNvPr id="14" name="矩形 13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布尔型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945"/>
    </mc:Choice>
    <mc:Fallback xmlns="">
      <p:transition spd="slow" advTm="10945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浮点型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表示小数（或整个实数域）</a:t>
            </a:r>
            <a:endParaRPr lang="en-US" altLang="zh-CN" dirty="0"/>
          </a:p>
          <a:p>
            <a:pPr lvl="1"/>
            <a:r>
              <a:rPr lang="en-US" altLang="zh-CN" dirty="0"/>
              <a:t>-1.2</a:t>
            </a:r>
            <a:r>
              <a:rPr lang="zh-CN" altLang="en-US" dirty="0"/>
              <a:t>、</a:t>
            </a:r>
            <a:r>
              <a:rPr lang="en-US" altLang="zh-CN" dirty="0"/>
              <a:t>0.0</a:t>
            </a:r>
            <a:r>
              <a:rPr lang="zh-CN" altLang="en-US" dirty="0"/>
              <a:t>、</a:t>
            </a:r>
            <a:r>
              <a:rPr lang="en-US" altLang="zh-CN" dirty="0"/>
              <a:t>2.5</a:t>
            </a:r>
          </a:p>
          <a:p>
            <a:r>
              <a:rPr lang="zh-CN" altLang="en-US" dirty="0"/>
              <a:t>分类</a:t>
            </a:r>
            <a:endParaRPr lang="en-US" altLang="zh-CN" dirty="0"/>
          </a:p>
          <a:p>
            <a:pPr lvl="1"/>
            <a:r>
              <a:rPr lang="zh-CN" altLang="en-US" dirty="0"/>
              <a:t>单精度浮点型</a:t>
            </a:r>
            <a:endParaRPr lang="en-US" altLang="zh-CN" dirty="0"/>
          </a:p>
          <a:p>
            <a:pPr lvl="2"/>
            <a:r>
              <a:rPr lang="zh-CN" altLang="en-US" dirty="0"/>
              <a:t>占</a:t>
            </a:r>
            <a:r>
              <a:rPr lang="en-US" altLang="zh-CN" dirty="0"/>
              <a:t>4</a:t>
            </a:r>
            <a:r>
              <a:rPr lang="zh-CN" altLang="en-US" dirty="0"/>
              <a:t>个字节的存储空间，用关键字</a:t>
            </a:r>
            <a:r>
              <a:rPr lang="en-US" altLang="zh-CN" dirty="0"/>
              <a:t>float</a:t>
            </a:r>
            <a:r>
              <a:rPr lang="zh-CN" altLang="en-US" dirty="0"/>
              <a:t>描述</a:t>
            </a:r>
            <a:endParaRPr lang="en-US" altLang="zh-CN" dirty="0"/>
          </a:p>
          <a:p>
            <a:pPr lvl="1"/>
            <a:r>
              <a:rPr lang="zh-CN" altLang="en-US" dirty="0"/>
              <a:t>双精度浮点型</a:t>
            </a:r>
            <a:endParaRPr lang="en-US" altLang="zh-CN" dirty="0"/>
          </a:p>
          <a:p>
            <a:pPr lvl="2"/>
            <a:r>
              <a:rPr lang="zh-CN" altLang="en-US" dirty="0"/>
              <a:t>占</a:t>
            </a:r>
            <a:r>
              <a:rPr lang="en-US" altLang="zh-CN" dirty="0"/>
              <a:t>8</a:t>
            </a:r>
            <a:r>
              <a:rPr lang="zh-CN" altLang="en-US" dirty="0"/>
              <a:t>个字节的存储空间，用关键字</a:t>
            </a:r>
            <a:r>
              <a:rPr lang="en-US" altLang="zh-CN" dirty="0"/>
              <a:t>double</a:t>
            </a:r>
            <a:r>
              <a:rPr lang="zh-CN" altLang="en-US" dirty="0"/>
              <a:t>描述</a:t>
            </a:r>
            <a:endParaRPr lang="en-US" altLang="zh-CN" dirty="0"/>
          </a:p>
          <a:p>
            <a:pPr lvl="1"/>
            <a:r>
              <a:rPr lang="zh-CN" altLang="en-US" dirty="0"/>
              <a:t>长双精度浮点型</a:t>
            </a:r>
            <a:endParaRPr lang="en-US" altLang="zh-CN" dirty="0"/>
          </a:p>
          <a:p>
            <a:pPr lvl="2"/>
            <a:r>
              <a:rPr lang="zh-CN" altLang="en-US" dirty="0"/>
              <a:t>占</a:t>
            </a:r>
            <a:r>
              <a:rPr lang="en-US" altLang="zh-CN" dirty="0"/>
              <a:t>10</a:t>
            </a:r>
            <a:r>
              <a:rPr lang="zh-CN" altLang="en-US" dirty="0"/>
              <a:t>个字节的存储空间，用关键字</a:t>
            </a:r>
            <a:r>
              <a:rPr lang="en-US" altLang="zh-CN" dirty="0"/>
              <a:t>long double</a:t>
            </a:r>
            <a:r>
              <a:rPr lang="zh-CN" altLang="en-US" dirty="0"/>
              <a:t>描述</a:t>
            </a:r>
            <a:endParaRPr lang="en-US" altLang="zh-CN" dirty="0"/>
          </a:p>
          <a:p>
            <a:r>
              <a:rPr lang="en-US" altLang="zh-CN" dirty="0">
                <a:solidFill>
                  <a:srgbClr val="C00000"/>
                </a:solidFill>
              </a:rPr>
              <a:t>P60</a:t>
            </a:r>
            <a:r>
              <a:rPr lang="zh-CN" altLang="en-US" dirty="0">
                <a:solidFill>
                  <a:srgbClr val="C00000"/>
                </a:solidFill>
              </a:rPr>
              <a:t>程序</a:t>
            </a:r>
            <a:r>
              <a:rPr lang="en-US" altLang="zh-CN" dirty="0">
                <a:solidFill>
                  <a:srgbClr val="C00000"/>
                </a:solidFill>
              </a:rPr>
              <a:t>3.2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6" name="矩形 5">
            <a:hlinkClick r:id="rId2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 □</a:t>
            </a: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 ■</a:t>
            </a: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复合数据类型 □</a:t>
            </a: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</a:t>
            </a: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限定数据类型 □</a:t>
            </a: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整型</a:t>
            </a: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浮点型</a:t>
            </a:r>
          </a:p>
        </p:txBody>
      </p:sp>
      <p:sp>
        <p:nvSpPr>
          <p:cNvPr id="12" name="矩形 11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字符型</a:t>
            </a:r>
          </a:p>
        </p:txBody>
      </p:sp>
      <p:sp>
        <p:nvSpPr>
          <p:cNvPr id="13" name="矩形 12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布尔型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473"/>
    </mc:Choice>
    <mc:Fallback xmlns="">
      <p:transition spd="slow" advTm="15473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浮点型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浮点型及其派生类型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单精度浮点数的表示范围：</a:t>
            </a:r>
            <a:endParaRPr lang="en-US" altLang="zh-CN" dirty="0"/>
          </a:p>
          <a:p>
            <a:pPr lvl="2"/>
            <a:r>
              <a:rPr lang="en-US" altLang="zh-CN" dirty="0"/>
              <a:t>1.00000000000000000000000*2</a:t>
            </a:r>
            <a:r>
              <a:rPr lang="en-US" altLang="zh-CN" baseline="30000" dirty="0"/>
              <a:t>-128 </a:t>
            </a:r>
            <a:r>
              <a:rPr lang="zh-CN" altLang="en-US" dirty="0"/>
              <a:t>≈</a:t>
            </a:r>
            <a:r>
              <a:rPr lang="en-US" altLang="zh-CN" dirty="0"/>
              <a:t> 3.4e-38</a:t>
            </a:r>
          </a:p>
          <a:p>
            <a:pPr lvl="2"/>
            <a:r>
              <a:rPr lang="en-US" altLang="zh-CN" dirty="0"/>
              <a:t>1.11111111111111111111111*2</a:t>
            </a:r>
            <a:r>
              <a:rPr lang="en-US" altLang="zh-CN" baseline="30000" dirty="0"/>
              <a:t>127 </a:t>
            </a:r>
            <a:r>
              <a:rPr lang="zh-CN" altLang="en-US" dirty="0"/>
              <a:t>≈</a:t>
            </a:r>
            <a:r>
              <a:rPr lang="en-US" altLang="zh-CN" dirty="0"/>
              <a:t> 3.4e38</a:t>
            </a:r>
          </a:p>
          <a:p>
            <a:pPr lvl="1"/>
            <a:r>
              <a:rPr lang="zh-CN" altLang="en-US" dirty="0"/>
              <a:t>双精度浮点数的表示范围：</a:t>
            </a:r>
            <a:endParaRPr lang="en-US" altLang="zh-CN" dirty="0"/>
          </a:p>
          <a:p>
            <a:pPr lvl="2"/>
            <a:r>
              <a:rPr lang="zh-CN" altLang="en-US" dirty="0"/>
              <a:t>计算方法类似于单精度</a:t>
            </a:r>
            <a:endParaRPr lang="en-US" altLang="zh-CN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1259632" y="2492896"/>
          <a:ext cx="731251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63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44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60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55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类型描述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字长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取值范围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精度</a:t>
                      </a: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float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-3.4E38~3.4E38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1.0E-38</a:t>
                      </a:r>
                      <a:endParaRPr lang="zh-CN" altLang="en-US" dirty="0"/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double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-1.7E308~1.7E308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1.0E-308</a:t>
                      </a:r>
                      <a:endParaRPr lang="zh-CN" altLang="en-US" dirty="0"/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long double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-1.1E4932~1.1E4932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1.0E-4932</a:t>
                      </a:r>
                      <a:endParaRPr lang="zh-CN" altLang="en-US" dirty="0"/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矩形 14">
            <a:hlinkClick r:id="rId3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 □</a:t>
            </a:r>
          </a:p>
        </p:txBody>
      </p:sp>
      <p:sp>
        <p:nvSpPr>
          <p:cNvPr id="16" name="矩形 15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 ■</a:t>
            </a:r>
          </a:p>
        </p:txBody>
      </p:sp>
      <p:sp>
        <p:nvSpPr>
          <p:cNvPr id="17" name="矩形 16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复合数据类型 □</a:t>
            </a:r>
          </a:p>
        </p:txBody>
      </p:sp>
      <p:sp>
        <p:nvSpPr>
          <p:cNvPr id="18" name="矩形 17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</a:t>
            </a: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限定数据类型 □</a:t>
            </a:r>
          </a:p>
        </p:txBody>
      </p:sp>
      <p:sp>
        <p:nvSpPr>
          <p:cNvPr id="19" name="矩形 18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整型</a:t>
            </a:r>
          </a:p>
        </p:txBody>
      </p:sp>
      <p:sp>
        <p:nvSpPr>
          <p:cNvPr id="20" name="矩形 19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浮点型</a:t>
            </a:r>
          </a:p>
        </p:txBody>
      </p:sp>
      <p:sp>
        <p:nvSpPr>
          <p:cNvPr id="21" name="矩形 20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字符型</a:t>
            </a:r>
          </a:p>
        </p:txBody>
      </p:sp>
      <p:sp>
        <p:nvSpPr>
          <p:cNvPr id="22" name="矩形 21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布尔型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547"/>
    </mc:Choice>
    <mc:Fallback xmlns="">
      <p:transition spd="slow" advTm="12547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浮点型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浮点数</a:t>
            </a:r>
            <a:r>
              <a:rPr lang="zh-CN" altLang="en-US" dirty="0">
                <a:solidFill>
                  <a:srgbClr val="FF0000"/>
                </a:solidFill>
              </a:rPr>
              <a:t>无法表示</a:t>
            </a:r>
            <a:r>
              <a:rPr lang="zh-CN" altLang="en-US" dirty="0"/>
              <a:t>全部的实数</a:t>
            </a:r>
            <a:endParaRPr lang="en-US" altLang="zh-CN" dirty="0"/>
          </a:p>
          <a:p>
            <a:pPr lvl="1"/>
            <a:r>
              <a:rPr lang="zh-CN" altLang="en-US" dirty="0"/>
              <a:t>浮点数最接近</a:t>
            </a:r>
            <a:r>
              <a:rPr lang="en-US" altLang="zh-CN" dirty="0"/>
              <a:t>0</a:t>
            </a:r>
            <a:r>
              <a:rPr lang="zh-CN" altLang="en-US" dirty="0"/>
              <a:t>的值</a:t>
            </a:r>
            <a:endParaRPr lang="en-US" altLang="zh-CN" dirty="0"/>
          </a:p>
          <a:p>
            <a:r>
              <a:rPr lang="zh-CN" altLang="en-US" dirty="0"/>
              <a:t>浮点数表示的实数通常是近似值</a:t>
            </a:r>
            <a:endParaRPr lang="en-US" altLang="zh-CN" dirty="0"/>
          </a:p>
          <a:p>
            <a:pPr lvl="1"/>
            <a:r>
              <a:rPr lang="zh-CN" altLang="en-US" dirty="0"/>
              <a:t>位数有限制，无法在有效的范围内表示</a:t>
            </a:r>
            <a:endParaRPr lang="en-US" altLang="zh-CN" dirty="0"/>
          </a:p>
          <a:p>
            <a:pPr lvl="1"/>
            <a:endParaRPr lang="en-US" altLang="zh-CN" dirty="0"/>
          </a:p>
          <a:p>
            <a:endParaRPr lang="zh-CN" altLang="en-US" dirty="0"/>
          </a:p>
        </p:txBody>
      </p:sp>
      <p:sp>
        <p:nvSpPr>
          <p:cNvPr id="6" name="矩形 5">
            <a:hlinkClick r:id="rId2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 □</a:t>
            </a: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 ■</a:t>
            </a: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复合数据类型 □</a:t>
            </a: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</a:t>
            </a: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限定数据类型 □</a:t>
            </a: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整型</a:t>
            </a: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浮点型</a:t>
            </a:r>
          </a:p>
        </p:txBody>
      </p:sp>
      <p:sp>
        <p:nvSpPr>
          <p:cNvPr id="12" name="矩形 11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字符型</a:t>
            </a:r>
          </a:p>
        </p:txBody>
      </p:sp>
      <p:sp>
        <p:nvSpPr>
          <p:cNvPr id="13" name="矩形 12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布尔型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524"/>
    </mc:Choice>
    <mc:Fallback xmlns="">
      <p:transition spd="slow" advTm="21524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</a:pPr>
            <a:r>
              <a:rPr lang="zh-CN" altLang="en-US" dirty="0"/>
              <a:t>表示单个字符</a:t>
            </a:r>
            <a:endParaRPr lang="en-US" altLang="zh-CN" dirty="0"/>
          </a:p>
          <a:p>
            <a:pPr lvl="1">
              <a:spcBef>
                <a:spcPts val="0"/>
              </a:spcBef>
            </a:pPr>
            <a:r>
              <a:rPr lang="zh-CN" altLang="en-US" dirty="0"/>
              <a:t>基本字符</a:t>
            </a:r>
            <a:r>
              <a:rPr lang="en-US" altLang="zh-CN" dirty="0"/>
              <a:t>96</a:t>
            </a:r>
            <a:r>
              <a:rPr lang="zh-CN" altLang="en-US" dirty="0"/>
              <a:t>个</a:t>
            </a:r>
            <a:endParaRPr lang="en-US" altLang="zh-CN" dirty="0"/>
          </a:p>
          <a:p>
            <a:pPr lvl="1">
              <a:spcBef>
                <a:spcPts val="0"/>
              </a:spcBef>
            </a:pPr>
            <a:r>
              <a:rPr lang="zh-CN" altLang="en-US" dirty="0"/>
              <a:t>控制字符</a:t>
            </a:r>
            <a:r>
              <a:rPr lang="en-US" altLang="zh-CN" dirty="0"/>
              <a:t>33</a:t>
            </a:r>
            <a:r>
              <a:rPr lang="zh-CN" altLang="en-US" dirty="0"/>
              <a:t>个</a:t>
            </a:r>
            <a:endParaRPr lang="en-US" altLang="zh-CN" dirty="0"/>
          </a:p>
          <a:p>
            <a:pPr>
              <a:spcBef>
                <a:spcPts val="600"/>
              </a:spcBef>
            </a:pPr>
            <a:r>
              <a:rPr lang="en-US" altLang="zh-CN" dirty="0"/>
              <a:t>ASCII</a:t>
            </a:r>
            <a:r>
              <a:rPr lang="zh-CN" altLang="en-US" dirty="0"/>
              <a:t>字符占</a:t>
            </a:r>
            <a:r>
              <a:rPr lang="en-US" altLang="zh-CN" dirty="0"/>
              <a:t>1</a:t>
            </a:r>
            <a:r>
              <a:rPr lang="zh-CN" altLang="en-US" dirty="0"/>
              <a:t>个字节的存储空间</a:t>
            </a:r>
            <a:endParaRPr lang="en-US" altLang="zh-CN" dirty="0"/>
          </a:p>
          <a:p>
            <a:pPr>
              <a:spcBef>
                <a:spcPts val="600"/>
              </a:spcBef>
            </a:pPr>
            <a:r>
              <a:rPr lang="zh-CN" altLang="en-US" dirty="0"/>
              <a:t>字符型的修饰符</a:t>
            </a:r>
            <a:endParaRPr lang="en-US" altLang="zh-CN" dirty="0"/>
          </a:p>
          <a:p>
            <a:pPr lvl="1">
              <a:spcBef>
                <a:spcPts val="600"/>
              </a:spcBef>
            </a:pPr>
            <a:r>
              <a:rPr lang="zh-CN" altLang="en-US" dirty="0"/>
              <a:t>用</a:t>
            </a:r>
            <a:r>
              <a:rPr lang="en-US" altLang="zh-CN" dirty="0"/>
              <a:t>signed </a:t>
            </a:r>
            <a:r>
              <a:rPr lang="zh-CN" altLang="en-US" dirty="0"/>
              <a:t>和</a:t>
            </a:r>
            <a:r>
              <a:rPr lang="en-US" altLang="zh-CN" dirty="0"/>
              <a:t>unsigned</a:t>
            </a:r>
            <a:r>
              <a:rPr lang="zh-CN" altLang="en-US" dirty="0"/>
              <a:t>描述</a:t>
            </a:r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字符型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259632" y="4681944"/>
          <a:ext cx="691276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9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6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33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536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类型描述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字长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取值范围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简写</a:t>
                      </a: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char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-128~127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char</a:t>
                      </a:r>
                      <a:endParaRPr lang="zh-CN" altLang="en-US" dirty="0"/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signed char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-128~127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char</a:t>
                      </a:r>
                      <a:endParaRPr lang="zh-CN" altLang="en-US" dirty="0"/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unsigned char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0~255</a:t>
                      </a:r>
                      <a:endParaRPr lang="zh-CN" alt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unsigned char</a:t>
                      </a:r>
                      <a:endParaRPr lang="zh-CN" altLang="en-US" dirty="0"/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矩形 12">
            <a:hlinkClick r:id="rId4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 □</a:t>
            </a:r>
          </a:p>
        </p:txBody>
      </p:sp>
      <p:sp>
        <p:nvSpPr>
          <p:cNvPr id="14" name="矩形 13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 ■</a:t>
            </a:r>
          </a:p>
        </p:txBody>
      </p:sp>
      <p:sp>
        <p:nvSpPr>
          <p:cNvPr id="15" name="矩形 14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复合数据类型 □</a:t>
            </a:r>
          </a:p>
        </p:txBody>
      </p:sp>
      <p:sp>
        <p:nvSpPr>
          <p:cNvPr id="16" name="矩形 15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</a:t>
            </a: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限定数据类型 □</a:t>
            </a:r>
          </a:p>
        </p:txBody>
      </p:sp>
      <p:sp>
        <p:nvSpPr>
          <p:cNvPr id="17" name="矩形 16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整型</a:t>
            </a:r>
          </a:p>
        </p:txBody>
      </p:sp>
      <p:sp>
        <p:nvSpPr>
          <p:cNvPr id="18" name="矩形 17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浮点型</a:t>
            </a:r>
          </a:p>
        </p:txBody>
      </p:sp>
      <p:sp>
        <p:nvSpPr>
          <p:cNvPr id="19" name="矩形 18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字符型</a:t>
            </a:r>
          </a:p>
        </p:txBody>
      </p:sp>
      <p:sp>
        <p:nvSpPr>
          <p:cNvPr id="20" name="矩形 19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布尔型</a:t>
            </a:r>
          </a:p>
        </p:txBody>
      </p:sp>
      <p:pic>
        <p:nvPicPr>
          <p:cNvPr id="7" name="音频 6">
            <a:hlinkClick r:id="" action="ppaction://media"/>
            <a:extLst>
              <a:ext uri="{FF2B5EF4-FFF2-40B4-BE49-F238E27FC236}">
                <a16:creationId xmlns:a16="http://schemas.microsoft.com/office/drawing/2014/main" id="{343D1FB1-B98A-4163-8F6F-428EED29EC2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623300" y="6337300"/>
            <a:ext cx="304800" cy="304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858"/>
    </mc:Choice>
    <mc:Fallback xmlns="">
      <p:transition spd="slow" advTm="1285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ASCII</a:t>
            </a:r>
            <a:r>
              <a:rPr lang="zh-CN" altLang="en-US" dirty="0"/>
              <a:t>字符型与整型的关系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60" y="1988840"/>
            <a:ext cx="7992888" cy="4439986"/>
          </a:xfrm>
        </p:spPr>
        <p:txBody>
          <a:bodyPr/>
          <a:lstStyle/>
          <a:p>
            <a:r>
              <a:rPr lang="zh-CN" altLang="en-US" dirty="0"/>
              <a:t>字符型数据与在其表示范围内的整数等价</a:t>
            </a:r>
            <a:endParaRPr lang="en-US" altLang="zh-CN" dirty="0"/>
          </a:p>
          <a:p>
            <a:pPr lvl="1"/>
            <a:r>
              <a:rPr lang="zh-CN" altLang="en-US" dirty="0"/>
              <a:t>将字符型数据设置为整数</a:t>
            </a:r>
            <a:endParaRPr lang="en-US" altLang="zh-CN" dirty="0"/>
          </a:p>
          <a:p>
            <a:pPr marL="914400" lvl="2" indent="0">
              <a:buNone/>
            </a:pP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myChar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= 97;</a:t>
            </a:r>
          </a:p>
          <a:p>
            <a:pPr lvl="1"/>
            <a:r>
              <a:rPr lang="zh-CN" altLang="en-US" dirty="0"/>
              <a:t>将整型数据设置字符型</a:t>
            </a:r>
            <a:endParaRPr lang="en-US" altLang="zh-CN" dirty="0"/>
          </a:p>
          <a:p>
            <a:pPr marL="914400" lvl="2" indent="0">
              <a:buNone/>
            </a:pPr>
            <a:r>
              <a:rPr lang="en-US" altLang="zh-CN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myInt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= 'a';</a:t>
            </a:r>
          </a:p>
          <a:p>
            <a:pPr lvl="1"/>
            <a:r>
              <a:rPr lang="zh-CN" altLang="en-US" dirty="0"/>
              <a:t>将字符型数据强制转换为整数</a:t>
            </a:r>
            <a:endParaRPr lang="en-US" altLang="zh-CN" dirty="0"/>
          </a:p>
          <a:p>
            <a:pPr marL="914400" lvl="2" indent="0">
              <a:buNone/>
            </a:pP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myChar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= 'a';</a:t>
            </a:r>
          </a:p>
          <a:p>
            <a:pPr marL="914400" lvl="2" indent="0">
              <a:buNone/>
            </a:pPr>
            <a:r>
              <a:rPr lang="en-US" altLang="zh-CN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b = </a:t>
            </a:r>
            <a:r>
              <a:rPr lang="en-US" altLang="zh-CN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static_cast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zh-CN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&gt;(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myChar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lvl="1"/>
            <a:r>
              <a:rPr lang="zh-CN" altLang="en-US" dirty="0"/>
              <a:t>将整数强制转换为字符</a:t>
            </a:r>
            <a:endParaRPr lang="en-US" altLang="zh-CN" dirty="0"/>
          </a:p>
          <a:p>
            <a:pPr marL="914400" lvl="2" indent="0">
              <a:buNone/>
            </a:pPr>
            <a:r>
              <a:rPr lang="en-US" altLang="zh-CN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myInt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= 97;</a:t>
            </a:r>
          </a:p>
          <a:p>
            <a:pPr marL="914400" lvl="2" indent="0">
              <a:buNone/>
            </a:pP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b = (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myInt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altLang="zh-CN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//C</a:t>
            </a:r>
            <a:r>
              <a:rPr lang="zh-CN" altLang="en-US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风格的数据类型强制转换</a:t>
            </a:r>
            <a:endParaRPr lang="zh-CN" altLang="en-US" dirty="0">
              <a:solidFill>
                <a:srgbClr val="006600"/>
              </a:solidFill>
            </a:endParaRPr>
          </a:p>
        </p:txBody>
      </p:sp>
      <p:sp>
        <p:nvSpPr>
          <p:cNvPr id="14" name="矩形 13">
            <a:hlinkClick r:id="rId3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 □</a:t>
            </a:r>
          </a:p>
        </p:txBody>
      </p:sp>
      <p:sp>
        <p:nvSpPr>
          <p:cNvPr id="15" name="矩形 14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 ■</a:t>
            </a:r>
          </a:p>
        </p:txBody>
      </p:sp>
      <p:sp>
        <p:nvSpPr>
          <p:cNvPr id="16" name="矩形 15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复合数据类型 □</a:t>
            </a:r>
          </a:p>
        </p:txBody>
      </p:sp>
      <p:sp>
        <p:nvSpPr>
          <p:cNvPr id="17" name="矩形 16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</a:t>
            </a: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限定数据类型 □</a:t>
            </a:r>
          </a:p>
        </p:txBody>
      </p:sp>
      <p:sp>
        <p:nvSpPr>
          <p:cNvPr id="18" name="矩形 17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整型</a:t>
            </a:r>
          </a:p>
        </p:txBody>
      </p:sp>
      <p:sp>
        <p:nvSpPr>
          <p:cNvPr id="19" name="矩形 18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浮点型</a:t>
            </a:r>
          </a:p>
        </p:txBody>
      </p:sp>
      <p:sp>
        <p:nvSpPr>
          <p:cNvPr id="20" name="矩形 19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字符型</a:t>
            </a:r>
          </a:p>
        </p:txBody>
      </p:sp>
      <p:sp>
        <p:nvSpPr>
          <p:cNvPr id="21" name="矩形 20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布尔型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224"/>
    </mc:Choice>
    <mc:Fallback xmlns="">
      <p:transition spd="slow" advTm="49224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Unicode</a:t>
            </a:r>
            <a:r>
              <a:rPr lang="zh-CN" altLang="en-US" dirty="0"/>
              <a:t>字符型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928813"/>
            <a:ext cx="8507288" cy="4500562"/>
          </a:xfrm>
        </p:spPr>
        <p:txBody>
          <a:bodyPr/>
          <a:lstStyle/>
          <a:p>
            <a:r>
              <a:rPr lang="en-US" altLang="zh-CN" dirty="0" err="1"/>
              <a:t>wchar_t</a:t>
            </a:r>
            <a:endParaRPr lang="en-US" altLang="zh-CN" dirty="0"/>
          </a:p>
          <a:p>
            <a:pPr lvl="1"/>
            <a:r>
              <a:rPr lang="zh-CN" altLang="en-US" dirty="0"/>
              <a:t>宽字符型</a:t>
            </a:r>
            <a:endParaRPr lang="en-US" altLang="zh-CN" dirty="0"/>
          </a:p>
          <a:p>
            <a:pPr lvl="1"/>
            <a:r>
              <a:rPr lang="zh-CN" altLang="en-US" dirty="0"/>
              <a:t>可以存储实现方式支持的最大扩展字符集中的所有成员</a:t>
            </a:r>
            <a:endParaRPr lang="en-US" altLang="zh-CN" dirty="0"/>
          </a:p>
          <a:p>
            <a:pPr lvl="1"/>
            <a:r>
              <a:rPr lang="zh-CN" altLang="en-US" dirty="0"/>
              <a:t>为字符型（</a:t>
            </a:r>
            <a:r>
              <a:rPr lang="en-US" altLang="zh-CN" dirty="0"/>
              <a:t>char</a:t>
            </a:r>
            <a:r>
              <a:rPr lang="zh-CN" altLang="en-US" dirty="0"/>
              <a:t>）字面值常量加前缀</a:t>
            </a:r>
            <a:r>
              <a:rPr lang="en-US" altLang="zh-CN" dirty="0"/>
              <a:t>L</a:t>
            </a:r>
          </a:p>
          <a:p>
            <a:pPr lvl="1"/>
            <a:r>
              <a:rPr lang="zh-CN" altLang="en-US" dirty="0"/>
              <a:t>用</a:t>
            </a:r>
            <a:r>
              <a:rPr lang="en-US" altLang="zh-CN" dirty="0" err="1"/>
              <a:t>wcin</a:t>
            </a:r>
            <a:r>
              <a:rPr lang="zh-CN" altLang="en-US" dirty="0"/>
              <a:t>和</a:t>
            </a:r>
            <a:r>
              <a:rPr lang="en-US" altLang="zh-CN" dirty="0" err="1"/>
              <a:t>wcout</a:t>
            </a:r>
            <a:r>
              <a:rPr lang="zh-CN" altLang="en-US" dirty="0"/>
              <a:t>输入和输出</a:t>
            </a:r>
            <a:endParaRPr lang="en-US" altLang="zh-CN" dirty="0"/>
          </a:p>
          <a:p>
            <a:r>
              <a:rPr lang="en-US" altLang="zh-CN" dirty="0"/>
              <a:t>char16_t</a:t>
            </a:r>
          </a:p>
          <a:p>
            <a:pPr lvl="1"/>
            <a:r>
              <a:rPr lang="zh-CN" altLang="en-US" dirty="0"/>
              <a:t>为字符型（</a:t>
            </a:r>
            <a:r>
              <a:rPr lang="en-US" altLang="zh-CN" dirty="0"/>
              <a:t>char</a:t>
            </a:r>
            <a:r>
              <a:rPr lang="zh-CN" altLang="en-US" dirty="0"/>
              <a:t>）字面值常量加前缀</a:t>
            </a:r>
            <a:r>
              <a:rPr lang="en-US" altLang="zh-CN" dirty="0"/>
              <a:t>u</a:t>
            </a:r>
          </a:p>
          <a:p>
            <a:r>
              <a:rPr lang="en-US" altLang="zh-CN" dirty="0"/>
              <a:t>char32_t</a:t>
            </a:r>
          </a:p>
          <a:p>
            <a:pPr lvl="1"/>
            <a:r>
              <a:rPr lang="zh-CN" altLang="en-US" dirty="0"/>
              <a:t>为字符型（</a:t>
            </a:r>
            <a:r>
              <a:rPr lang="en-US" altLang="zh-CN" dirty="0"/>
              <a:t>char</a:t>
            </a:r>
            <a:r>
              <a:rPr lang="zh-CN" altLang="en-US" dirty="0"/>
              <a:t>）字面值常量加前缀</a:t>
            </a:r>
            <a:r>
              <a:rPr lang="en-US" altLang="zh-CN" dirty="0"/>
              <a:t>U</a:t>
            </a:r>
            <a:endParaRPr lang="zh-CN" altLang="en-US" dirty="0"/>
          </a:p>
        </p:txBody>
      </p:sp>
      <p:sp>
        <p:nvSpPr>
          <p:cNvPr id="12" name="矩形 11">
            <a:hlinkClick r:id="rId3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 □</a:t>
            </a:r>
          </a:p>
        </p:txBody>
      </p:sp>
      <p:sp>
        <p:nvSpPr>
          <p:cNvPr id="13" name="矩形 12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 ■</a:t>
            </a:r>
          </a:p>
        </p:txBody>
      </p:sp>
      <p:sp>
        <p:nvSpPr>
          <p:cNvPr id="14" name="矩形 13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复合数据类型 □</a:t>
            </a:r>
          </a:p>
        </p:txBody>
      </p:sp>
      <p:sp>
        <p:nvSpPr>
          <p:cNvPr id="15" name="矩形 14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</a:t>
            </a: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限定数据类型 □</a:t>
            </a:r>
          </a:p>
        </p:txBody>
      </p:sp>
      <p:sp>
        <p:nvSpPr>
          <p:cNvPr id="16" name="矩形 15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整型</a:t>
            </a:r>
          </a:p>
        </p:txBody>
      </p:sp>
      <p:sp>
        <p:nvSpPr>
          <p:cNvPr id="17" name="矩形 16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浮点型</a:t>
            </a:r>
          </a:p>
        </p:txBody>
      </p:sp>
      <p:sp>
        <p:nvSpPr>
          <p:cNvPr id="18" name="矩形 17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字符型</a:t>
            </a:r>
          </a:p>
        </p:txBody>
      </p:sp>
      <p:sp>
        <p:nvSpPr>
          <p:cNvPr id="19" name="矩形 18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布尔型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658"/>
    </mc:Choice>
    <mc:Fallback xmlns="">
      <p:transition spd="slow" advTm="20658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布尔型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用关键字</a:t>
            </a:r>
            <a:r>
              <a:rPr lang="en-US" altLang="zh-CN" dirty="0" err="1"/>
              <a:t>bool</a:t>
            </a:r>
            <a:r>
              <a:rPr lang="zh-CN" altLang="en-US" dirty="0"/>
              <a:t>描述，布尔型只包含两个值</a:t>
            </a:r>
            <a:endParaRPr lang="en-US" altLang="zh-CN" dirty="0"/>
          </a:p>
          <a:p>
            <a:pPr lvl="1"/>
            <a:r>
              <a:rPr lang="zh-CN" altLang="en-US" dirty="0"/>
              <a:t>真值：</a:t>
            </a:r>
            <a:r>
              <a:rPr lang="en-US" altLang="zh-CN" dirty="0"/>
              <a:t>true</a:t>
            </a:r>
            <a:r>
              <a:rPr lang="zh-CN" altLang="en-US" dirty="0"/>
              <a:t>，表示逻辑真</a:t>
            </a:r>
            <a:endParaRPr lang="en-US" altLang="zh-CN" dirty="0"/>
          </a:p>
          <a:p>
            <a:pPr lvl="1"/>
            <a:r>
              <a:rPr lang="zh-CN" altLang="en-US" dirty="0"/>
              <a:t>假值：</a:t>
            </a:r>
            <a:r>
              <a:rPr lang="en-US" altLang="zh-CN" dirty="0"/>
              <a:t>false</a:t>
            </a:r>
            <a:r>
              <a:rPr lang="zh-CN" altLang="en-US" dirty="0"/>
              <a:t>，表示逻辑假</a:t>
            </a:r>
            <a:endParaRPr lang="en-US" altLang="zh-CN" dirty="0"/>
          </a:p>
          <a:p>
            <a:r>
              <a:rPr lang="zh-CN" altLang="en-US" dirty="0"/>
              <a:t>含义</a:t>
            </a:r>
            <a:endParaRPr lang="en-US" altLang="zh-CN" dirty="0"/>
          </a:p>
          <a:p>
            <a:pPr lvl="1"/>
            <a:r>
              <a:rPr lang="zh-CN" altLang="en-US" dirty="0"/>
              <a:t>逻辑表达式或关系表达式的值</a:t>
            </a:r>
            <a:endParaRPr lang="en-US" altLang="zh-CN" dirty="0"/>
          </a:p>
          <a:p>
            <a:pPr lvl="1"/>
            <a:r>
              <a:rPr lang="zh-CN" altLang="en-US" dirty="0"/>
              <a:t>参加逻辑运算</a:t>
            </a:r>
            <a:endParaRPr lang="en-US" altLang="zh-CN" dirty="0"/>
          </a:p>
        </p:txBody>
      </p:sp>
      <p:sp>
        <p:nvSpPr>
          <p:cNvPr id="14" name="矩形 13">
            <a:hlinkClick r:id="rId2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 □</a:t>
            </a:r>
          </a:p>
        </p:txBody>
      </p:sp>
      <p:sp>
        <p:nvSpPr>
          <p:cNvPr id="15" name="矩形 14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 ■</a:t>
            </a:r>
          </a:p>
        </p:txBody>
      </p:sp>
      <p:sp>
        <p:nvSpPr>
          <p:cNvPr id="16" name="矩形 15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复合数据类型 □</a:t>
            </a:r>
          </a:p>
        </p:txBody>
      </p:sp>
      <p:sp>
        <p:nvSpPr>
          <p:cNvPr id="17" name="矩形 16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</a:t>
            </a: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限定数据类型 □</a:t>
            </a:r>
          </a:p>
        </p:txBody>
      </p:sp>
      <p:sp>
        <p:nvSpPr>
          <p:cNvPr id="18" name="矩形 17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整型</a:t>
            </a:r>
          </a:p>
        </p:txBody>
      </p:sp>
      <p:sp>
        <p:nvSpPr>
          <p:cNvPr id="19" name="矩形 18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浮点型</a:t>
            </a:r>
          </a:p>
        </p:txBody>
      </p:sp>
      <p:sp>
        <p:nvSpPr>
          <p:cNvPr id="20" name="矩形 19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字符型</a:t>
            </a:r>
          </a:p>
        </p:txBody>
      </p:sp>
      <p:sp>
        <p:nvSpPr>
          <p:cNvPr id="21" name="矩形 20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布尔型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682"/>
    </mc:Choice>
    <mc:Fallback xmlns="">
      <p:transition spd="slow" advTm="16682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布尔型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布尔型和整型的关系</a:t>
            </a:r>
            <a:endParaRPr lang="en-US" altLang="zh-CN" dirty="0"/>
          </a:p>
          <a:p>
            <a:pPr lvl="1"/>
            <a:r>
              <a:rPr lang="en-US" altLang="zh-CN" dirty="0"/>
              <a:t>true</a:t>
            </a:r>
            <a:r>
              <a:rPr lang="zh-CN" altLang="en-US" dirty="0"/>
              <a:t>与非</a:t>
            </a:r>
            <a:r>
              <a:rPr lang="en-US" altLang="zh-CN" dirty="0"/>
              <a:t>0</a:t>
            </a:r>
            <a:r>
              <a:rPr lang="zh-CN" altLang="en-US" dirty="0"/>
              <a:t>整数等价</a:t>
            </a:r>
            <a:endParaRPr lang="en-US" altLang="zh-CN" dirty="0"/>
          </a:p>
          <a:p>
            <a:pPr lvl="2"/>
            <a:r>
              <a:rPr lang="zh-CN" altLang="en-US" dirty="0"/>
              <a:t>如果整型数据的值为</a:t>
            </a:r>
            <a:r>
              <a:rPr lang="en-US" altLang="zh-CN" dirty="0"/>
              <a:t>-1</a:t>
            </a:r>
            <a:r>
              <a:rPr lang="zh-CN" altLang="en-US" dirty="0"/>
              <a:t>，则其布尔值为</a:t>
            </a:r>
            <a:r>
              <a:rPr lang="en-US" altLang="zh-CN" dirty="0"/>
              <a:t>true</a:t>
            </a:r>
          </a:p>
          <a:p>
            <a:pPr lvl="2"/>
            <a:r>
              <a:rPr lang="zh-CN" altLang="en-US" dirty="0"/>
              <a:t>如果某个布尔型数据的值为</a:t>
            </a:r>
            <a:r>
              <a:rPr lang="en-US" altLang="zh-CN" dirty="0"/>
              <a:t>true</a:t>
            </a:r>
            <a:r>
              <a:rPr lang="zh-CN" altLang="en-US" dirty="0"/>
              <a:t>，则其整数值为</a:t>
            </a:r>
            <a:r>
              <a:rPr lang="en-US" altLang="zh-CN" dirty="0"/>
              <a:t>1</a:t>
            </a:r>
          </a:p>
          <a:p>
            <a:pPr lvl="1"/>
            <a:r>
              <a:rPr lang="en-US" altLang="zh-CN" dirty="0"/>
              <a:t>false</a:t>
            </a:r>
            <a:r>
              <a:rPr lang="zh-CN" altLang="en-US" dirty="0"/>
              <a:t>与整数</a:t>
            </a:r>
            <a:r>
              <a:rPr lang="en-US" altLang="zh-CN" dirty="0"/>
              <a:t>0</a:t>
            </a:r>
            <a:r>
              <a:rPr lang="zh-CN" altLang="en-US" dirty="0"/>
              <a:t>等价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35460" y="4186240"/>
            <a:ext cx="2594000" cy="885825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</p:spPr>
      </p:pic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35460" y="5257803"/>
            <a:ext cx="1686099" cy="439737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</p:spPr>
      </p:pic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067944" y="4186240"/>
            <a:ext cx="2594000" cy="885825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</p:spPr>
      </p:pic>
      <p:pic>
        <p:nvPicPr>
          <p:cNvPr id="13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067946" y="5257803"/>
            <a:ext cx="1686100" cy="439737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</p:spPr>
      </p:pic>
      <p:sp>
        <p:nvSpPr>
          <p:cNvPr id="22" name="矩形 21">
            <a:hlinkClick r:id="rId6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 □</a:t>
            </a:r>
          </a:p>
        </p:txBody>
      </p:sp>
      <p:sp>
        <p:nvSpPr>
          <p:cNvPr id="23" name="矩形 22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 ■</a:t>
            </a:r>
          </a:p>
        </p:txBody>
      </p:sp>
      <p:sp>
        <p:nvSpPr>
          <p:cNvPr id="24" name="矩形 23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复合数据类型 □</a:t>
            </a:r>
          </a:p>
        </p:txBody>
      </p:sp>
      <p:sp>
        <p:nvSpPr>
          <p:cNvPr id="25" name="矩形 24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</a:t>
            </a: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限定数据类型 □</a:t>
            </a:r>
          </a:p>
        </p:txBody>
      </p:sp>
      <p:sp>
        <p:nvSpPr>
          <p:cNvPr id="26" name="矩形 25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整型</a:t>
            </a:r>
          </a:p>
        </p:txBody>
      </p:sp>
      <p:sp>
        <p:nvSpPr>
          <p:cNvPr id="27" name="矩形 26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浮点型</a:t>
            </a:r>
          </a:p>
        </p:txBody>
      </p:sp>
      <p:sp>
        <p:nvSpPr>
          <p:cNvPr id="28" name="矩形 27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字符型</a:t>
            </a:r>
          </a:p>
        </p:txBody>
      </p:sp>
      <p:sp>
        <p:nvSpPr>
          <p:cNvPr id="29" name="矩形 28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布尔型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583"/>
    </mc:Choice>
    <mc:Fallback xmlns="">
      <p:transition spd="slow" advTm="39583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无值型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用关键字</a:t>
            </a:r>
            <a:r>
              <a:rPr lang="en-US" altLang="zh-CN" dirty="0"/>
              <a:t>void</a:t>
            </a:r>
            <a:r>
              <a:rPr lang="zh-CN" altLang="en-US" dirty="0"/>
              <a:t>描述无值型</a:t>
            </a:r>
            <a:endParaRPr lang="en-US" altLang="zh-CN" dirty="0"/>
          </a:p>
          <a:p>
            <a:pPr lvl="1"/>
            <a:r>
              <a:rPr lang="zh-CN" altLang="en-US" dirty="0"/>
              <a:t>无值型的值域为空集</a:t>
            </a:r>
            <a:endParaRPr lang="en-US" altLang="zh-CN" dirty="0"/>
          </a:p>
          <a:p>
            <a:r>
              <a:rPr lang="zh-CN" altLang="en-US" dirty="0"/>
              <a:t>主要应用</a:t>
            </a:r>
            <a:endParaRPr lang="en-US" altLang="zh-CN" dirty="0"/>
          </a:p>
          <a:p>
            <a:pPr lvl="1"/>
            <a:r>
              <a:rPr lang="zh-CN" altLang="en-US" dirty="0"/>
              <a:t>声明函数的返回值</a:t>
            </a:r>
            <a:endParaRPr lang="en-US" altLang="zh-CN" dirty="0"/>
          </a:p>
          <a:p>
            <a:pPr lvl="1"/>
            <a:r>
              <a:rPr lang="zh-CN" altLang="en-US" dirty="0"/>
              <a:t>声明函数的参数</a:t>
            </a:r>
            <a:endParaRPr lang="en-US" altLang="zh-CN" dirty="0"/>
          </a:p>
          <a:p>
            <a:pPr lvl="1"/>
            <a:r>
              <a:rPr lang="zh-CN" altLang="en-US" dirty="0"/>
              <a:t>声明指针</a:t>
            </a:r>
            <a:endParaRPr lang="en-US" altLang="zh-CN" dirty="0"/>
          </a:p>
          <a:p>
            <a:pPr lvl="2"/>
            <a:r>
              <a:rPr lang="en-US" altLang="zh-CN" dirty="0"/>
              <a:t>void *&lt;</a:t>
            </a:r>
            <a:r>
              <a:rPr lang="zh-CN" altLang="en-US" dirty="0"/>
              <a:t>指针变量名</a:t>
            </a:r>
            <a:r>
              <a:rPr lang="en-US" altLang="zh-CN" dirty="0"/>
              <a:t>&gt;</a:t>
            </a:r>
          </a:p>
          <a:p>
            <a:pPr lvl="3"/>
            <a:r>
              <a:rPr lang="zh-CN" altLang="en-US" dirty="0"/>
              <a:t>该指针可以指向任何数据类型</a:t>
            </a:r>
            <a:endParaRPr lang="en-US" altLang="zh-CN" dirty="0"/>
          </a:p>
          <a:p>
            <a:r>
              <a:rPr lang="zh-CN" altLang="en-US" dirty="0"/>
              <a:t>不能用</a:t>
            </a:r>
            <a:r>
              <a:rPr lang="en-US" altLang="zh-CN" dirty="0"/>
              <a:t>void</a:t>
            </a:r>
            <a:r>
              <a:rPr lang="zh-CN" altLang="en-US" dirty="0"/>
              <a:t>类型声明变量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54205" y="3071813"/>
            <a:ext cx="1153715" cy="336550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54205" y="3571875"/>
            <a:ext cx="1564481" cy="336550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</p:spPr>
      </p:pic>
      <p:sp>
        <p:nvSpPr>
          <p:cNvPr id="10" name="矩形 9">
            <a:hlinkClick r:id="rId4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 □</a:t>
            </a: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 ■</a:t>
            </a:r>
          </a:p>
        </p:txBody>
      </p:sp>
      <p:sp>
        <p:nvSpPr>
          <p:cNvPr id="12" name="矩形 11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复合数据类型 □</a:t>
            </a:r>
          </a:p>
        </p:txBody>
      </p:sp>
      <p:sp>
        <p:nvSpPr>
          <p:cNvPr id="13" name="矩形 12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</a:t>
            </a: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限定数据类型 □</a:t>
            </a:r>
          </a:p>
        </p:txBody>
      </p:sp>
      <p:sp>
        <p:nvSpPr>
          <p:cNvPr id="14" name="矩形 13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无值型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067"/>
    </mc:Choice>
    <mc:Fallback xmlns="">
      <p:transition spd="slow" advTm="15067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34"/>
          <p:cNvGrpSpPr/>
          <p:nvPr/>
        </p:nvGrpSpPr>
        <p:grpSpPr bwMode="auto">
          <a:xfrm>
            <a:off x="1664047" y="2276872"/>
            <a:ext cx="5356225" cy="795330"/>
            <a:chOff x="1643042" y="3209740"/>
            <a:chExt cx="5356246" cy="795334"/>
          </a:xfrm>
        </p:grpSpPr>
        <p:sp>
          <p:nvSpPr>
            <p:cNvPr id="14" name="五边形 13"/>
            <p:cNvSpPr/>
            <p:nvPr/>
          </p:nvSpPr>
          <p:spPr bwMode="auto">
            <a:xfrm flipH="1">
              <a:off x="2041506" y="3209740"/>
              <a:ext cx="4957782" cy="792166"/>
            </a:xfrm>
            <a:prstGeom prst="homePlate">
              <a:avLst/>
            </a:prstGeom>
            <a:gradFill flip="none" rotWithShape="1">
              <a:gsLst>
                <a:gs pos="0">
                  <a:schemeClr val="tx2">
                    <a:shade val="30000"/>
                    <a:satMod val="115000"/>
                  </a:schemeClr>
                </a:gs>
                <a:gs pos="50000">
                  <a:schemeClr val="tx2">
                    <a:shade val="67500"/>
                    <a:satMod val="115000"/>
                  </a:schemeClr>
                </a:gs>
                <a:gs pos="100000">
                  <a:schemeClr val="tx2">
                    <a:shade val="100000"/>
                    <a:satMod val="115000"/>
                  </a:schemeClr>
                </a:gs>
              </a:gsLst>
              <a:lin ang="1890000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3200" kern="0" dirty="0">
                <a:solidFill>
                  <a:sysClr val="window" lastClr="FFFFFF"/>
                </a:solidFill>
                <a:latin typeface="Arial" panose="020B0604020202020204"/>
                <a:ea typeface="黑体" panose="02010609060101010101" pitchFamily="2" charset="-122"/>
              </a:endParaRPr>
            </a:p>
          </p:txBody>
        </p:sp>
        <p:grpSp>
          <p:nvGrpSpPr>
            <p:cNvPr id="3" name="组合 19"/>
            <p:cNvGrpSpPr/>
            <p:nvPr/>
          </p:nvGrpSpPr>
          <p:grpSpPr bwMode="auto">
            <a:xfrm>
              <a:off x="1643042" y="3216082"/>
              <a:ext cx="792165" cy="788992"/>
              <a:chOff x="854055" y="2573140"/>
              <a:chExt cx="792165" cy="788992"/>
            </a:xfrm>
          </p:grpSpPr>
          <p:sp>
            <p:nvSpPr>
              <p:cNvPr id="27" name="椭圆 26"/>
              <p:cNvSpPr>
                <a:spLocks noChangeAspect="1"/>
              </p:cNvSpPr>
              <p:nvPr/>
            </p:nvSpPr>
            <p:spPr bwMode="auto">
              <a:xfrm>
                <a:off x="857230" y="2573140"/>
                <a:ext cx="788990" cy="788992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pic>
            <p:nvPicPr>
              <p:cNvPr id="4116" name="图片 22" descr="NANKAI.png"/>
              <p:cNvPicPr>
                <a:picLocks noChangeAspect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854055" y="2573140"/>
                <a:ext cx="788987" cy="7889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  <p:grpSp>
        <p:nvGrpSpPr>
          <p:cNvPr id="22" name="组合 34"/>
          <p:cNvGrpSpPr/>
          <p:nvPr/>
        </p:nvGrpSpPr>
        <p:grpSpPr bwMode="auto">
          <a:xfrm>
            <a:off x="1664047" y="1340768"/>
            <a:ext cx="5356225" cy="796925"/>
            <a:chOff x="1643042" y="4143380"/>
            <a:chExt cx="5356246" cy="796929"/>
          </a:xfrm>
        </p:grpSpPr>
        <p:sp>
          <p:nvSpPr>
            <p:cNvPr id="25" name="五边形 24"/>
            <p:cNvSpPr/>
            <p:nvPr/>
          </p:nvSpPr>
          <p:spPr bwMode="auto">
            <a:xfrm flipH="1">
              <a:off x="2041506" y="4146556"/>
              <a:ext cx="4957782" cy="793753"/>
            </a:xfrm>
            <a:prstGeom prst="homePlate">
              <a:avLst/>
            </a:prstGeom>
            <a:gradFill flip="none" rotWithShape="1">
              <a:gsLst>
                <a:gs pos="0">
                  <a:schemeClr val="tx2">
                    <a:shade val="30000"/>
                    <a:satMod val="115000"/>
                  </a:schemeClr>
                </a:gs>
                <a:gs pos="50000">
                  <a:schemeClr val="tx2">
                    <a:shade val="67500"/>
                    <a:satMod val="115000"/>
                  </a:schemeClr>
                </a:gs>
                <a:gs pos="100000">
                  <a:schemeClr val="tx2">
                    <a:shade val="100000"/>
                    <a:satMod val="115000"/>
                  </a:schemeClr>
                </a:gs>
              </a:gsLst>
              <a:lin ang="1890000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3200" kern="0" dirty="0">
                <a:solidFill>
                  <a:sysClr val="window" lastClr="FFFFFF"/>
                </a:solidFill>
                <a:latin typeface="Arial" panose="020B0604020202020204"/>
                <a:ea typeface="黑体" panose="02010609060101010101" pitchFamily="2" charset="-122"/>
              </a:endParaRPr>
            </a:p>
          </p:txBody>
        </p:sp>
        <p:grpSp>
          <p:nvGrpSpPr>
            <p:cNvPr id="32" name="组合 28"/>
            <p:cNvGrpSpPr/>
            <p:nvPr/>
          </p:nvGrpSpPr>
          <p:grpSpPr bwMode="auto">
            <a:xfrm>
              <a:off x="1643042" y="4143380"/>
              <a:ext cx="792156" cy="788988"/>
              <a:chOff x="854055" y="1643050"/>
              <a:chExt cx="792156" cy="788988"/>
            </a:xfrm>
          </p:grpSpPr>
          <p:sp>
            <p:nvSpPr>
              <p:cNvPr id="37" name="椭圆 36"/>
              <p:cNvSpPr>
                <a:spLocks noChangeAspect="1"/>
              </p:cNvSpPr>
              <p:nvPr/>
            </p:nvSpPr>
            <p:spPr bwMode="auto">
              <a:xfrm>
                <a:off x="857230" y="1643051"/>
                <a:ext cx="788990" cy="788991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pic>
            <p:nvPicPr>
              <p:cNvPr id="38" name="图片 22" descr="NANKAI.png"/>
              <p:cNvPicPr>
                <a:picLocks noChangeAspect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854055" y="1643050"/>
                <a:ext cx="788987" cy="7889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  <p:sp>
        <p:nvSpPr>
          <p:cNvPr id="44" name="TextBox 43"/>
          <p:cNvSpPr txBox="1"/>
          <p:nvPr/>
        </p:nvSpPr>
        <p:spPr>
          <a:xfrm>
            <a:off x="2578223" y="1465557"/>
            <a:ext cx="4320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76760" y="2399193"/>
            <a:ext cx="4320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</a:t>
            </a:r>
            <a:endParaRPr lang="zh-CN" altLang="en-US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9" name="组合 34"/>
          <p:cNvGrpSpPr/>
          <p:nvPr/>
        </p:nvGrpSpPr>
        <p:grpSpPr bwMode="auto">
          <a:xfrm>
            <a:off x="1664047" y="4221088"/>
            <a:ext cx="5356225" cy="1727783"/>
            <a:chOff x="1643042" y="3212518"/>
            <a:chExt cx="5356246" cy="1727791"/>
          </a:xfrm>
        </p:grpSpPr>
        <p:sp>
          <p:nvSpPr>
            <p:cNvPr id="20" name="五边形 19"/>
            <p:cNvSpPr/>
            <p:nvPr/>
          </p:nvSpPr>
          <p:spPr bwMode="auto">
            <a:xfrm flipH="1">
              <a:off x="2041506" y="3212518"/>
              <a:ext cx="4957782" cy="792166"/>
            </a:xfrm>
            <a:prstGeom prst="homePlate">
              <a:avLst/>
            </a:prstGeom>
            <a:gradFill flip="none" rotWithShape="1">
              <a:gsLst>
                <a:gs pos="0">
                  <a:schemeClr val="tx2">
                    <a:shade val="30000"/>
                    <a:satMod val="115000"/>
                  </a:schemeClr>
                </a:gs>
                <a:gs pos="50000">
                  <a:schemeClr val="tx2">
                    <a:shade val="67500"/>
                    <a:satMod val="115000"/>
                  </a:schemeClr>
                </a:gs>
                <a:gs pos="100000">
                  <a:schemeClr val="tx2">
                    <a:shade val="100000"/>
                    <a:satMod val="115000"/>
                  </a:schemeClr>
                </a:gs>
              </a:gsLst>
              <a:lin ang="1890000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3200" kern="0" dirty="0">
                <a:solidFill>
                  <a:sysClr val="window" lastClr="FFFFFF"/>
                </a:solidFill>
                <a:latin typeface="Arial" panose="020B0604020202020204"/>
                <a:ea typeface="黑体" panose="02010609060101010101" pitchFamily="2" charset="-122"/>
              </a:endParaRPr>
            </a:p>
          </p:txBody>
        </p:sp>
        <p:sp>
          <p:nvSpPr>
            <p:cNvPr id="21" name="五边形 20"/>
            <p:cNvSpPr/>
            <p:nvPr/>
          </p:nvSpPr>
          <p:spPr bwMode="auto">
            <a:xfrm flipH="1">
              <a:off x="2041506" y="4146556"/>
              <a:ext cx="4957782" cy="793753"/>
            </a:xfrm>
            <a:prstGeom prst="homePlate">
              <a:avLst/>
            </a:prstGeom>
            <a:gradFill flip="none" rotWithShape="1">
              <a:gsLst>
                <a:gs pos="0">
                  <a:schemeClr val="tx2">
                    <a:shade val="30000"/>
                    <a:satMod val="115000"/>
                  </a:schemeClr>
                </a:gs>
                <a:gs pos="50000">
                  <a:schemeClr val="tx2">
                    <a:shade val="67500"/>
                    <a:satMod val="115000"/>
                  </a:schemeClr>
                </a:gs>
                <a:gs pos="100000">
                  <a:schemeClr val="tx2">
                    <a:shade val="100000"/>
                    <a:satMod val="115000"/>
                  </a:schemeClr>
                </a:gs>
              </a:gsLst>
              <a:lin ang="1890000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3200" kern="0" dirty="0">
                <a:solidFill>
                  <a:sysClr val="window" lastClr="FFFFFF"/>
                </a:solidFill>
                <a:latin typeface="Arial" panose="020B0604020202020204"/>
                <a:ea typeface="黑体" panose="02010609060101010101" pitchFamily="2" charset="-122"/>
              </a:endParaRPr>
            </a:p>
          </p:txBody>
        </p:sp>
        <p:grpSp>
          <p:nvGrpSpPr>
            <p:cNvPr id="24" name="组合 19"/>
            <p:cNvGrpSpPr/>
            <p:nvPr/>
          </p:nvGrpSpPr>
          <p:grpSpPr bwMode="auto">
            <a:xfrm>
              <a:off x="1643042" y="3218860"/>
              <a:ext cx="792165" cy="788993"/>
              <a:chOff x="854055" y="2575918"/>
              <a:chExt cx="792165" cy="788993"/>
            </a:xfrm>
          </p:grpSpPr>
          <p:sp>
            <p:nvSpPr>
              <p:cNvPr id="31" name="椭圆 30"/>
              <p:cNvSpPr>
                <a:spLocks noChangeAspect="1"/>
              </p:cNvSpPr>
              <p:nvPr/>
            </p:nvSpPr>
            <p:spPr bwMode="auto">
              <a:xfrm>
                <a:off x="857230" y="2575919"/>
                <a:ext cx="788990" cy="788992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pic>
            <p:nvPicPr>
              <p:cNvPr id="33" name="图片 22" descr="NANKAI.png"/>
              <p:cNvPicPr>
                <a:picLocks noChangeAspect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854055" y="2575918"/>
                <a:ext cx="788987" cy="7889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grpSp>
          <p:nvGrpSpPr>
            <p:cNvPr id="26" name="组合 28"/>
            <p:cNvGrpSpPr/>
            <p:nvPr/>
          </p:nvGrpSpPr>
          <p:grpSpPr bwMode="auto">
            <a:xfrm>
              <a:off x="1643042" y="4143380"/>
              <a:ext cx="792156" cy="788988"/>
              <a:chOff x="854055" y="1643050"/>
              <a:chExt cx="792156" cy="788988"/>
            </a:xfrm>
          </p:grpSpPr>
          <p:sp>
            <p:nvSpPr>
              <p:cNvPr id="28" name="椭圆 27"/>
              <p:cNvSpPr>
                <a:spLocks noChangeAspect="1"/>
              </p:cNvSpPr>
              <p:nvPr/>
            </p:nvSpPr>
            <p:spPr bwMode="auto">
              <a:xfrm>
                <a:off x="857230" y="1643051"/>
                <a:ext cx="788990" cy="788991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pic>
            <p:nvPicPr>
              <p:cNvPr id="30" name="图片 22" descr="NANKAI.png"/>
              <p:cNvPicPr>
                <a:picLocks noChangeAspect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854055" y="1643050"/>
                <a:ext cx="788987" cy="7889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  <p:sp>
        <p:nvSpPr>
          <p:cNvPr id="34" name="TextBox 33"/>
          <p:cNvSpPr txBox="1"/>
          <p:nvPr/>
        </p:nvSpPr>
        <p:spPr>
          <a:xfrm>
            <a:off x="2578223" y="4340629"/>
            <a:ext cx="4320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r>
              <a:rPr lang="en-US" altLang="zh-CN" dirty="0"/>
              <a:t>CV</a:t>
            </a:r>
            <a:r>
              <a:rPr lang="zh-CN" altLang="en-US" dirty="0"/>
              <a:t>限定数据类型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78223" y="5276733"/>
            <a:ext cx="4320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说明语句</a:t>
            </a:r>
          </a:p>
        </p:txBody>
      </p:sp>
      <p:sp>
        <p:nvSpPr>
          <p:cNvPr id="36" name="五边形 35"/>
          <p:cNvSpPr/>
          <p:nvPr/>
        </p:nvSpPr>
        <p:spPr bwMode="auto">
          <a:xfrm flipH="1">
            <a:off x="2062509" y="3259021"/>
            <a:ext cx="4957763" cy="793750"/>
          </a:xfrm>
          <a:prstGeom prst="homePlate">
            <a:avLst/>
          </a:prstGeom>
          <a:gradFill flip="none" rotWithShape="1">
            <a:gsLst>
              <a:gs pos="0">
                <a:schemeClr val="accent3">
                  <a:lumMod val="75000"/>
                  <a:shade val="30000"/>
                  <a:satMod val="115000"/>
                </a:schemeClr>
              </a:gs>
              <a:gs pos="50000">
                <a:schemeClr val="accent3">
                  <a:lumMod val="75000"/>
                  <a:shade val="67500"/>
                  <a:satMod val="115000"/>
                </a:schemeClr>
              </a:gs>
              <a:gs pos="100000">
                <a:schemeClr val="accent3">
                  <a:lumMod val="75000"/>
                  <a:shade val="100000"/>
                  <a:satMod val="115000"/>
                </a:schemeClr>
              </a:gs>
            </a:gsLst>
            <a:lin ang="18900000" scaled="1"/>
            <a:tileRect/>
          </a:gra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200" kern="0" dirty="0">
              <a:solidFill>
                <a:sysClr val="window" lastClr="FFFFFF"/>
              </a:solidFill>
              <a:latin typeface="Arial" panose="020B0604020202020204"/>
              <a:ea typeface="黑体" panose="02010609060101010101" pitchFamily="2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576760" y="3367054"/>
            <a:ext cx="4320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复合数据类型</a:t>
            </a:r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4156" y="3212976"/>
            <a:ext cx="885840" cy="885840"/>
          </a:xfrm>
          <a:prstGeom prst="rect">
            <a:avLst/>
          </a:prstGeom>
        </p:spPr>
      </p:pic>
      <p:sp>
        <p:nvSpPr>
          <p:cNvPr id="45" name="矩形 44">
            <a:hlinkClick r:id="rId5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 □</a:t>
            </a:r>
          </a:p>
        </p:txBody>
      </p:sp>
      <p:sp>
        <p:nvSpPr>
          <p:cNvPr id="47" name="矩形 46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 □</a:t>
            </a:r>
          </a:p>
        </p:txBody>
      </p:sp>
      <p:sp>
        <p:nvSpPr>
          <p:cNvPr id="48" name="矩形 47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复合数据类型 ■</a:t>
            </a:r>
          </a:p>
        </p:txBody>
      </p:sp>
      <p:sp>
        <p:nvSpPr>
          <p:cNvPr id="49" name="矩形 48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</a:t>
            </a: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限定数据类型 □</a:t>
            </a:r>
          </a:p>
        </p:txBody>
      </p:sp>
      <p:sp>
        <p:nvSpPr>
          <p:cNvPr id="50" name="矩形 49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复合数据类型概览</a:t>
            </a:r>
          </a:p>
        </p:txBody>
      </p:sp>
      <p:sp>
        <p:nvSpPr>
          <p:cNvPr id="51" name="矩形 50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枚举类型</a:t>
            </a:r>
          </a:p>
        </p:txBody>
      </p:sp>
      <p:sp>
        <p:nvSpPr>
          <p:cNvPr id="52" name="矩形 51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字符串类型</a:t>
            </a:r>
          </a:p>
        </p:txBody>
      </p:sp>
      <p:sp>
        <p:nvSpPr>
          <p:cNvPr id="41" name="矩形 40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数据类型的转换</a:t>
            </a:r>
          </a:p>
        </p:txBody>
      </p:sp>
    </p:spTree>
  </p:cSld>
  <p:clrMapOvr>
    <a:masterClrMapping/>
  </p:clrMapOvr>
  <p:transition advTm="3703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复合类型</a:t>
            </a:r>
          </a:p>
        </p:txBody>
      </p:sp>
      <p:sp>
        <p:nvSpPr>
          <p:cNvPr id="4" name="AutoShape 3"/>
          <p:cNvSpPr>
            <a:spLocks noChangeArrowheads="1"/>
          </p:cNvSpPr>
          <p:nvPr/>
        </p:nvSpPr>
        <p:spPr bwMode="gray">
          <a:xfrm rot="19304685">
            <a:off x="5102819" y="3037437"/>
            <a:ext cx="875853" cy="288925"/>
          </a:xfrm>
          <a:prstGeom prst="rightArrow">
            <a:avLst>
              <a:gd name="adj1" fmla="val 35167"/>
              <a:gd name="adj2" fmla="val 111029"/>
            </a:avLst>
          </a:prstGeom>
          <a:gradFill rotWithShape="1">
            <a:gsLst>
              <a:gs pos="0">
                <a:schemeClr val="tx2">
                  <a:gamma/>
                  <a:shade val="89020"/>
                  <a:invGamma/>
                  <a:alpha val="0"/>
                </a:schemeClr>
              </a:gs>
              <a:gs pos="100000">
                <a:schemeClr val="tx2"/>
              </a:gs>
            </a:gsLst>
            <a:lin ang="0" scaled="1"/>
          </a:gradFill>
          <a:ln w="0" algn="ctr">
            <a:noFill/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" name="AutoShape 4"/>
          <p:cNvSpPr>
            <a:spLocks noChangeArrowheads="1"/>
          </p:cNvSpPr>
          <p:nvPr/>
        </p:nvSpPr>
        <p:spPr bwMode="gray">
          <a:xfrm rot="2017609">
            <a:off x="5072682" y="4592633"/>
            <a:ext cx="792162" cy="288925"/>
          </a:xfrm>
          <a:prstGeom prst="rightArrow">
            <a:avLst>
              <a:gd name="adj1" fmla="val 35167"/>
              <a:gd name="adj2" fmla="val 111028"/>
            </a:avLst>
          </a:prstGeom>
          <a:gradFill rotWithShape="1">
            <a:gsLst>
              <a:gs pos="0">
                <a:schemeClr val="tx2">
                  <a:gamma/>
                  <a:shade val="89020"/>
                  <a:invGamma/>
                  <a:alpha val="0"/>
                </a:schemeClr>
              </a:gs>
              <a:gs pos="100000">
                <a:schemeClr val="tx2"/>
              </a:gs>
            </a:gsLst>
            <a:lin ang="0" scaled="1"/>
          </a:gradFill>
          <a:ln w="0" algn="ctr">
            <a:noFill/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AutoShape 5"/>
          <p:cNvSpPr>
            <a:spLocks noChangeArrowheads="1"/>
          </p:cNvSpPr>
          <p:nvPr/>
        </p:nvSpPr>
        <p:spPr bwMode="gray">
          <a:xfrm rot="13524422">
            <a:off x="3088034" y="3081986"/>
            <a:ext cx="805946" cy="288925"/>
          </a:xfrm>
          <a:prstGeom prst="rightArrow">
            <a:avLst>
              <a:gd name="adj1" fmla="val 35167"/>
              <a:gd name="adj2" fmla="val 111029"/>
            </a:avLst>
          </a:prstGeom>
          <a:gradFill rotWithShape="1">
            <a:gsLst>
              <a:gs pos="0">
                <a:schemeClr val="tx2">
                  <a:gamma/>
                  <a:shade val="89020"/>
                  <a:invGamma/>
                  <a:alpha val="0"/>
                </a:schemeClr>
              </a:gs>
              <a:gs pos="100000">
                <a:schemeClr val="tx2"/>
              </a:gs>
            </a:gsLst>
            <a:lin ang="0" scaled="1"/>
          </a:gradFill>
          <a:ln w="0" algn="ctr">
            <a:noFill/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AutoShape 6"/>
          <p:cNvSpPr>
            <a:spLocks noChangeArrowheads="1"/>
          </p:cNvSpPr>
          <p:nvPr/>
        </p:nvSpPr>
        <p:spPr bwMode="gray">
          <a:xfrm rot="8397539">
            <a:off x="3174714" y="4588098"/>
            <a:ext cx="792163" cy="288925"/>
          </a:xfrm>
          <a:prstGeom prst="rightArrow">
            <a:avLst>
              <a:gd name="adj1" fmla="val 35167"/>
              <a:gd name="adj2" fmla="val 111029"/>
            </a:avLst>
          </a:prstGeom>
          <a:gradFill rotWithShape="1">
            <a:gsLst>
              <a:gs pos="0">
                <a:schemeClr val="tx2">
                  <a:gamma/>
                  <a:shade val="89020"/>
                  <a:invGamma/>
                  <a:alpha val="0"/>
                </a:schemeClr>
              </a:gs>
              <a:gs pos="100000">
                <a:schemeClr val="tx2"/>
              </a:gs>
            </a:gsLst>
            <a:lin ang="0" scaled="1"/>
          </a:gradFill>
          <a:ln w="0" algn="ctr">
            <a:noFill/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AutoShape 7"/>
          <p:cNvSpPr>
            <a:spLocks noChangeArrowheads="1"/>
          </p:cNvSpPr>
          <p:nvPr/>
        </p:nvSpPr>
        <p:spPr bwMode="gray">
          <a:xfrm>
            <a:off x="5278557" y="3756819"/>
            <a:ext cx="792163" cy="288925"/>
          </a:xfrm>
          <a:prstGeom prst="rightArrow">
            <a:avLst>
              <a:gd name="adj1" fmla="val 35167"/>
              <a:gd name="adj2" fmla="val 111029"/>
            </a:avLst>
          </a:prstGeom>
          <a:gradFill rotWithShape="1">
            <a:gsLst>
              <a:gs pos="0">
                <a:schemeClr val="tx2">
                  <a:gamma/>
                  <a:shade val="89020"/>
                  <a:invGamma/>
                  <a:alpha val="0"/>
                </a:schemeClr>
              </a:gs>
              <a:gs pos="100000">
                <a:schemeClr val="tx2"/>
              </a:gs>
            </a:gsLst>
            <a:lin ang="0" scaled="1"/>
          </a:gradFill>
          <a:ln w="0" algn="ctr">
            <a:noFill/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AutoShape 8"/>
          <p:cNvSpPr>
            <a:spLocks noChangeArrowheads="1"/>
          </p:cNvSpPr>
          <p:nvPr/>
        </p:nvSpPr>
        <p:spPr bwMode="gray">
          <a:xfrm rot="-10800000">
            <a:off x="2868732" y="3750469"/>
            <a:ext cx="863600" cy="288925"/>
          </a:xfrm>
          <a:prstGeom prst="rightArrow">
            <a:avLst>
              <a:gd name="adj1" fmla="val 35167"/>
              <a:gd name="adj2" fmla="val 121041"/>
            </a:avLst>
          </a:prstGeom>
          <a:gradFill rotWithShape="1">
            <a:gsLst>
              <a:gs pos="0">
                <a:schemeClr val="tx2">
                  <a:gamma/>
                  <a:shade val="89020"/>
                  <a:invGamma/>
                  <a:alpha val="0"/>
                </a:schemeClr>
              </a:gs>
              <a:gs pos="100000">
                <a:schemeClr val="tx2"/>
              </a:gs>
            </a:gsLst>
            <a:lin ang="0" scaled="1"/>
          </a:gradFill>
          <a:ln w="0" algn="ctr">
            <a:noFill/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Oval 9"/>
          <p:cNvSpPr>
            <a:spLocks noChangeArrowheads="1"/>
          </p:cNvSpPr>
          <p:nvPr/>
        </p:nvSpPr>
        <p:spPr bwMode="gray">
          <a:xfrm>
            <a:off x="2614732" y="1988344"/>
            <a:ext cx="3743325" cy="3744912"/>
          </a:xfrm>
          <a:prstGeom prst="ellipse">
            <a:avLst/>
          </a:prstGeom>
          <a:noFill/>
          <a:ln w="38100" algn="ctr">
            <a:solidFill>
              <a:schemeClr val="tx2"/>
            </a:solidFill>
            <a:rou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11" name="Group 10"/>
          <p:cNvGrpSpPr/>
          <p:nvPr/>
        </p:nvGrpSpPr>
        <p:grpSpPr bwMode="auto">
          <a:xfrm>
            <a:off x="2767398" y="2559945"/>
            <a:ext cx="360363" cy="360363"/>
            <a:chOff x="1973" y="1706"/>
            <a:chExt cx="227" cy="227"/>
          </a:xfrm>
        </p:grpSpPr>
        <p:sp>
          <p:nvSpPr>
            <p:cNvPr id="12" name="Oval 11"/>
            <p:cNvSpPr>
              <a:spLocks noChangeArrowheads="1"/>
            </p:cNvSpPr>
            <p:nvPr/>
          </p:nvSpPr>
          <p:spPr bwMode="gray">
            <a:xfrm>
              <a:off x="1973" y="1706"/>
              <a:ext cx="227" cy="227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33725"/>
                    <a:invGamma/>
                  </a:schemeClr>
                </a:gs>
                <a:gs pos="100000">
                  <a:schemeClr val="accent1"/>
                </a:gs>
              </a:gsLst>
              <a:path path="shape">
                <a:fillToRect l="50000" t="50000" r="50000" b="50000"/>
              </a:path>
            </a:gradFill>
            <a:ln w="9525" algn="ctr">
              <a:noFill/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Oval 12"/>
            <p:cNvSpPr>
              <a:spLocks noChangeArrowheads="1"/>
            </p:cNvSpPr>
            <p:nvPr/>
          </p:nvSpPr>
          <p:spPr bwMode="gray">
            <a:xfrm>
              <a:off x="1983" y="1725"/>
              <a:ext cx="141" cy="142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33725"/>
                    <a:invGamma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 w="9525" algn="ctr">
              <a:noFill/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4" name="Group 13"/>
          <p:cNvGrpSpPr/>
          <p:nvPr/>
        </p:nvGrpSpPr>
        <p:grpSpPr bwMode="auto">
          <a:xfrm>
            <a:off x="2406770" y="3702844"/>
            <a:ext cx="360362" cy="360362"/>
            <a:chOff x="1565" y="2659"/>
            <a:chExt cx="227" cy="227"/>
          </a:xfrm>
        </p:grpSpPr>
        <p:sp>
          <p:nvSpPr>
            <p:cNvPr id="15" name="Oval 14"/>
            <p:cNvSpPr>
              <a:spLocks noChangeArrowheads="1"/>
            </p:cNvSpPr>
            <p:nvPr/>
          </p:nvSpPr>
          <p:spPr bwMode="gray">
            <a:xfrm>
              <a:off x="1565" y="2659"/>
              <a:ext cx="227" cy="227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33725"/>
                    <a:invGamma/>
                  </a:schemeClr>
                </a:gs>
                <a:gs pos="100000">
                  <a:schemeClr val="accent1"/>
                </a:gs>
              </a:gsLst>
              <a:path path="shape">
                <a:fillToRect l="50000" t="50000" r="50000" b="50000"/>
              </a:path>
            </a:gradFill>
            <a:ln w="9525" algn="ctr">
              <a:noFill/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Oval 15"/>
            <p:cNvSpPr>
              <a:spLocks noChangeArrowheads="1"/>
            </p:cNvSpPr>
            <p:nvPr/>
          </p:nvSpPr>
          <p:spPr bwMode="gray">
            <a:xfrm>
              <a:off x="1575" y="2678"/>
              <a:ext cx="141" cy="142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33725"/>
                    <a:invGamma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 w="9525" algn="ctr">
              <a:noFill/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7" name="Group 16"/>
          <p:cNvGrpSpPr/>
          <p:nvPr/>
        </p:nvGrpSpPr>
        <p:grpSpPr bwMode="auto">
          <a:xfrm>
            <a:off x="2877177" y="4909343"/>
            <a:ext cx="360362" cy="360362"/>
            <a:chOff x="2109" y="3612"/>
            <a:chExt cx="227" cy="227"/>
          </a:xfrm>
        </p:grpSpPr>
        <p:sp>
          <p:nvSpPr>
            <p:cNvPr id="18" name="Oval 17"/>
            <p:cNvSpPr>
              <a:spLocks noChangeArrowheads="1"/>
            </p:cNvSpPr>
            <p:nvPr/>
          </p:nvSpPr>
          <p:spPr bwMode="gray">
            <a:xfrm>
              <a:off x="2109" y="3612"/>
              <a:ext cx="227" cy="227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33725"/>
                    <a:invGamma/>
                  </a:schemeClr>
                </a:gs>
                <a:gs pos="100000">
                  <a:schemeClr val="accent1"/>
                </a:gs>
              </a:gsLst>
              <a:path path="shape">
                <a:fillToRect l="50000" t="50000" r="50000" b="50000"/>
              </a:path>
            </a:gradFill>
            <a:ln w="9525" algn="ctr">
              <a:noFill/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Oval 18"/>
            <p:cNvSpPr>
              <a:spLocks noChangeArrowheads="1"/>
            </p:cNvSpPr>
            <p:nvPr/>
          </p:nvSpPr>
          <p:spPr bwMode="gray">
            <a:xfrm>
              <a:off x="2119" y="3631"/>
              <a:ext cx="141" cy="142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33725"/>
                    <a:invGamma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 w="9525" algn="ctr">
              <a:noFill/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0" name="Group 19"/>
          <p:cNvGrpSpPr/>
          <p:nvPr/>
        </p:nvGrpSpPr>
        <p:grpSpPr bwMode="auto">
          <a:xfrm>
            <a:off x="5865138" y="2580482"/>
            <a:ext cx="360362" cy="360362"/>
            <a:chOff x="3470" y="1706"/>
            <a:chExt cx="227" cy="227"/>
          </a:xfrm>
        </p:grpSpPr>
        <p:sp>
          <p:nvSpPr>
            <p:cNvPr id="21" name="Oval 20"/>
            <p:cNvSpPr>
              <a:spLocks noChangeArrowheads="1"/>
            </p:cNvSpPr>
            <p:nvPr/>
          </p:nvSpPr>
          <p:spPr bwMode="gray">
            <a:xfrm>
              <a:off x="3470" y="1706"/>
              <a:ext cx="227" cy="227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33725"/>
                    <a:invGamma/>
                  </a:schemeClr>
                </a:gs>
                <a:gs pos="100000">
                  <a:schemeClr val="accent1"/>
                </a:gs>
              </a:gsLst>
              <a:path path="shape">
                <a:fillToRect l="50000" t="50000" r="50000" b="50000"/>
              </a:path>
            </a:gradFill>
            <a:ln w="9525" algn="ctr">
              <a:noFill/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Oval 21"/>
            <p:cNvSpPr>
              <a:spLocks noChangeArrowheads="1"/>
            </p:cNvSpPr>
            <p:nvPr/>
          </p:nvSpPr>
          <p:spPr bwMode="gray">
            <a:xfrm>
              <a:off x="3480" y="1725"/>
              <a:ext cx="141" cy="142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33725"/>
                    <a:invGamma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 w="9525" algn="ctr">
              <a:noFill/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3" name="Group 22"/>
          <p:cNvGrpSpPr/>
          <p:nvPr/>
        </p:nvGrpSpPr>
        <p:grpSpPr bwMode="auto">
          <a:xfrm>
            <a:off x="6150095" y="3702844"/>
            <a:ext cx="360362" cy="360362"/>
            <a:chOff x="3923" y="2659"/>
            <a:chExt cx="227" cy="227"/>
          </a:xfrm>
        </p:grpSpPr>
        <p:sp>
          <p:nvSpPr>
            <p:cNvPr id="24" name="Oval 23"/>
            <p:cNvSpPr>
              <a:spLocks noChangeArrowheads="1"/>
            </p:cNvSpPr>
            <p:nvPr/>
          </p:nvSpPr>
          <p:spPr bwMode="gray">
            <a:xfrm>
              <a:off x="3923" y="2659"/>
              <a:ext cx="227" cy="227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33725"/>
                    <a:invGamma/>
                  </a:schemeClr>
                </a:gs>
                <a:gs pos="100000">
                  <a:schemeClr val="accent1"/>
                </a:gs>
              </a:gsLst>
              <a:path path="shape">
                <a:fillToRect l="50000" t="50000" r="50000" b="50000"/>
              </a:path>
            </a:gradFill>
            <a:ln w="9525" algn="ctr">
              <a:noFill/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Oval 24"/>
            <p:cNvSpPr>
              <a:spLocks noChangeArrowheads="1"/>
            </p:cNvSpPr>
            <p:nvPr/>
          </p:nvSpPr>
          <p:spPr bwMode="gray">
            <a:xfrm>
              <a:off x="3933" y="2678"/>
              <a:ext cx="141" cy="142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33725"/>
                    <a:invGamma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 w="9525" algn="ctr">
              <a:noFill/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6" name="Group 25"/>
          <p:cNvGrpSpPr/>
          <p:nvPr/>
        </p:nvGrpSpPr>
        <p:grpSpPr bwMode="auto">
          <a:xfrm>
            <a:off x="5789732" y="4869656"/>
            <a:ext cx="360363" cy="360362"/>
            <a:chOff x="3515" y="3521"/>
            <a:chExt cx="227" cy="227"/>
          </a:xfrm>
        </p:grpSpPr>
        <p:sp>
          <p:nvSpPr>
            <p:cNvPr id="27" name="Oval 26"/>
            <p:cNvSpPr>
              <a:spLocks noChangeArrowheads="1"/>
            </p:cNvSpPr>
            <p:nvPr/>
          </p:nvSpPr>
          <p:spPr bwMode="gray">
            <a:xfrm>
              <a:off x="3515" y="3521"/>
              <a:ext cx="227" cy="227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33725"/>
                    <a:invGamma/>
                  </a:schemeClr>
                </a:gs>
                <a:gs pos="100000">
                  <a:schemeClr val="accent1"/>
                </a:gs>
              </a:gsLst>
              <a:path path="shape">
                <a:fillToRect l="50000" t="50000" r="50000" b="50000"/>
              </a:path>
            </a:gradFill>
            <a:ln w="9525" algn="ctr">
              <a:noFill/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Oval 27"/>
            <p:cNvSpPr>
              <a:spLocks noChangeArrowheads="1"/>
            </p:cNvSpPr>
            <p:nvPr/>
          </p:nvSpPr>
          <p:spPr bwMode="gray">
            <a:xfrm>
              <a:off x="3525" y="3540"/>
              <a:ext cx="141" cy="142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33725"/>
                    <a:invGamma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 w="9525" algn="ctr">
              <a:noFill/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9" name="Oval 28"/>
          <p:cNvSpPr>
            <a:spLocks noChangeArrowheads="1"/>
          </p:cNvSpPr>
          <p:nvPr/>
        </p:nvSpPr>
        <p:spPr bwMode="gray">
          <a:xfrm>
            <a:off x="3546595" y="2940844"/>
            <a:ext cx="1944687" cy="1944687"/>
          </a:xfrm>
          <a:prstGeom prst="ellipse">
            <a:avLst/>
          </a:prstGeom>
          <a:gradFill rotWithShape="1">
            <a:gsLst>
              <a:gs pos="0">
                <a:schemeClr val="hlink">
                  <a:gamma/>
                  <a:tint val="0"/>
                  <a:invGamma/>
                </a:schemeClr>
              </a:gs>
              <a:gs pos="50000">
                <a:schemeClr val="hlink"/>
              </a:gs>
              <a:gs pos="100000">
                <a:schemeClr val="hlink">
                  <a:gamma/>
                  <a:tint val="0"/>
                  <a:invGamma/>
                </a:schemeClr>
              </a:gs>
            </a:gsLst>
            <a:lin ang="2700000" scaled="1"/>
          </a:gradFill>
          <a:ln w="38100" algn="ctr">
            <a:noFill/>
            <a:rou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0" name="Oval 29"/>
          <p:cNvSpPr>
            <a:spLocks noChangeArrowheads="1"/>
          </p:cNvSpPr>
          <p:nvPr/>
        </p:nvSpPr>
        <p:spPr bwMode="gray">
          <a:xfrm>
            <a:off x="3540245" y="2924969"/>
            <a:ext cx="1944687" cy="1944687"/>
          </a:xfrm>
          <a:prstGeom prst="ellipse">
            <a:avLst/>
          </a:prstGeom>
          <a:gradFill rotWithShape="1">
            <a:gsLst>
              <a:gs pos="0">
                <a:schemeClr val="hlink">
                  <a:alpha val="32001"/>
                </a:schemeClr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lin ang="2700000" scaled="1"/>
          </a:gradFill>
          <a:ln w="38100" algn="ctr">
            <a:noFill/>
            <a:rou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1" name="Oval 30"/>
          <p:cNvSpPr>
            <a:spLocks noChangeArrowheads="1"/>
          </p:cNvSpPr>
          <p:nvPr/>
        </p:nvSpPr>
        <p:spPr bwMode="gray">
          <a:xfrm>
            <a:off x="3673595" y="3067844"/>
            <a:ext cx="1690687" cy="1690687"/>
          </a:xfrm>
          <a:prstGeom prst="ellipse">
            <a:avLst/>
          </a:prstGeom>
          <a:gradFill rotWithShape="1">
            <a:gsLst>
              <a:gs pos="0">
                <a:schemeClr val="hlink">
                  <a:gamma/>
                  <a:shade val="54118"/>
                  <a:invGamma/>
                </a:schemeClr>
              </a:gs>
              <a:gs pos="50000">
                <a:schemeClr val="hlink"/>
              </a:gs>
              <a:gs pos="100000">
                <a:schemeClr val="hlink">
                  <a:gamma/>
                  <a:shade val="54118"/>
                  <a:invGamma/>
                </a:schemeClr>
              </a:gs>
            </a:gsLst>
            <a:lin ang="18900000" scaled="1"/>
          </a:gradFill>
          <a:ln w="38100" algn="ctr">
            <a:noFill/>
            <a:rou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32" name="Oval 31"/>
          <p:cNvSpPr>
            <a:spLocks noChangeArrowheads="1"/>
          </p:cNvSpPr>
          <p:nvPr/>
        </p:nvSpPr>
        <p:spPr bwMode="gray">
          <a:xfrm>
            <a:off x="3656132" y="3040856"/>
            <a:ext cx="1690688" cy="1690688"/>
          </a:xfrm>
          <a:prstGeom prst="ellipse">
            <a:avLst/>
          </a:prstGeom>
          <a:gradFill rotWithShape="1">
            <a:gsLst>
              <a:gs pos="0">
                <a:schemeClr val="hlink">
                  <a:gamma/>
                  <a:shade val="63529"/>
                  <a:invGamma/>
                </a:schemeClr>
              </a:gs>
              <a:gs pos="100000">
                <a:schemeClr val="hlink">
                  <a:alpha val="0"/>
                </a:schemeClr>
              </a:gs>
            </a:gsLst>
            <a:lin ang="2700000" scaled="1"/>
          </a:gradFill>
          <a:ln w="38100" algn="ctr">
            <a:noFill/>
            <a:rou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33" name="Oval 32"/>
          <p:cNvSpPr>
            <a:spLocks noChangeArrowheads="1"/>
          </p:cNvSpPr>
          <p:nvPr/>
        </p:nvSpPr>
        <p:spPr bwMode="gray">
          <a:xfrm>
            <a:off x="3757732" y="3151981"/>
            <a:ext cx="1522413" cy="1522413"/>
          </a:xfrm>
          <a:prstGeom prst="ellipse">
            <a:avLst/>
          </a:prstGeom>
          <a:solidFill>
            <a:srgbClr val="333333"/>
          </a:solidFill>
          <a:ln w="38100" algn="ctr">
            <a:noFill/>
            <a:rou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34" name="Oval 33"/>
          <p:cNvSpPr>
            <a:spLocks noChangeArrowheads="1"/>
          </p:cNvSpPr>
          <p:nvPr/>
        </p:nvSpPr>
        <p:spPr bwMode="auto">
          <a:xfrm>
            <a:off x="3779957" y="3171031"/>
            <a:ext cx="1471613" cy="1473200"/>
          </a:xfrm>
          <a:prstGeom prst="ellipse">
            <a:avLst/>
          </a:prstGeom>
          <a:gradFill rotWithShape="1">
            <a:gsLst>
              <a:gs pos="0">
                <a:srgbClr val="D6E1E2">
                  <a:gamma/>
                  <a:shade val="46275"/>
                  <a:invGamma/>
                </a:srgbClr>
              </a:gs>
              <a:gs pos="100000">
                <a:srgbClr val="D6E1E2"/>
              </a:gs>
            </a:gsLst>
            <a:lin ang="5400000" scaled="1"/>
          </a:gradFill>
          <a:ln w="9525" algn="ctr">
            <a:noFill/>
            <a:round/>
          </a:ln>
          <a:effectLst/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35" name="Oval 34"/>
          <p:cNvSpPr>
            <a:spLocks noChangeArrowheads="1"/>
          </p:cNvSpPr>
          <p:nvPr/>
        </p:nvSpPr>
        <p:spPr bwMode="auto">
          <a:xfrm>
            <a:off x="3797420" y="3180556"/>
            <a:ext cx="1438275" cy="1435100"/>
          </a:xfrm>
          <a:prstGeom prst="ellipse">
            <a:avLst/>
          </a:prstGeom>
          <a:gradFill rotWithShape="1">
            <a:gsLst>
              <a:gs pos="0">
                <a:srgbClr val="D6E1E2">
                  <a:alpha val="0"/>
                </a:srgbClr>
              </a:gs>
              <a:gs pos="100000">
                <a:srgbClr val="D6E1E2">
                  <a:gamma/>
                  <a:tint val="34902"/>
                  <a:invGamma/>
                </a:srgbClr>
              </a:gs>
            </a:gsLst>
            <a:lin ang="5400000" scaled="1"/>
          </a:gradFill>
          <a:ln w="9525" algn="ctr">
            <a:noFill/>
            <a:round/>
          </a:ln>
          <a:effectLst/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36" name="Oval 35"/>
          <p:cNvSpPr>
            <a:spLocks noChangeArrowheads="1"/>
          </p:cNvSpPr>
          <p:nvPr/>
        </p:nvSpPr>
        <p:spPr bwMode="auto">
          <a:xfrm>
            <a:off x="3813295" y="3194844"/>
            <a:ext cx="1366837" cy="1341437"/>
          </a:xfrm>
          <a:prstGeom prst="ellipse">
            <a:avLst/>
          </a:prstGeom>
          <a:gradFill rotWithShape="1">
            <a:gsLst>
              <a:gs pos="0">
                <a:srgbClr val="D6E1E2">
                  <a:gamma/>
                  <a:shade val="79216"/>
                  <a:invGamma/>
                </a:srgbClr>
              </a:gs>
              <a:gs pos="100000">
                <a:srgbClr val="D6E1E2">
                  <a:alpha val="48000"/>
                </a:srgbClr>
              </a:gs>
            </a:gsLst>
            <a:lin ang="5400000" scaled="1"/>
          </a:gradFill>
          <a:ln w="9525" algn="ctr">
            <a:noFill/>
            <a:round/>
          </a:ln>
          <a:effectLst/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37" name="Oval 36"/>
          <p:cNvSpPr>
            <a:spLocks noChangeArrowheads="1"/>
          </p:cNvSpPr>
          <p:nvPr/>
        </p:nvSpPr>
        <p:spPr bwMode="auto">
          <a:xfrm>
            <a:off x="3894257" y="3231356"/>
            <a:ext cx="1214438" cy="1090613"/>
          </a:xfrm>
          <a:prstGeom prst="ellipse">
            <a:avLst/>
          </a:prstGeom>
          <a:gradFill rotWithShape="1">
            <a:gsLst>
              <a:gs pos="0">
                <a:srgbClr val="D6E1E2">
                  <a:gamma/>
                  <a:tint val="0"/>
                  <a:invGamma/>
                </a:srgbClr>
              </a:gs>
              <a:gs pos="100000">
                <a:srgbClr val="D6E1E2">
                  <a:alpha val="38000"/>
                </a:srgbClr>
              </a:gs>
            </a:gsLst>
            <a:lin ang="5400000" scaled="1"/>
          </a:gradFill>
          <a:ln w="9525" algn="ctr">
            <a:noFill/>
            <a:round/>
          </a:ln>
          <a:effectLst/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38" name="Text Box 37"/>
          <p:cNvSpPr txBox="1">
            <a:spLocks noChangeArrowheads="1"/>
          </p:cNvSpPr>
          <p:nvPr/>
        </p:nvSpPr>
        <p:spPr bwMode="auto">
          <a:xfrm>
            <a:off x="4050070" y="3417877"/>
            <a:ext cx="902811" cy="954107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800" dirty="0">
                <a:solidFill>
                  <a:srgbClr val="000000"/>
                </a:solidFill>
                <a:latin typeface="+mn-ea"/>
                <a:ea typeface="+mn-ea"/>
              </a:rPr>
              <a:t>复合</a:t>
            </a:r>
            <a:endParaRPr lang="en-US" altLang="zh-CN" sz="2800" dirty="0">
              <a:solidFill>
                <a:srgbClr val="000000"/>
              </a:solidFill>
              <a:latin typeface="+mn-ea"/>
              <a:ea typeface="+mn-ea"/>
            </a:endParaRPr>
          </a:p>
          <a:p>
            <a:pPr algn="ctr" eaLnBrk="0" hangingPunct="0"/>
            <a:r>
              <a:rPr lang="zh-CN" altLang="en-US" sz="2800" dirty="0">
                <a:solidFill>
                  <a:srgbClr val="000000"/>
                </a:solidFill>
                <a:latin typeface="+mn-ea"/>
                <a:ea typeface="+mn-ea"/>
              </a:rPr>
              <a:t>类型</a:t>
            </a:r>
            <a:endParaRPr lang="en-US" altLang="zh-CN" sz="28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39" name="Text Box 38"/>
          <p:cNvSpPr txBox="1">
            <a:spLocks noChangeArrowheads="1"/>
          </p:cNvSpPr>
          <p:nvPr/>
        </p:nvSpPr>
        <p:spPr bwMode="auto">
          <a:xfrm>
            <a:off x="4192989" y="1412776"/>
            <a:ext cx="697627" cy="40011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000" b="1" dirty="0">
                <a:ea typeface="宋体" panose="02010600030101010101" pitchFamily="2" charset="-122"/>
              </a:rPr>
              <a:t>指针</a:t>
            </a:r>
            <a:endParaRPr lang="en-US" altLang="zh-CN" sz="2000" b="1" dirty="0">
              <a:ea typeface="宋体" panose="02010600030101010101" pitchFamily="2" charset="-122"/>
            </a:endParaRPr>
          </a:p>
        </p:txBody>
      </p:sp>
      <p:sp>
        <p:nvSpPr>
          <p:cNvPr id="40" name="Text Box 39"/>
          <p:cNvSpPr txBox="1">
            <a:spLocks noChangeArrowheads="1"/>
          </p:cNvSpPr>
          <p:nvPr/>
        </p:nvSpPr>
        <p:spPr bwMode="auto">
          <a:xfrm>
            <a:off x="2134453" y="2249568"/>
            <a:ext cx="697627" cy="40011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r" eaLnBrk="0" hangingPunct="0"/>
            <a:r>
              <a:rPr lang="zh-CN" altLang="en-US" sz="2000" b="1" dirty="0">
                <a:ea typeface="宋体" panose="02010600030101010101" pitchFamily="2" charset="-122"/>
              </a:rPr>
              <a:t>函数</a:t>
            </a:r>
            <a:endParaRPr lang="en-US" altLang="zh-CN" sz="2000" b="1" dirty="0">
              <a:ea typeface="宋体" panose="02010600030101010101" pitchFamily="2" charset="-122"/>
            </a:endParaRPr>
          </a:p>
        </p:txBody>
      </p:sp>
      <p:sp>
        <p:nvSpPr>
          <p:cNvPr id="41" name="Text Box 40"/>
          <p:cNvSpPr txBox="1">
            <a:spLocks noChangeArrowheads="1"/>
          </p:cNvSpPr>
          <p:nvPr/>
        </p:nvSpPr>
        <p:spPr bwMode="auto">
          <a:xfrm>
            <a:off x="6277888" y="2272090"/>
            <a:ext cx="697627" cy="40011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000" b="1" dirty="0">
                <a:ea typeface="宋体" panose="02010600030101010101" pitchFamily="2" charset="-122"/>
              </a:rPr>
              <a:t>引用</a:t>
            </a:r>
            <a:endParaRPr lang="en-US" altLang="zh-CN" sz="2000" b="1" dirty="0">
              <a:ea typeface="宋体" panose="02010600030101010101" pitchFamily="2" charset="-122"/>
            </a:endParaRPr>
          </a:p>
        </p:txBody>
      </p:sp>
      <p:sp>
        <p:nvSpPr>
          <p:cNvPr id="43" name="Text Box 42"/>
          <p:cNvSpPr txBox="1">
            <a:spLocks noChangeArrowheads="1"/>
          </p:cNvSpPr>
          <p:nvPr/>
        </p:nvSpPr>
        <p:spPr bwMode="auto">
          <a:xfrm>
            <a:off x="1707555" y="3726656"/>
            <a:ext cx="697627" cy="40011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r" eaLnBrk="0" hangingPunct="0"/>
            <a:r>
              <a:rPr lang="zh-CN" altLang="en-US" sz="2000" b="1" dirty="0">
                <a:ea typeface="宋体" panose="02010600030101010101" pitchFamily="2" charset="-122"/>
              </a:rPr>
              <a:t>数组</a:t>
            </a:r>
            <a:endParaRPr lang="en-US" altLang="zh-CN" sz="2000" b="1" dirty="0">
              <a:ea typeface="宋体" panose="02010600030101010101" pitchFamily="2" charset="-122"/>
            </a:endParaRPr>
          </a:p>
        </p:txBody>
      </p:sp>
      <p:sp>
        <p:nvSpPr>
          <p:cNvPr id="44" name="Text Box 43"/>
          <p:cNvSpPr txBox="1">
            <a:spLocks noChangeArrowheads="1"/>
          </p:cNvSpPr>
          <p:nvPr/>
        </p:nvSpPr>
        <p:spPr bwMode="auto">
          <a:xfrm>
            <a:off x="2214622" y="5230018"/>
            <a:ext cx="697627" cy="40011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r" eaLnBrk="0" hangingPunct="0"/>
            <a:r>
              <a:rPr lang="zh-CN" altLang="en-US" sz="2000" b="1" dirty="0">
                <a:solidFill>
                  <a:srgbClr val="C00000"/>
                </a:solidFill>
                <a:ea typeface="宋体" panose="02010600030101010101" pitchFamily="2" charset="-122"/>
              </a:rPr>
              <a:t>枚举</a:t>
            </a:r>
            <a:endParaRPr lang="en-US" altLang="zh-CN" sz="2000" b="1" dirty="0">
              <a:solidFill>
                <a:srgbClr val="C00000"/>
              </a:solidFill>
              <a:ea typeface="宋体" panose="02010600030101010101" pitchFamily="2" charset="-122"/>
            </a:endParaRPr>
          </a:p>
        </p:txBody>
      </p:sp>
      <p:sp>
        <p:nvSpPr>
          <p:cNvPr id="51" name="AutoShape 5"/>
          <p:cNvSpPr>
            <a:spLocks noChangeArrowheads="1"/>
          </p:cNvSpPr>
          <p:nvPr/>
        </p:nvSpPr>
        <p:spPr bwMode="gray">
          <a:xfrm rot="16200000">
            <a:off x="4098502" y="2518844"/>
            <a:ext cx="805946" cy="288925"/>
          </a:xfrm>
          <a:prstGeom prst="rightArrow">
            <a:avLst>
              <a:gd name="adj1" fmla="val 35167"/>
              <a:gd name="adj2" fmla="val 111029"/>
            </a:avLst>
          </a:prstGeom>
          <a:gradFill rotWithShape="1">
            <a:gsLst>
              <a:gs pos="0">
                <a:schemeClr val="tx2">
                  <a:gamma/>
                  <a:shade val="89020"/>
                  <a:invGamma/>
                  <a:alpha val="0"/>
                </a:schemeClr>
              </a:gs>
              <a:gs pos="100000">
                <a:schemeClr val="tx2"/>
              </a:gs>
            </a:gsLst>
            <a:lin ang="0" scaled="1"/>
          </a:gradFill>
          <a:ln w="0" algn="ctr">
            <a:noFill/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2" name="Group 19"/>
          <p:cNvGrpSpPr/>
          <p:nvPr/>
        </p:nvGrpSpPr>
        <p:grpSpPr bwMode="auto">
          <a:xfrm>
            <a:off x="4316532" y="1772816"/>
            <a:ext cx="360362" cy="360362"/>
            <a:chOff x="3470" y="1706"/>
            <a:chExt cx="227" cy="227"/>
          </a:xfrm>
        </p:grpSpPr>
        <p:sp>
          <p:nvSpPr>
            <p:cNvPr id="53" name="Oval 20"/>
            <p:cNvSpPr>
              <a:spLocks noChangeArrowheads="1"/>
            </p:cNvSpPr>
            <p:nvPr/>
          </p:nvSpPr>
          <p:spPr bwMode="gray">
            <a:xfrm>
              <a:off x="3470" y="1706"/>
              <a:ext cx="227" cy="227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33725"/>
                    <a:invGamma/>
                  </a:schemeClr>
                </a:gs>
                <a:gs pos="100000">
                  <a:schemeClr val="accent1"/>
                </a:gs>
              </a:gsLst>
              <a:path path="shape">
                <a:fillToRect l="50000" t="50000" r="50000" b="50000"/>
              </a:path>
            </a:gradFill>
            <a:ln w="9525" algn="ctr">
              <a:noFill/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" name="Oval 21"/>
            <p:cNvSpPr>
              <a:spLocks noChangeArrowheads="1"/>
            </p:cNvSpPr>
            <p:nvPr/>
          </p:nvSpPr>
          <p:spPr bwMode="gray">
            <a:xfrm>
              <a:off x="3480" y="1725"/>
              <a:ext cx="141" cy="142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33725"/>
                    <a:invGamma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 w="9525" algn="ctr">
              <a:noFill/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5" name="矩形 54"/>
          <p:cNvSpPr/>
          <p:nvPr/>
        </p:nvSpPr>
        <p:spPr>
          <a:xfrm>
            <a:off x="6533595" y="3717032"/>
            <a:ext cx="69762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ea typeface="宋体" panose="02010600030101010101" pitchFamily="2" charset="-122"/>
              </a:rPr>
              <a:t>结构</a:t>
            </a:r>
          </a:p>
        </p:txBody>
      </p:sp>
      <p:sp>
        <p:nvSpPr>
          <p:cNvPr id="56" name="AutoShape 5"/>
          <p:cNvSpPr>
            <a:spLocks noChangeArrowheads="1"/>
          </p:cNvSpPr>
          <p:nvPr/>
        </p:nvSpPr>
        <p:spPr bwMode="gray">
          <a:xfrm rot="5400000">
            <a:off x="4113583" y="5085556"/>
            <a:ext cx="805946" cy="288925"/>
          </a:xfrm>
          <a:prstGeom prst="rightArrow">
            <a:avLst>
              <a:gd name="adj1" fmla="val 35167"/>
              <a:gd name="adj2" fmla="val 111029"/>
            </a:avLst>
          </a:prstGeom>
          <a:gradFill rotWithShape="1">
            <a:gsLst>
              <a:gs pos="0">
                <a:schemeClr val="tx2">
                  <a:gamma/>
                  <a:shade val="89020"/>
                  <a:invGamma/>
                  <a:alpha val="0"/>
                </a:schemeClr>
              </a:gs>
              <a:gs pos="100000">
                <a:schemeClr val="tx2"/>
              </a:gs>
            </a:gsLst>
            <a:lin ang="0" scaled="1"/>
          </a:gradFill>
          <a:ln w="0" algn="ctr">
            <a:noFill/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7" name="Group 19"/>
          <p:cNvGrpSpPr/>
          <p:nvPr/>
        </p:nvGrpSpPr>
        <p:grpSpPr bwMode="auto">
          <a:xfrm>
            <a:off x="4338876" y="5632992"/>
            <a:ext cx="360362" cy="360362"/>
            <a:chOff x="3470" y="1706"/>
            <a:chExt cx="227" cy="227"/>
          </a:xfrm>
        </p:grpSpPr>
        <p:sp>
          <p:nvSpPr>
            <p:cNvPr id="58" name="Oval 20"/>
            <p:cNvSpPr>
              <a:spLocks noChangeArrowheads="1"/>
            </p:cNvSpPr>
            <p:nvPr/>
          </p:nvSpPr>
          <p:spPr bwMode="gray">
            <a:xfrm>
              <a:off x="3470" y="1706"/>
              <a:ext cx="227" cy="227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33725"/>
                    <a:invGamma/>
                  </a:schemeClr>
                </a:gs>
                <a:gs pos="100000">
                  <a:schemeClr val="accent1"/>
                </a:gs>
              </a:gsLst>
              <a:path path="shape">
                <a:fillToRect l="50000" t="50000" r="50000" b="50000"/>
              </a:path>
            </a:gradFill>
            <a:ln w="9525" algn="ctr">
              <a:noFill/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" name="Oval 21"/>
            <p:cNvSpPr>
              <a:spLocks noChangeArrowheads="1"/>
            </p:cNvSpPr>
            <p:nvPr/>
          </p:nvSpPr>
          <p:spPr bwMode="gray">
            <a:xfrm>
              <a:off x="3480" y="1725"/>
              <a:ext cx="141" cy="142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33725"/>
                    <a:invGamma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 w="9525" algn="ctr">
              <a:noFill/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0" name="矩形 59"/>
          <p:cNvSpPr/>
          <p:nvPr/>
        </p:nvSpPr>
        <p:spPr>
          <a:xfrm>
            <a:off x="6184980" y="5096385"/>
            <a:ext cx="69762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ea typeface="宋体" panose="02010600030101010101" pitchFamily="2" charset="-122"/>
              </a:rPr>
              <a:t>联合</a:t>
            </a:r>
          </a:p>
        </p:txBody>
      </p:sp>
      <p:sp>
        <p:nvSpPr>
          <p:cNvPr id="61" name="矩形 60"/>
          <p:cNvSpPr/>
          <p:nvPr/>
        </p:nvSpPr>
        <p:spPr>
          <a:xfrm>
            <a:off x="3714604" y="6022400"/>
            <a:ext cx="22365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  <a:ea typeface="宋体" panose="02010600030101010101" pitchFamily="2" charset="-122"/>
              </a:rPr>
              <a:t>类（标准库类型）</a:t>
            </a:r>
          </a:p>
        </p:txBody>
      </p:sp>
      <p:sp>
        <p:nvSpPr>
          <p:cNvPr id="62" name="矩形 61">
            <a:hlinkClick r:id="rId2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 □</a:t>
            </a:r>
          </a:p>
        </p:txBody>
      </p:sp>
      <p:sp>
        <p:nvSpPr>
          <p:cNvPr id="63" name="矩形 62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 □</a:t>
            </a:r>
          </a:p>
        </p:txBody>
      </p:sp>
      <p:sp>
        <p:nvSpPr>
          <p:cNvPr id="64" name="矩形 63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复合数据类型 ■</a:t>
            </a:r>
          </a:p>
        </p:txBody>
      </p:sp>
      <p:sp>
        <p:nvSpPr>
          <p:cNvPr id="65" name="矩形 64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</a:t>
            </a: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限定数据类型 □</a:t>
            </a:r>
          </a:p>
        </p:txBody>
      </p:sp>
      <p:sp>
        <p:nvSpPr>
          <p:cNvPr id="66" name="矩形 65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复合数据类型概览</a:t>
            </a:r>
          </a:p>
        </p:txBody>
      </p:sp>
      <p:sp>
        <p:nvSpPr>
          <p:cNvPr id="67" name="矩形 66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枚举类型</a:t>
            </a:r>
          </a:p>
        </p:txBody>
      </p:sp>
      <p:sp>
        <p:nvSpPr>
          <p:cNvPr id="68" name="矩形 67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字符串类型</a:t>
            </a:r>
          </a:p>
        </p:txBody>
      </p:sp>
      <p:sp>
        <p:nvSpPr>
          <p:cNvPr id="69" name="矩形 68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数据类型的转换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812"/>
    </mc:Choice>
    <mc:Fallback xmlns="">
      <p:transition spd="slow" advTm="6812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枚举类型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844824"/>
            <a:ext cx="8064896" cy="4581872"/>
          </a:xfrm>
        </p:spPr>
        <p:txBody>
          <a:bodyPr/>
          <a:lstStyle/>
          <a:p>
            <a:r>
              <a:rPr lang="zh-CN" altLang="en-US" dirty="0"/>
              <a:t>用关键字</a:t>
            </a:r>
            <a:r>
              <a:rPr lang="en-US" altLang="zh-CN" dirty="0" err="1"/>
              <a:t>enum</a:t>
            </a:r>
            <a:r>
              <a:rPr lang="zh-CN" altLang="en-US" dirty="0"/>
              <a:t>描述枚举类型</a:t>
            </a:r>
            <a:endParaRPr lang="en-US" altLang="zh-CN" dirty="0"/>
          </a:p>
          <a:p>
            <a:r>
              <a:rPr lang="zh-CN" altLang="en-US" dirty="0"/>
              <a:t>将数据的取值（枚举值）列举出来，不能超出此范围取值</a:t>
            </a:r>
            <a:endParaRPr lang="en-US" altLang="zh-CN" dirty="0"/>
          </a:p>
          <a:p>
            <a:r>
              <a:rPr lang="zh-CN" altLang="en-US" dirty="0"/>
              <a:t>定义枚举类型</a:t>
            </a:r>
            <a:endParaRPr lang="en-US" altLang="zh-CN" dirty="0"/>
          </a:p>
          <a:p>
            <a:pPr lvl="1"/>
            <a:r>
              <a:rPr lang="en-US" altLang="zh-CN" dirty="0" err="1"/>
              <a:t>enum</a:t>
            </a:r>
            <a:r>
              <a:rPr lang="en-US" altLang="zh-CN" dirty="0"/>
              <a:t>&lt;</a:t>
            </a:r>
            <a:r>
              <a:rPr lang="zh-CN" altLang="en-US" dirty="0">
                <a:solidFill>
                  <a:srgbClr val="C00000"/>
                </a:solidFill>
              </a:rPr>
              <a:t>枚举类型名</a:t>
            </a:r>
            <a:r>
              <a:rPr lang="en-US" altLang="zh-CN" dirty="0"/>
              <a:t>&gt;{&lt;</a:t>
            </a:r>
            <a:r>
              <a:rPr lang="zh-CN" altLang="en-US" dirty="0">
                <a:solidFill>
                  <a:srgbClr val="C00000"/>
                </a:solidFill>
              </a:rPr>
              <a:t>枚举值表</a:t>
            </a:r>
            <a:r>
              <a:rPr lang="en-US" altLang="zh-CN" dirty="0"/>
              <a:t>&gt;}[&lt;</a:t>
            </a:r>
            <a:r>
              <a:rPr lang="zh-CN" altLang="en-US" dirty="0">
                <a:solidFill>
                  <a:srgbClr val="C00000"/>
                </a:solidFill>
              </a:rPr>
              <a:t>枚举变量表</a:t>
            </a:r>
            <a:r>
              <a:rPr lang="en-US" altLang="zh-CN" dirty="0"/>
              <a:t>&gt;]</a:t>
            </a:r>
          </a:p>
          <a:p>
            <a:pPr lvl="2"/>
            <a:r>
              <a:rPr lang="zh-CN" altLang="en-US" dirty="0"/>
              <a:t>枚举类型名：标识符</a:t>
            </a:r>
            <a:endParaRPr lang="en-US" altLang="zh-CN" dirty="0"/>
          </a:p>
          <a:p>
            <a:pPr lvl="2"/>
            <a:r>
              <a:rPr lang="zh-CN" altLang="en-US" dirty="0"/>
              <a:t>枚举值表：枚举类型数据的取值列表</a:t>
            </a:r>
            <a:endParaRPr lang="en-US" altLang="zh-CN" dirty="0"/>
          </a:p>
          <a:p>
            <a:pPr lvl="3"/>
            <a:r>
              <a:rPr lang="zh-CN" altLang="en-US" dirty="0"/>
              <a:t>值名（是一个标识符）</a:t>
            </a:r>
            <a:endParaRPr lang="en-US" altLang="zh-CN" dirty="0"/>
          </a:p>
          <a:p>
            <a:pPr lvl="3"/>
            <a:r>
              <a:rPr lang="en-US" altLang="zh-CN" dirty="0"/>
              <a:t>&lt;</a:t>
            </a:r>
            <a:r>
              <a:rPr lang="zh-CN" altLang="en-US" dirty="0"/>
              <a:t>值名</a:t>
            </a:r>
            <a:r>
              <a:rPr lang="en-US" altLang="zh-CN" dirty="0"/>
              <a:t>&gt; = &lt;</a:t>
            </a:r>
            <a:r>
              <a:rPr lang="zh-CN" altLang="en-US" dirty="0"/>
              <a:t>整型常量</a:t>
            </a:r>
            <a:r>
              <a:rPr lang="en-US" altLang="zh-CN" dirty="0"/>
              <a:t>&gt;</a:t>
            </a:r>
          </a:p>
          <a:p>
            <a:pPr lvl="2"/>
            <a:r>
              <a:rPr lang="zh-CN" altLang="en-US" dirty="0"/>
              <a:t>枚举变量表：声明为此类枚举类型的变量</a:t>
            </a:r>
            <a:endParaRPr lang="en-US" altLang="zh-CN" dirty="0"/>
          </a:p>
          <a:p>
            <a:pPr lvl="3"/>
            <a:r>
              <a:rPr lang="en-US" altLang="zh-CN" dirty="0" err="1"/>
              <a:t>enum</a:t>
            </a:r>
            <a:r>
              <a:rPr lang="en-US" altLang="zh-CN" dirty="0"/>
              <a:t> &lt;</a:t>
            </a:r>
            <a:r>
              <a:rPr lang="zh-CN" altLang="en-US" dirty="0"/>
              <a:t>枚举类型名</a:t>
            </a:r>
            <a:r>
              <a:rPr lang="en-US" altLang="zh-CN" dirty="0"/>
              <a:t>&gt; &lt;</a:t>
            </a:r>
            <a:r>
              <a:rPr lang="zh-CN" altLang="en-US" dirty="0"/>
              <a:t>枚举变量表</a:t>
            </a:r>
            <a:r>
              <a:rPr lang="en-US" altLang="zh-CN" dirty="0"/>
              <a:t>&gt;</a:t>
            </a:r>
          </a:p>
        </p:txBody>
      </p:sp>
      <p:sp>
        <p:nvSpPr>
          <p:cNvPr id="6" name="矩形 5">
            <a:hlinkClick r:id="rId2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 □</a:t>
            </a: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 □</a:t>
            </a: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复合数据类型 ■</a:t>
            </a: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</a:t>
            </a: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限定数据类型 □</a:t>
            </a: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复合数据类型概览</a:t>
            </a: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枚举类型</a:t>
            </a:r>
          </a:p>
        </p:txBody>
      </p:sp>
      <p:sp>
        <p:nvSpPr>
          <p:cNvPr id="12" name="矩形 11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字符串类型</a:t>
            </a:r>
          </a:p>
        </p:txBody>
      </p:sp>
      <p:sp>
        <p:nvSpPr>
          <p:cNvPr id="13" name="矩形 12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数据类型的转换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269"/>
    </mc:Choice>
    <mc:Fallback xmlns="">
      <p:transition spd="slow" advTm="19269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枚举类型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928813"/>
            <a:ext cx="8579296" cy="4500562"/>
          </a:xfrm>
        </p:spPr>
        <p:txBody>
          <a:bodyPr/>
          <a:lstStyle/>
          <a:p>
            <a:r>
              <a:rPr lang="zh-CN" altLang="en-US" dirty="0"/>
              <a:t>举例</a:t>
            </a:r>
            <a:endParaRPr lang="en-US" altLang="zh-CN" dirty="0"/>
          </a:p>
          <a:p>
            <a:pPr lvl="1"/>
            <a:r>
              <a:rPr lang="en-US" altLang="zh-CN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enum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color {RED=1,YELLOW,BLUE}c1=BLUE,c2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2"/>
            <a:r>
              <a:rPr lang="zh-CN" altLang="en-US" dirty="0"/>
              <a:t>枚举类型名：</a:t>
            </a:r>
            <a:r>
              <a:rPr lang="en-US" altLang="zh-CN" dirty="0"/>
              <a:t>color</a:t>
            </a:r>
          </a:p>
          <a:p>
            <a:pPr lvl="2"/>
            <a:r>
              <a:rPr lang="zh-CN" altLang="en-US" dirty="0"/>
              <a:t>枚举值</a:t>
            </a:r>
            <a:endParaRPr lang="en-US" altLang="zh-CN" dirty="0"/>
          </a:p>
          <a:p>
            <a:pPr lvl="3"/>
            <a:r>
              <a:rPr lang="en-US" altLang="zh-CN" dirty="0"/>
              <a:t>RED</a:t>
            </a:r>
            <a:r>
              <a:rPr lang="zh-CN" altLang="en-US" dirty="0"/>
              <a:t>（对应整数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endParaRPr lang="en-US" altLang="zh-CN" dirty="0"/>
          </a:p>
          <a:p>
            <a:pPr lvl="3"/>
            <a:r>
              <a:rPr lang="en-US" altLang="zh-CN" dirty="0"/>
              <a:t>YELLOW</a:t>
            </a:r>
            <a:r>
              <a:rPr lang="zh-CN" altLang="en-US" dirty="0"/>
              <a:t>（对应整数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endParaRPr lang="en-US" altLang="zh-CN" dirty="0"/>
          </a:p>
          <a:p>
            <a:pPr lvl="3"/>
            <a:r>
              <a:rPr lang="en-US" altLang="zh-CN" dirty="0"/>
              <a:t>BLUE</a:t>
            </a:r>
            <a:r>
              <a:rPr lang="zh-CN" altLang="en-US" dirty="0"/>
              <a:t>（对应整数</a:t>
            </a:r>
            <a:r>
              <a:rPr lang="en-US" altLang="zh-CN" dirty="0"/>
              <a:t>3</a:t>
            </a:r>
            <a:r>
              <a:rPr lang="zh-CN" altLang="en-US" dirty="0"/>
              <a:t>）</a:t>
            </a:r>
            <a:endParaRPr lang="en-US" altLang="zh-CN" dirty="0"/>
          </a:p>
          <a:p>
            <a:pPr lvl="2"/>
            <a:r>
              <a:rPr lang="zh-CN" altLang="en-US" dirty="0"/>
              <a:t>枚举类型变量</a:t>
            </a:r>
            <a:endParaRPr lang="en-US" altLang="zh-CN" dirty="0"/>
          </a:p>
          <a:p>
            <a:pPr lvl="3"/>
            <a:r>
              <a:rPr lang="en-US" altLang="zh-CN" dirty="0"/>
              <a:t>c1</a:t>
            </a:r>
            <a:r>
              <a:rPr lang="zh-CN" altLang="en-US" dirty="0"/>
              <a:t>，初始值为</a:t>
            </a:r>
            <a:r>
              <a:rPr lang="en-US" altLang="zh-CN" dirty="0"/>
              <a:t>BLUE</a:t>
            </a:r>
          </a:p>
          <a:p>
            <a:pPr lvl="3"/>
            <a:r>
              <a:rPr lang="en-US" altLang="zh-CN" dirty="0"/>
              <a:t>c2</a:t>
            </a:r>
            <a:r>
              <a:rPr lang="zh-CN" altLang="en-US" dirty="0"/>
              <a:t>，未进行初始化</a:t>
            </a:r>
          </a:p>
        </p:txBody>
      </p:sp>
      <p:sp>
        <p:nvSpPr>
          <p:cNvPr id="6" name="矩形 5">
            <a:hlinkClick r:id="rId2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 □</a:t>
            </a: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 □</a:t>
            </a: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复合数据类型 ■</a:t>
            </a: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</a:t>
            </a: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限定数据类型 □</a:t>
            </a: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复合数据类型概览</a:t>
            </a: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枚举类型</a:t>
            </a:r>
          </a:p>
        </p:txBody>
      </p:sp>
      <p:sp>
        <p:nvSpPr>
          <p:cNvPr id="12" name="矩形 11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字符串类型</a:t>
            </a:r>
          </a:p>
        </p:txBody>
      </p:sp>
      <p:sp>
        <p:nvSpPr>
          <p:cNvPr id="13" name="矩形 12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数据类型的转换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820"/>
    </mc:Choice>
    <mc:Fallback xmlns="">
      <p:transition spd="slow" advTm="24820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枚举类型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552" y="2060848"/>
            <a:ext cx="8424936" cy="4263752"/>
          </a:xfrm>
        </p:spPr>
        <p:txBody>
          <a:bodyPr/>
          <a:lstStyle/>
          <a:p>
            <a:r>
              <a:rPr lang="zh-CN" altLang="en-US" dirty="0"/>
              <a:t>举例</a:t>
            </a:r>
            <a:endParaRPr lang="en-US" altLang="zh-CN" dirty="0"/>
          </a:p>
          <a:p>
            <a:pPr lvl="1"/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color a, b = RED, c;</a:t>
            </a:r>
          </a:p>
          <a:p>
            <a:pPr lvl="2"/>
            <a:r>
              <a:rPr lang="zh-CN" altLang="en-US" dirty="0"/>
              <a:t>在</a:t>
            </a:r>
            <a:r>
              <a:rPr lang="en-US" altLang="zh-CN" dirty="0"/>
              <a:t>color</a:t>
            </a:r>
            <a:r>
              <a:rPr lang="zh-CN" altLang="en-US" dirty="0"/>
              <a:t>类型定义完毕后，可声明</a:t>
            </a:r>
            <a:r>
              <a:rPr lang="en-US" altLang="zh-CN" dirty="0"/>
              <a:t>color</a:t>
            </a:r>
            <a:r>
              <a:rPr lang="zh-CN" altLang="en-US" dirty="0"/>
              <a:t>类型的变量</a:t>
            </a:r>
            <a:endParaRPr lang="en-US" altLang="zh-CN" dirty="0"/>
          </a:p>
          <a:p>
            <a:pPr lvl="3"/>
            <a:r>
              <a:rPr lang="zh-CN" altLang="en-US" dirty="0"/>
              <a:t>声明</a:t>
            </a:r>
            <a:r>
              <a:rPr lang="en-US" altLang="zh-CN" dirty="0"/>
              <a:t>color</a:t>
            </a:r>
            <a:r>
              <a:rPr lang="zh-CN" altLang="en-US" dirty="0"/>
              <a:t>变量时，关键字</a:t>
            </a:r>
            <a:r>
              <a:rPr lang="en-US" altLang="zh-CN" dirty="0" err="1"/>
              <a:t>enum</a:t>
            </a:r>
            <a:r>
              <a:rPr lang="zh-CN" altLang="en-US" dirty="0"/>
              <a:t>可以省略</a:t>
            </a:r>
            <a:endParaRPr lang="en-US" altLang="zh-CN" dirty="0"/>
          </a:p>
          <a:p>
            <a:pPr lvl="2"/>
            <a:r>
              <a:rPr lang="zh-CN" altLang="en-US" dirty="0"/>
              <a:t>变量</a:t>
            </a:r>
            <a:r>
              <a:rPr lang="en-US" altLang="zh-CN" dirty="0"/>
              <a:t>b</a:t>
            </a:r>
            <a:r>
              <a:rPr lang="zh-CN" altLang="en-US" dirty="0"/>
              <a:t>的初始值为</a:t>
            </a:r>
            <a:r>
              <a:rPr lang="en-US" altLang="zh-CN" dirty="0"/>
              <a:t>RED</a:t>
            </a:r>
            <a:r>
              <a:rPr lang="zh-CN" altLang="en-US" dirty="0"/>
              <a:t>（或整数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en-US" altLang="zh-CN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enum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day {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Sun,Mon,Tue,Wed,Thu,Fri,Sat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pPr lvl="2"/>
            <a:r>
              <a:rPr lang="en-US" altLang="zh-CN" sz="2200" dirty="0"/>
              <a:t>Sun</a:t>
            </a:r>
            <a:r>
              <a:rPr lang="zh-CN" altLang="en-US" sz="2200" dirty="0"/>
              <a:t>与整数</a:t>
            </a:r>
            <a:r>
              <a:rPr lang="en-US" altLang="zh-CN" sz="2200" dirty="0">
                <a:solidFill>
                  <a:srgbClr val="FF0000"/>
                </a:solidFill>
              </a:rPr>
              <a:t>0</a:t>
            </a:r>
            <a:r>
              <a:rPr lang="zh-CN" altLang="en-US" sz="2200" dirty="0"/>
              <a:t>对应</a:t>
            </a:r>
            <a:endParaRPr lang="en-US" altLang="zh-CN" sz="2200" dirty="0"/>
          </a:p>
          <a:p>
            <a:pPr marL="457200" lvl="1" indent="0">
              <a:buNone/>
            </a:pPr>
            <a:r>
              <a:rPr lang="en-US" altLang="zh-CN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enum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day1 {Mon=1,Tue,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Wed,Thu,Fri,Sat,Sun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矩形 5">
            <a:hlinkClick r:id="rId2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 □</a:t>
            </a: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 □</a:t>
            </a: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复合数据类型 ■</a:t>
            </a: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</a:t>
            </a: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限定数据类型 □</a:t>
            </a: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复合数据类型概览</a:t>
            </a: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枚举类型</a:t>
            </a:r>
          </a:p>
        </p:txBody>
      </p:sp>
      <p:sp>
        <p:nvSpPr>
          <p:cNvPr id="12" name="矩形 11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字符串类型</a:t>
            </a:r>
          </a:p>
        </p:txBody>
      </p:sp>
      <p:sp>
        <p:nvSpPr>
          <p:cNvPr id="13" name="矩形 12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数据类型的转换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1612"/>
    </mc:Choice>
    <mc:Fallback xmlns="">
      <p:transition spd="slow" advTm="61612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枚举类型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说明</a:t>
            </a:r>
            <a:endParaRPr lang="en-US" altLang="zh-CN" dirty="0"/>
          </a:p>
          <a:p>
            <a:pPr lvl="1"/>
            <a:r>
              <a:rPr lang="zh-CN" altLang="en-US" dirty="0"/>
              <a:t>枚举类型是整型的子集</a:t>
            </a:r>
            <a:endParaRPr lang="en-US" altLang="zh-CN" dirty="0"/>
          </a:p>
          <a:p>
            <a:pPr lvl="1"/>
            <a:r>
              <a:rPr lang="en-US" altLang="zh-CN" dirty="0"/>
              <a:t>n</a:t>
            </a:r>
            <a:r>
              <a:rPr lang="zh-CN" altLang="en-US" dirty="0"/>
              <a:t>个枚举值</a:t>
            </a:r>
            <a:r>
              <a:rPr lang="zh-CN" altLang="en-US" dirty="0">
                <a:solidFill>
                  <a:srgbClr val="C00000"/>
                </a:solidFill>
              </a:rPr>
              <a:t>全部未赋</a:t>
            </a:r>
            <a:r>
              <a:rPr lang="zh-CN" altLang="en-US" dirty="0"/>
              <a:t>整型常量值时，从左向右对应整数</a:t>
            </a:r>
            <a:r>
              <a:rPr lang="en-US" altLang="zh-CN" dirty="0"/>
              <a:t>0</a:t>
            </a:r>
            <a:r>
              <a:rPr lang="en-US" altLang="zh-CN" dirty="0">
                <a:latin typeface="华文行楷" panose="02010800040101010101" pitchFamily="2" charset="-122"/>
                <a:ea typeface="华文行楷" panose="02010800040101010101" pitchFamily="2" charset="-122"/>
              </a:rPr>
              <a:t>~</a:t>
            </a:r>
            <a:r>
              <a:rPr lang="en-US" altLang="zh-CN" dirty="0"/>
              <a:t>n-1</a:t>
            </a:r>
          </a:p>
          <a:p>
            <a:pPr lvl="1"/>
            <a:r>
              <a:rPr lang="zh-CN" altLang="en-US" dirty="0"/>
              <a:t>第</a:t>
            </a:r>
            <a:r>
              <a:rPr lang="en-US" altLang="zh-CN" dirty="0" err="1"/>
              <a:t>i</a:t>
            </a:r>
            <a:r>
              <a:rPr lang="zh-CN" altLang="en-US" dirty="0"/>
              <a:t>个枚举值赋予常量</a:t>
            </a:r>
            <a:r>
              <a:rPr lang="en-US" altLang="zh-CN" dirty="0"/>
              <a:t>m</a:t>
            </a:r>
            <a:r>
              <a:rPr lang="zh-CN" altLang="en-US" dirty="0"/>
              <a:t>，则从第</a:t>
            </a:r>
            <a:r>
              <a:rPr lang="en-US" altLang="zh-CN" dirty="0"/>
              <a:t>i+1</a:t>
            </a:r>
            <a:r>
              <a:rPr lang="zh-CN" altLang="en-US" dirty="0"/>
              <a:t>个枚举值开始，分别对应整数</a:t>
            </a:r>
            <a:r>
              <a:rPr lang="en-US" altLang="zh-CN" dirty="0"/>
              <a:t>m+1</a:t>
            </a:r>
            <a:r>
              <a:rPr lang="zh-CN" altLang="en-US" dirty="0"/>
              <a:t>，</a:t>
            </a:r>
            <a:r>
              <a:rPr lang="en-US" altLang="zh-CN"/>
              <a:t>m+2</a:t>
            </a:r>
            <a:r>
              <a:rPr lang="zh-CN" altLang="en-US" dirty="0"/>
              <a:t>，</a:t>
            </a:r>
            <a:r>
              <a:rPr lang="en-US" altLang="zh-CN" dirty="0"/>
              <a:t>……</a:t>
            </a:r>
            <a:r>
              <a:rPr lang="zh-CN" altLang="en-US" dirty="0"/>
              <a:t>，直到下一个赋了值的枚举值或结束</a:t>
            </a:r>
            <a:endParaRPr lang="en-US" altLang="zh-CN" dirty="0"/>
          </a:p>
          <a:p>
            <a:pPr lvl="1"/>
            <a:r>
              <a:rPr lang="zh-CN" altLang="en-US" dirty="0"/>
              <a:t>枚举类型变量不能赋整数值</a:t>
            </a:r>
            <a:endParaRPr lang="en-US" altLang="zh-CN" dirty="0"/>
          </a:p>
          <a:p>
            <a:pPr lvl="1"/>
            <a:r>
              <a:rPr lang="zh-CN" altLang="en-US" dirty="0"/>
              <a:t>枚举值按照常量处理，是整型常量</a:t>
            </a:r>
            <a:endParaRPr lang="en-US" altLang="zh-CN" dirty="0"/>
          </a:p>
          <a:p>
            <a:pPr lvl="2"/>
            <a:r>
              <a:rPr lang="zh-CN" altLang="en-US" dirty="0"/>
              <a:t>枚举值用标识符表示，但是输出为整数</a:t>
            </a:r>
          </a:p>
        </p:txBody>
      </p:sp>
      <p:sp>
        <p:nvSpPr>
          <p:cNvPr id="6" name="矩形 5">
            <a:hlinkClick r:id="rId2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 □</a:t>
            </a: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 □</a:t>
            </a: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复合数据类型 ■</a:t>
            </a: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</a:t>
            </a: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限定数据类型 □</a:t>
            </a: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复合数据类型概览</a:t>
            </a: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枚举类型</a:t>
            </a:r>
          </a:p>
        </p:txBody>
      </p:sp>
      <p:sp>
        <p:nvSpPr>
          <p:cNvPr id="12" name="矩形 11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字符串类型</a:t>
            </a:r>
          </a:p>
        </p:txBody>
      </p:sp>
      <p:sp>
        <p:nvSpPr>
          <p:cNvPr id="13" name="矩形 12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数据类型的转换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699"/>
    </mc:Choice>
    <mc:Fallback xmlns="">
      <p:transition spd="slow" advTm="37699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枚举类型</a:t>
            </a:r>
          </a:p>
        </p:txBody>
      </p:sp>
      <p:sp>
        <p:nvSpPr>
          <p:cNvPr id="6" name="矩形 5"/>
          <p:cNvSpPr/>
          <p:nvPr/>
        </p:nvSpPr>
        <p:spPr>
          <a:xfrm>
            <a:off x="557081" y="2060848"/>
            <a:ext cx="7992888" cy="30315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include 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 namespace</a:t>
            </a:r>
            <a:r>
              <a:rPr lang="en-US" altLang="zh-CN" sz="20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main() {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0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enum</a:t>
            </a:r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color{RED,YELLOW=3,BLUE } c1=YELLOW,c2;</a:t>
            </a:r>
            <a:r>
              <a:rPr lang="en-US" altLang="zh-CN" sz="20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color a, b=BLUE, c, d=RED;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&lt;&lt;RED&lt;&lt;' '&lt;&lt;YELLOW&lt;&lt;' '&lt;&lt;BLUE&lt;&lt;</a:t>
            </a:r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&lt;&lt;"c1="&lt;&lt;c1&lt;&lt;"  b="&lt;&lt;b&lt;&lt;"  d="&lt;&lt;d&lt;&lt;</a:t>
            </a:r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zh-CN" alt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1720" y="5417716"/>
            <a:ext cx="3045060" cy="963612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9552" y="5474856"/>
            <a:ext cx="1440160" cy="439737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</p:spPr>
      </p:pic>
      <p:sp>
        <p:nvSpPr>
          <p:cNvPr id="10" name="矩形 9">
            <a:hlinkClick r:id="rId4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 □</a:t>
            </a: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 □</a:t>
            </a:r>
          </a:p>
        </p:txBody>
      </p:sp>
      <p:sp>
        <p:nvSpPr>
          <p:cNvPr id="12" name="矩形 11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复合数据类型 ■</a:t>
            </a:r>
          </a:p>
        </p:txBody>
      </p:sp>
      <p:sp>
        <p:nvSpPr>
          <p:cNvPr id="13" name="矩形 12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</a:t>
            </a: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限定数据类型 □</a:t>
            </a:r>
          </a:p>
        </p:txBody>
      </p:sp>
      <p:sp>
        <p:nvSpPr>
          <p:cNvPr id="14" name="矩形 13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复合数据类型概览</a:t>
            </a:r>
          </a:p>
        </p:txBody>
      </p:sp>
      <p:sp>
        <p:nvSpPr>
          <p:cNvPr id="15" name="矩形 14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枚举类型</a:t>
            </a:r>
          </a:p>
        </p:txBody>
      </p:sp>
      <p:sp>
        <p:nvSpPr>
          <p:cNvPr id="16" name="矩形 15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字符串类型</a:t>
            </a:r>
          </a:p>
        </p:txBody>
      </p:sp>
      <p:sp>
        <p:nvSpPr>
          <p:cNvPr id="17" name="矩形 16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数据类型的转换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586"/>
    </mc:Choice>
    <mc:Fallback xmlns="">
      <p:transition spd="slow" advTm="46586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黑体" panose="02010609060101010101" pitchFamily="2" charset="-122"/>
                <a:ea typeface="黑体" panose="02010609060101010101" pitchFamily="2" charset="-122"/>
              </a:rPr>
              <a:t>字符串类型</a:t>
            </a:r>
          </a:p>
        </p:txBody>
      </p:sp>
      <p:sp>
        <p:nvSpPr>
          <p:cNvPr id="18739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字符串类</a:t>
            </a:r>
            <a:endParaRPr lang="en-US" altLang="zh-CN" dirty="0"/>
          </a:p>
          <a:p>
            <a:pPr lvl="1"/>
            <a:r>
              <a:rPr lang="zh-CN" altLang="en-US" dirty="0"/>
              <a:t>不是基本数据类型</a:t>
            </a:r>
            <a:endParaRPr lang="en-US" altLang="zh-CN" dirty="0"/>
          </a:p>
          <a:p>
            <a:pPr lvl="1"/>
            <a:r>
              <a:rPr lang="zh-CN" altLang="en-US" dirty="0"/>
              <a:t>在</a:t>
            </a:r>
            <a:r>
              <a:rPr lang="en-US" altLang="zh-CN" dirty="0"/>
              <a:t>C++</a:t>
            </a:r>
            <a:r>
              <a:rPr lang="zh-CN" altLang="en-US" dirty="0"/>
              <a:t>标准库中定义，属于</a:t>
            </a:r>
            <a:r>
              <a:rPr lang="zh-CN" altLang="en-US" dirty="0">
                <a:solidFill>
                  <a:srgbClr val="C00000"/>
                </a:solidFill>
              </a:rPr>
              <a:t>标准库类型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r>
              <a:rPr lang="zh-CN" altLang="en-US" dirty="0"/>
              <a:t>可以作为数据类型使用</a:t>
            </a:r>
            <a:endParaRPr lang="en-US" altLang="zh-CN" dirty="0"/>
          </a:p>
          <a:p>
            <a:r>
              <a:rPr lang="zh-CN" altLang="en-US" dirty="0"/>
              <a:t>字符串对象</a:t>
            </a:r>
            <a:endParaRPr lang="en-US" altLang="zh-CN" dirty="0"/>
          </a:p>
          <a:p>
            <a:pPr lvl="1"/>
            <a:r>
              <a:rPr lang="zh-CN" altLang="en-US" dirty="0"/>
              <a:t>说明为字符串类型的变量</a:t>
            </a:r>
            <a:endParaRPr lang="en-US" altLang="zh-CN" dirty="0"/>
          </a:p>
          <a:p>
            <a:pPr lvl="1"/>
            <a:r>
              <a:rPr lang="zh-CN" altLang="en-US" dirty="0"/>
              <a:t>实际是字符串类的</a:t>
            </a:r>
            <a:r>
              <a:rPr lang="zh-CN" altLang="en-US" dirty="0">
                <a:solidFill>
                  <a:srgbClr val="C00000"/>
                </a:solidFill>
              </a:rPr>
              <a:t>对象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r>
              <a:rPr lang="zh-CN" altLang="en-US" dirty="0"/>
              <a:t>字符串类型的某些功能通过字符串类的成员函数实现</a:t>
            </a:r>
          </a:p>
        </p:txBody>
      </p:sp>
      <p:sp>
        <p:nvSpPr>
          <p:cNvPr id="6" name="矩形 5">
            <a:hlinkClick r:id="rId2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 □</a:t>
            </a: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 □</a:t>
            </a: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复合数据类型 ■</a:t>
            </a: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</a:t>
            </a: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限定数据类型 □</a:t>
            </a: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复合数据类型概览</a:t>
            </a: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枚举类型</a:t>
            </a:r>
          </a:p>
        </p:txBody>
      </p:sp>
      <p:sp>
        <p:nvSpPr>
          <p:cNvPr id="12" name="矩形 11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字符串类型</a:t>
            </a:r>
          </a:p>
        </p:txBody>
      </p:sp>
      <p:sp>
        <p:nvSpPr>
          <p:cNvPr id="13" name="矩形 12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数据类型的转换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978"/>
    </mc:Choice>
    <mc:Fallback xmlns="">
      <p:transition spd="slow" advTm="12978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黑体" panose="02010609060101010101" pitchFamily="2" charset="-122"/>
                <a:ea typeface="黑体" panose="02010609060101010101" pitchFamily="2" charset="-122"/>
              </a:rPr>
              <a:t>字符串类型</a:t>
            </a:r>
          </a:p>
        </p:txBody>
      </p:sp>
      <p:sp>
        <p:nvSpPr>
          <p:cNvPr id="188419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说明字符串对象</a:t>
            </a:r>
            <a:endParaRPr lang="en-US" altLang="zh-CN" dirty="0"/>
          </a:p>
          <a:p>
            <a:pPr lvl="1" algn="ctr">
              <a:buFont typeface="Wingdings" panose="05000000000000000000" pitchFamily="2" charset="2"/>
              <a:buNone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string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zh-CN" altLang="en-US" dirty="0"/>
              <a:t>字符串对象的初始化</a:t>
            </a:r>
            <a:endParaRPr lang="en-US" altLang="zh-CN" dirty="0"/>
          </a:p>
          <a:p>
            <a:pPr lvl="1" algn="ctr">
              <a:buNone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string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{"hello"};</a:t>
            </a:r>
          </a:p>
          <a:p>
            <a:pPr lvl="1" algn="ctr">
              <a:buNone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string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("hello");</a:t>
            </a:r>
          </a:p>
          <a:p>
            <a:pPr lvl="1" algn="ctr">
              <a:buNone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string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="hello";</a:t>
            </a:r>
          </a:p>
          <a:p>
            <a:pPr lvl="1" algn="ctr">
              <a:buNone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string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{};</a:t>
            </a:r>
          </a:p>
        </p:txBody>
      </p:sp>
      <p:sp>
        <p:nvSpPr>
          <p:cNvPr id="6" name="矩形 5">
            <a:hlinkClick r:id="rId2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 □</a:t>
            </a: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 □</a:t>
            </a: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复合数据类型 ■</a:t>
            </a: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</a:t>
            </a: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限定数据类型 □</a:t>
            </a: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复合数据类型概览</a:t>
            </a: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枚举类型</a:t>
            </a:r>
          </a:p>
        </p:txBody>
      </p:sp>
      <p:sp>
        <p:nvSpPr>
          <p:cNvPr id="12" name="矩形 11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字符串类型</a:t>
            </a:r>
          </a:p>
        </p:txBody>
      </p:sp>
      <p:sp>
        <p:nvSpPr>
          <p:cNvPr id="13" name="矩形 12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数据类型的转换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410"/>
    </mc:Choice>
    <mc:Fallback xmlns="">
      <p:transition spd="slow" advTm="9410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黑体" panose="02010609060101010101" pitchFamily="2" charset="-122"/>
                <a:ea typeface="黑体" panose="02010609060101010101" pitchFamily="2" charset="-122"/>
              </a:rPr>
              <a:t>字符串类型</a:t>
            </a:r>
          </a:p>
        </p:txBody>
      </p:sp>
      <p:sp>
        <p:nvSpPr>
          <p:cNvPr id="18944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操作字符串对象</a:t>
            </a:r>
            <a:endParaRPr lang="en-US" altLang="zh-CN" dirty="0"/>
          </a:p>
          <a:p>
            <a:pPr lvl="1"/>
            <a:r>
              <a:rPr lang="zh-CN" altLang="en-US" dirty="0"/>
              <a:t>访问字符串中的字符</a:t>
            </a:r>
            <a:endParaRPr lang="en-US" altLang="zh-CN" dirty="0"/>
          </a:p>
          <a:p>
            <a:pPr lvl="2"/>
            <a:r>
              <a:rPr lang="zh-CN" altLang="en-US" dirty="0"/>
              <a:t>字符数组下标</a:t>
            </a:r>
            <a:endParaRPr lang="en-US" altLang="zh-CN" dirty="0"/>
          </a:p>
          <a:p>
            <a:pPr lvl="2"/>
            <a:r>
              <a:rPr lang="zh-CN" altLang="en-US" dirty="0"/>
              <a:t>例如</a:t>
            </a:r>
            <a:endParaRPr lang="en-US" altLang="zh-CN" dirty="0"/>
          </a:p>
          <a:p>
            <a:pPr lvl="2">
              <a:buFontTx/>
              <a:buNone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string word ="Then";</a:t>
            </a:r>
          </a:p>
          <a:p>
            <a:pPr lvl="2">
              <a:buFontTx/>
              <a:buNone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word[2] = 'a';</a:t>
            </a:r>
          </a:p>
          <a:p>
            <a:pPr lvl="2"/>
            <a:r>
              <a:rPr lang="zh-CN" altLang="en-US" dirty="0"/>
              <a:t>字符串对象的值变为：</a:t>
            </a:r>
            <a:r>
              <a:rPr lang="en-US" altLang="zh-CN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"Than"</a:t>
            </a:r>
          </a:p>
          <a:p>
            <a:pPr lvl="2"/>
            <a:r>
              <a:rPr lang="zh-CN" altLang="en-US" dirty="0"/>
              <a:t>输入输出</a:t>
            </a:r>
            <a:endParaRPr lang="en-US" altLang="zh-CN" dirty="0"/>
          </a:p>
          <a:p>
            <a:pPr lvl="2"/>
            <a:r>
              <a:rPr lang="en-US" altLang="zh-CN" b="1" dirty="0" err="1">
                <a:latin typeface="Courier New" panose="02070309020205020404" pitchFamily="49" charset="0"/>
              </a:rPr>
              <a:t>cin</a:t>
            </a:r>
            <a:r>
              <a:rPr lang="en-US" altLang="zh-CN" b="1" dirty="0">
                <a:latin typeface="Courier New" panose="02070309020205020404" pitchFamily="49" charset="0"/>
              </a:rPr>
              <a:t>&gt;&gt;word;</a:t>
            </a:r>
          </a:p>
          <a:p>
            <a:pPr lvl="2"/>
            <a:r>
              <a:rPr lang="en-US" altLang="zh-CN" b="1" dirty="0" err="1">
                <a:latin typeface="Courier New" panose="02070309020205020404" pitchFamily="49" charset="0"/>
              </a:rPr>
              <a:t>cout</a:t>
            </a:r>
            <a:r>
              <a:rPr lang="en-US" altLang="zh-CN" b="1" dirty="0">
                <a:latin typeface="Courier New" panose="02070309020205020404" pitchFamily="49" charset="0"/>
              </a:rPr>
              <a:t>&lt;&lt;word;</a:t>
            </a:r>
          </a:p>
          <a:p>
            <a:pPr lvl="1"/>
            <a:endParaRPr lang="en-US" altLang="zh-CN" dirty="0"/>
          </a:p>
        </p:txBody>
      </p:sp>
      <p:sp>
        <p:nvSpPr>
          <p:cNvPr id="6" name="矩形 5">
            <a:hlinkClick r:id="rId3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 □</a:t>
            </a: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 □</a:t>
            </a: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复合数据类型 ■</a:t>
            </a: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</a:t>
            </a: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限定数据类型 □</a:t>
            </a: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复合数据类型概览</a:t>
            </a: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枚举类型</a:t>
            </a:r>
          </a:p>
        </p:txBody>
      </p:sp>
      <p:sp>
        <p:nvSpPr>
          <p:cNvPr id="12" name="矩形 11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字符串类型</a:t>
            </a:r>
          </a:p>
        </p:txBody>
      </p:sp>
      <p:sp>
        <p:nvSpPr>
          <p:cNvPr id="13" name="矩形 12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数据类型的转换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948"/>
    </mc:Choice>
    <mc:Fallback xmlns="">
      <p:transition spd="slow" advTm="19948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黑体" panose="02010609060101010101" pitchFamily="2" charset="-122"/>
                <a:ea typeface="黑体" panose="02010609060101010101" pitchFamily="2" charset="-122"/>
              </a:rPr>
              <a:t>字符串类型</a:t>
            </a:r>
          </a:p>
        </p:txBody>
      </p:sp>
      <p:sp>
        <p:nvSpPr>
          <p:cNvPr id="190467" name="内容占位符 2"/>
          <p:cNvSpPr>
            <a:spLocks noGrp="1"/>
          </p:cNvSpPr>
          <p:nvPr>
            <p:ph idx="1"/>
          </p:nvPr>
        </p:nvSpPr>
        <p:spPr>
          <a:xfrm>
            <a:off x="539552" y="1988840"/>
            <a:ext cx="7920880" cy="4335760"/>
          </a:xfrm>
        </p:spPr>
        <p:txBody>
          <a:bodyPr/>
          <a:lstStyle/>
          <a:p>
            <a:r>
              <a:rPr lang="zh-CN" altLang="en-US" dirty="0"/>
              <a:t>操作字符串对象</a:t>
            </a:r>
            <a:endParaRPr lang="en-US" altLang="zh-CN" dirty="0"/>
          </a:p>
          <a:p>
            <a:pPr lvl="1"/>
            <a:r>
              <a:rPr lang="zh-CN" altLang="en-US" dirty="0"/>
              <a:t>计算长度</a:t>
            </a:r>
            <a:endParaRPr lang="en-US" altLang="zh-CN" dirty="0"/>
          </a:p>
          <a:p>
            <a:pPr lvl="2"/>
            <a:r>
              <a:rPr lang="zh-CN" altLang="en-US" dirty="0"/>
              <a:t>调用字符串类的成员函数</a:t>
            </a:r>
            <a:r>
              <a:rPr lang="en-US" altLang="zh-CN" dirty="0"/>
              <a:t>length()</a:t>
            </a:r>
          </a:p>
          <a:p>
            <a:pPr lvl="2"/>
            <a:r>
              <a:rPr lang="zh-CN" altLang="en-US" dirty="0"/>
              <a:t>例如：</a:t>
            </a:r>
            <a:r>
              <a:rPr lang="en-US" altLang="zh-CN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word.length</a:t>
            </a:r>
            <a:r>
              <a:rPr lang="en-US" altLang="zh-CN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zh-CN" altLang="en-US" dirty="0"/>
              <a:t>连接</a:t>
            </a:r>
            <a:endParaRPr lang="en-US" altLang="zh-CN" dirty="0"/>
          </a:p>
          <a:p>
            <a:pPr lvl="2"/>
            <a:r>
              <a:rPr lang="zh-CN" altLang="en-US" dirty="0"/>
              <a:t>重载算术运算符“</a:t>
            </a:r>
            <a:r>
              <a:rPr lang="en-US" altLang="zh-CN" dirty="0"/>
              <a:t>+</a:t>
            </a:r>
            <a:r>
              <a:rPr lang="zh-CN" altLang="en-US" dirty="0"/>
              <a:t>”</a:t>
            </a:r>
            <a:endParaRPr lang="en-US" altLang="zh-CN" dirty="0"/>
          </a:p>
          <a:p>
            <a:pPr lvl="2"/>
            <a:r>
              <a:rPr lang="zh-CN" altLang="en-US" dirty="0"/>
              <a:t>例如</a:t>
            </a:r>
            <a:endParaRPr lang="en-US" altLang="zh-CN" dirty="0"/>
          </a:p>
        </p:txBody>
      </p:sp>
      <p:sp>
        <p:nvSpPr>
          <p:cNvPr id="2" name="矩形 1"/>
          <p:cNvSpPr/>
          <p:nvPr/>
        </p:nvSpPr>
        <p:spPr>
          <a:xfrm>
            <a:off x="1619672" y="4509120"/>
            <a:ext cx="705678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>
              <a:buFontTx/>
              <a:buNone/>
            </a:pPr>
            <a:r>
              <a:rPr lang="en-US" altLang="zh-CN" b="1" dirty="0">
                <a:latin typeface="Courier New" panose="02070309020205020404" pitchFamily="49" charset="0"/>
              </a:rPr>
              <a:t>string word1 = 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altLang="zh-CN" b="1" dirty="0">
                <a:latin typeface="Courier New" panose="02070309020205020404" pitchFamily="49" charset="0"/>
              </a:rPr>
              <a:t>hello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altLang="zh-CN" b="1" dirty="0">
                <a:latin typeface="Courier New" panose="02070309020205020404" pitchFamily="49" charset="0"/>
              </a:rPr>
              <a:t>;</a:t>
            </a:r>
          </a:p>
          <a:p>
            <a:pPr lvl="2">
              <a:buFontTx/>
              <a:buNone/>
            </a:pPr>
            <a:r>
              <a:rPr lang="en-US" altLang="zh-CN" b="1" dirty="0">
                <a:latin typeface="Courier New" panose="02070309020205020404" pitchFamily="49" charset="0"/>
              </a:rPr>
              <a:t>string word2 = 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altLang="zh-CN" b="1" dirty="0">
                <a:latin typeface="Courier New" panose="02070309020205020404" pitchFamily="49" charset="0"/>
              </a:rPr>
              <a:t> C++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altLang="zh-CN" b="1" dirty="0">
                <a:latin typeface="Courier New" panose="02070309020205020404" pitchFamily="49" charset="0"/>
              </a:rPr>
              <a:t>;</a:t>
            </a:r>
          </a:p>
          <a:p>
            <a:pPr lvl="2">
              <a:buFontTx/>
              <a:buNone/>
            </a:pPr>
            <a:r>
              <a:rPr lang="en-US" altLang="zh-CN" b="1" dirty="0">
                <a:latin typeface="Courier New" panose="02070309020205020404" pitchFamily="49" charset="0"/>
              </a:rPr>
              <a:t>string word3 = word1 + word2;</a:t>
            </a:r>
          </a:p>
          <a:p>
            <a:pPr lvl="2">
              <a:buFontTx/>
              <a:buNone/>
            </a:pPr>
            <a:r>
              <a:rPr lang="en-US" altLang="zh-CN" b="1" dirty="0" err="1">
                <a:latin typeface="Courier New" panose="02070309020205020404" pitchFamily="49" charset="0"/>
              </a:rPr>
              <a:t>cout</a:t>
            </a:r>
            <a:r>
              <a:rPr lang="en-US" altLang="zh-CN" b="1" dirty="0">
                <a:latin typeface="Courier New" panose="02070309020205020404" pitchFamily="49" charset="0"/>
              </a:rPr>
              <a:t>&lt;&lt;word3&lt;&lt;</a:t>
            </a:r>
            <a:r>
              <a:rPr lang="en-US" altLang="zh-CN" b="1" dirty="0" err="1">
                <a:latin typeface="Courier New" panose="02070309020205020404" pitchFamily="49" charset="0"/>
              </a:rPr>
              <a:t>endl</a:t>
            </a:r>
            <a:r>
              <a:rPr lang="en-US" altLang="zh-CN" b="1" dirty="0">
                <a:latin typeface="Courier New" panose="02070309020205020404" pitchFamily="49" charset="0"/>
              </a:rPr>
              <a:t>;</a:t>
            </a:r>
            <a:r>
              <a:rPr lang="en-US" altLang="zh-CN" b="1" dirty="0">
                <a:solidFill>
                  <a:srgbClr val="00B050"/>
                </a:solidFill>
                <a:latin typeface="Courier New" panose="02070309020205020404" pitchFamily="49" charset="0"/>
              </a:rPr>
              <a:t>//word3</a:t>
            </a:r>
            <a:r>
              <a:rPr lang="zh-CN" altLang="en-US" b="1" dirty="0">
                <a:solidFill>
                  <a:srgbClr val="00B050"/>
                </a:solidFill>
                <a:latin typeface="Courier New" panose="02070309020205020404" pitchFamily="49" charset="0"/>
              </a:rPr>
              <a:t>为：</a:t>
            </a:r>
            <a:r>
              <a:rPr lang="en-US" altLang="zh-CN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"hello C++"</a:t>
            </a:r>
          </a:p>
          <a:p>
            <a:pPr lvl="2"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</a:rPr>
              <a:t>注意：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</a:rPr>
              <a:t>+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</a:rPr>
              <a:t>不支持两个字符串字面量的连接，如</a:t>
            </a:r>
            <a:endParaRPr lang="en-US" altLang="zh-CN" b="1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pPr lvl="2">
              <a:buFontTx/>
              <a:buNone/>
            </a:pPr>
            <a:r>
              <a:rPr lang="en-US" altLang="zh-CN" b="1" dirty="0">
                <a:latin typeface="Courier New" panose="02070309020205020404" pitchFamily="49" charset="0"/>
              </a:rPr>
              <a:t>string word4 = 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altLang="zh-CN" b="1" dirty="0">
                <a:latin typeface="Courier New" panose="02070309020205020404" pitchFamily="49" charset="0"/>
              </a:rPr>
              <a:t>hello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altLang="zh-CN" b="1" dirty="0">
                <a:latin typeface="Courier New" panose="02070309020205020404" pitchFamily="49" charset="0"/>
              </a:rPr>
              <a:t> + 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altLang="zh-CN" b="1" dirty="0">
                <a:latin typeface="Courier New" panose="02070309020205020404" pitchFamily="49" charset="0"/>
              </a:rPr>
              <a:t> world!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altLang="zh-CN" b="1" dirty="0">
                <a:latin typeface="Courier New" panose="02070309020205020404" pitchFamily="49" charset="0"/>
              </a:rPr>
              <a:t>;</a:t>
            </a:r>
            <a:endParaRPr lang="en-US" altLang="zh-CN" b="1" dirty="0"/>
          </a:p>
        </p:txBody>
      </p:sp>
      <p:sp>
        <p:nvSpPr>
          <p:cNvPr id="7" name="矩形 6">
            <a:hlinkClick r:id="rId2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 □</a:t>
            </a: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 □</a:t>
            </a: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复合数据类型 ■</a:t>
            </a: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</a:t>
            </a: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限定数据类型 □</a:t>
            </a: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复合数据类型概览</a:t>
            </a:r>
          </a:p>
        </p:txBody>
      </p:sp>
      <p:sp>
        <p:nvSpPr>
          <p:cNvPr id="12" name="矩形 11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枚举类型</a:t>
            </a:r>
          </a:p>
        </p:txBody>
      </p:sp>
      <p:sp>
        <p:nvSpPr>
          <p:cNvPr id="13" name="矩形 12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字符串类型</a:t>
            </a:r>
          </a:p>
        </p:txBody>
      </p:sp>
      <p:sp>
        <p:nvSpPr>
          <p:cNvPr id="14" name="矩形 13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数据类型的转换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379"/>
    </mc:Choice>
    <mc:Fallback xmlns="">
      <p:transition spd="slow" advTm="29379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字符串类型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操作字符串对象</a:t>
            </a:r>
            <a:endParaRPr lang="en-US" altLang="zh-CN" dirty="0"/>
          </a:p>
          <a:p>
            <a:pPr lvl="1"/>
            <a:r>
              <a:rPr lang="zh-CN" altLang="en-US" dirty="0"/>
              <a:t>字符串连接字符、整数、浮点数</a:t>
            </a:r>
            <a:endParaRPr lang="en-US" altLang="zh-CN" dirty="0"/>
          </a:p>
          <a:p>
            <a:pPr marL="914400" lvl="2" indent="0">
              <a:buNone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string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{"the result is "};</a:t>
            </a:r>
          </a:p>
          <a:p>
            <a:pPr marL="914400" lvl="2" indent="0">
              <a:buNone/>
            </a:pP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+=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to_string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('a');</a:t>
            </a:r>
          </a:p>
          <a:p>
            <a:pPr marL="914400" lvl="2" indent="0">
              <a:buNone/>
            </a:pP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+=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to_string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(69);</a:t>
            </a:r>
          </a:p>
          <a:p>
            <a:pPr marL="914400" lvl="2" indent="0">
              <a:buNone/>
            </a:pP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+=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to_string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(6.2832);</a:t>
            </a:r>
            <a:endParaRPr lang="zh-CN" alt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矩形 3">
            <a:hlinkClick r:id="rId2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 □</a:t>
            </a:r>
          </a:p>
        </p:txBody>
      </p:sp>
      <p:sp>
        <p:nvSpPr>
          <p:cNvPr id="5" name="矩形 4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 □</a:t>
            </a:r>
          </a:p>
        </p:txBody>
      </p:sp>
      <p:sp>
        <p:nvSpPr>
          <p:cNvPr id="6" name="矩形 5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复合数据类型 ■</a:t>
            </a: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</a:t>
            </a: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限定数据类型 □</a:t>
            </a: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复合数据类型概览</a:t>
            </a: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枚举类型</a:t>
            </a: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字符串类型</a:t>
            </a: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数据类型的转换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899"/>
    </mc:Choice>
    <mc:Fallback xmlns="">
      <p:transition spd="slow" advTm="17899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黑体" panose="02010609060101010101" pitchFamily="2" charset="-122"/>
                <a:ea typeface="黑体" panose="02010609060101010101" pitchFamily="2" charset="-122"/>
              </a:rPr>
              <a:t>字符串类型</a:t>
            </a:r>
          </a:p>
        </p:txBody>
      </p:sp>
      <p:sp>
        <p:nvSpPr>
          <p:cNvPr id="19149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操作字符串对象</a:t>
            </a:r>
            <a:endParaRPr lang="en-US" altLang="zh-CN" dirty="0"/>
          </a:p>
          <a:p>
            <a:pPr lvl="1"/>
            <a:r>
              <a:rPr lang="zh-CN" altLang="en-US" dirty="0"/>
              <a:t>赋值</a:t>
            </a:r>
            <a:endParaRPr lang="en-US" altLang="zh-CN" dirty="0"/>
          </a:p>
          <a:p>
            <a:pPr lvl="2">
              <a:buFontTx/>
              <a:buNone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string word1="hello";</a:t>
            </a:r>
          </a:p>
          <a:p>
            <a:pPr lvl="2">
              <a:buFontTx/>
              <a:buNone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string word2{word1};</a:t>
            </a:r>
            <a:r>
              <a:rPr lang="en-US" altLang="zh-CN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将</a:t>
            </a:r>
            <a:r>
              <a:rPr lang="en-US" altLang="zh-CN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word1</a:t>
            </a:r>
            <a:r>
              <a:rPr lang="zh-CN" alt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值赋给</a:t>
            </a:r>
            <a:r>
              <a:rPr lang="en-US" altLang="zh-CN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word2</a:t>
            </a:r>
            <a:endParaRPr lang="en-US" altLang="zh-CN" b="1" dirty="0">
              <a:solidFill>
                <a:srgbClr val="00B050"/>
              </a:solidFill>
            </a:endParaRPr>
          </a:p>
          <a:p>
            <a:pPr lvl="1"/>
            <a:r>
              <a:rPr lang="zh-CN" altLang="en-US" dirty="0"/>
              <a:t>比较</a:t>
            </a:r>
            <a:endParaRPr lang="en-US" altLang="zh-CN" dirty="0"/>
          </a:p>
          <a:p>
            <a:pPr lvl="2"/>
            <a:r>
              <a:rPr lang="zh-CN" altLang="en-US" dirty="0"/>
              <a:t>重载关系运算符：</a:t>
            </a:r>
            <a:r>
              <a:rPr lang="en-US" altLang="zh-CN" dirty="0"/>
              <a:t>==</a:t>
            </a:r>
            <a:r>
              <a:rPr lang="zh-CN" altLang="en-US" dirty="0"/>
              <a:t>、</a:t>
            </a:r>
            <a:r>
              <a:rPr lang="en-US" altLang="zh-CN" dirty="0"/>
              <a:t>&gt;</a:t>
            </a:r>
            <a:r>
              <a:rPr lang="zh-CN" altLang="en-US" dirty="0"/>
              <a:t>、</a:t>
            </a:r>
            <a:r>
              <a:rPr lang="en-US" altLang="zh-CN" dirty="0"/>
              <a:t>&lt;</a:t>
            </a:r>
            <a:r>
              <a:rPr lang="zh-CN" altLang="en-US" dirty="0"/>
              <a:t>、</a:t>
            </a:r>
            <a:r>
              <a:rPr lang="en-US" altLang="zh-CN" dirty="0"/>
              <a:t>!=</a:t>
            </a:r>
            <a:r>
              <a:rPr lang="zh-CN" altLang="en-US" dirty="0"/>
              <a:t>、</a:t>
            </a:r>
            <a:r>
              <a:rPr lang="en-US" altLang="zh-CN" dirty="0"/>
              <a:t>&gt;=</a:t>
            </a:r>
            <a:r>
              <a:rPr lang="zh-CN" altLang="en-US" dirty="0"/>
              <a:t>、</a:t>
            </a:r>
            <a:r>
              <a:rPr lang="en-US" altLang="zh-CN" dirty="0"/>
              <a:t>&lt;=</a:t>
            </a:r>
            <a:r>
              <a:rPr lang="zh-CN" altLang="en-US" dirty="0"/>
              <a:t>、</a:t>
            </a:r>
            <a:endParaRPr lang="en-US" altLang="zh-CN" dirty="0"/>
          </a:p>
          <a:p>
            <a:pPr lvl="3"/>
            <a:r>
              <a:rPr lang="zh-CN" altLang="en-US" dirty="0"/>
              <a:t>逐个比较字符，直到找到第一个不同的字符，根据</a:t>
            </a:r>
            <a:r>
              <a:rPr lang="en-US" altLang="zh-CN" dirty="0"/>
              <a:t>ASCII</a:t>
            </a:r>
            <a:r>
              <a:rPr lang="zh-CN" altLang="en-US" dirty="0"/>
              <a:t>值比较不同字符的大小关系</a:t>
            </a:r>
            <a:endParaRPr lang="en-US" altLang="zh-CN" dirty="0"/>
          </a:p>
          <a:p>
            <a:pPr lvl="2"/>
            <a:r>
              <a:rPr lang="zh-CN" altLang="en-US" dirty="0"/>
              <a:t>构造关于字符串的关系表达式</a:t>
            </a:r>
          </a:p>
          <a:p>
            <a:pPr lvl="1"/>
            <a:endParaRPr lang="zh-CN" altLang="en-US" dirty="0"/>
          </a:p>
        </p:txBody>
      </p:sp>
      <p:sp>
        <p:nvSpPr>
          <p:cNvPr id="6" name="矩形 5">
            <a:hlinkClick r:id="rId2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 □</a:t>
            </a: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 □</a:t>
            </a: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复合数据类型 ■</a:t>
            </a: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</a:t>
            </a: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限定数据类型 □</a:t>
            </a: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复合数据类型概览</a:t>
            </a: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枚举类型</a:t>
            </a:r>
          </a:p>
        </p:txBody>
      </p:sp>
      <p:sp>
        <p:nvSpPr>
          <p:cNvPr id="12" name="矩形 11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字符串类型</a:t>
            </a:r>
          </a:p>
        </p:txBody>
      </p:sp>
      <p:sp>
        <p:nvSpPr>
          <p:cNvPr id="13" name="矩形 12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数据类型的转换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547"/>
    </mc:Choice>
    <mc:Fallback xmlns="">
      <p:transition spd="slow" advTm="17547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黑体" panose="02010609060101010101" pitchFamily="2" charset="-122"/>
                <a:ea typeface="黑体" panose="02010609060101010101" pitchFamily="2" charset="-122"/>
              </a:rPr>
              <a:t>字符串类型</a:t>
            </a:r>
          </a:p>
        </p:txBody>
      </p:sp>
      <p:sp>
        <p:nvSpPr>
          <p:cNvPr id="19251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字符串数组</a:t>
            </a:r>
            <a:endParaRPr lang="en-US" altLang="zh-CN" dirty="0"/>
          </a:p>
          <a:p>
            <a:pPr lvl="1"/>
            <a:r>
              <a:rPr lang="zh-CN" altLang="en-US" dirty="0"/>
              <a:t>说明</a:t>
            </a:r>
            <a:endParaRPr lang="en-US" altLang="zh-CN" dirty="0"/>
          </a:p>
          <a:p>
            <a:pPr lvl="2"/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string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[10];</a:t>
            </a:r>
          </a:p>
          <a:p>
            <a:pPr lvl="1"/>
            <a:r>
              <a:rPr lang="zh-CN" altLang="en-US" dirty="0"/>
              <a:t>初始化</a:t>
            </a:r>
            <a:endParaRPr lang="en-US" altLang="zh-CN" dirty="0"/>
          </a:p>
          <a:p>
            <a:pPr lvl="2"/>
            <a:r>
              <a:rPr lang="en-US" altLang="zh-CN" b="1" dirty="0">
                <a:latin typeface="Courier New" panose="02070309020205020404" pitchFamily="49" charset="0"/>
              </a:rPr>
              <a:t>string </a:t>
            </a:r>
            <a:r>
              <a:rPr lang="en-US" altLang="zh-CN" b="1" dirty="0" err="1">
                <a:latin typeface="Courier New" panose="02070309020205020404" pitchFamily="49" charset="0"/>
              </a:rPr>
              <a:t>str</a:t>
            </a:r>
            <a:r>
              <a:rPr lang="en-US" altLang="zh-CN" b="1" dirty="0">
                <a:latin typeface="Courier New" panose="02070309020205020404" pitchFamily="49" charset="0"/>
              </a:rPr>
              <a:t>[10]={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altLang="zh-CN" b="1" dirty="0" err="1">
                <a:latin typeface="Courier New" panose="02070309020205020404" pitchFamily="49" charset="0"/>
              </a:rPr>
              <a:t>zhao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altLang="zh-CN" b="1" dirty="0">
                <a:latin typeface="Courier New" panose="02070309020205020404" pitchFamily="49" charset="0"/>
              </a:rPr>
              <a:t>,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"</a:t>
            </a:r>
            <a:r>
              <a:rPr lang="en-US" altLang="zh-CN" b="1" dirty="0" err="1">
                <a:latin typeface="Courier New" panose="02070309020205020404" pitchFamily="49" charset="0"/>
              </a:rPr>
              <a:t>qian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altLang="zh-CN" b="1" dirty="0">
                <a:latin typeface="Courier New" panose="02070309020205020404" pitchFamily="49" charset="0"/>
              </a:rPr>
              <a:t>};</a:t>
            </a:r>
          </a:p>
          <a:p>
            <a:pPr lvl="1"/>
            <a:r>
              <a:rPr lang="zh-CN" altLang="en-US" dirty="0"/>
              <a:t>赋值</a:t>
            </a:r>
            <a:endParaRPr lang="en-US" altLang="zh-CN" dirty="0"/>
          </a:p>
          <a:p>
            <a:pPr lvl="2"/>
            <a:r>
              <a:rPr lang="en-US" altLang="zh-CN" b="1" dirty="0" err="1">
                <a:latin typeface="Courier New" panose="02070309020205020404" pitchFamily="49" charset="0"/>
              </a:rPr>
              <a:t>str</a:t>
            </a:r>
            <a:r>
              <a:rPr lang="en-US" altLang="zh-CN" b="1" dirty="0">
                <a:latin typeface="Courier New" panose="02070309020205020404" pitchFamily="49" charset="0"/>
              </a:rPr>
              <a:t>[2]=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altLang="zh-CN" b="1" dirty="0">
                <a:latin typeface="Courier New" panose="02070309020205020404" pitchFamily="49" charset="0"/>
              </a:rPr>
              <a:t>sun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altLang="zh-CN" b="1" dirty="0">
                <a:latin typeface="Courier New" panose="02070309020205020404" pitchFamily="49" charset="0"/>
              </a:rPr>
              <a:t>;</a:t>
            </a:r>
          </a:p>
          <a:p>
            <a:pPr lvl="1"/>
            <a:r>
              <a:rPr lang="zh-CN" altLang="en-US" dirty="0"/>
              <a:t>存储方式</a:t>
            </a:r>
            <a:endParaRPr lang="en-US" altLang="zh-CN" dirty="0"/>
          </a:p>
          <a:p>
            <a:pPr lvl="2"/>
            <a:r>
              <a:rPr lang="en-US" altLang="zh-CN" dirty="0"/>
              <a:t>Visual C++</a:t>
            </a:r>
            <a:r>
              <a:rPr lang="zh-CN" altLang="en-US" dirty="0"/>
              <a:t>编译器为字符串类型变量分配</a:t>
            </a:r>
            <a:r>
              <a:rPr lang="en-US" altLang="zh-CN" dirty="0"/>
              <a:t>16Byte</a:t>
            </a:r>
            <a:r>
              <a:rPr lang="zh-CN" altLang="en-US" dirty="0"/>
              <a:t>的存储空间，存储字符串在内存中的地址</a:t>
            </a:r>
          </a:p>
        </p:txBody>
      </p:sp>
      <p:sp>
        <p:nvSpPr>
          <p:cNvPr id="6" name="矩形 5">
            <a:hlinkClick r:id="rId2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 □</a:t>
            </a: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 □</a:t>
            </a: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复合数据类型 ■</a:t>
            </a: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</a:t>
            </a: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限定数据类型 □</a:t>
            </a: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复合数据类型概览</a:t>
            </a: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枚举类型</a:t>
            </a:r>
          </a:p>
        </p:txBody>
      </p:sp>
      <p:sp>
        <p:nvSpPr>
          <p:cNvPr id="12" name="矩形 11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字符串类型</a:t>
            </a:r>
          </a:p>
        </p:txBody>
      </p:sp>
      <p:sp>
        <p:nvSpPr>
          <p:cNvPr id="13" name="矩形 12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数据类型的转换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774"/>
    </mc:Choice>
    <mc:Fallback xmlns="">
      <p:transition spd="slow" advTm="22774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字符串类型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宽字符串</a:t>
            </a:r>
            <a:endParaRPr lang="en-US" altLang="zh-CN" dirty="0"/>
          </a:p>
          <a:p>
            <a:pPr lvl="1"/>
            <a:r>
              <a:rPr lang="en-US" altLang="zh-CN" dirty="0" err="1"/>
              <a:t>std</a:t>
            </a:r>
            <a:r>
              <a:rPr lang="en-US" altLang="zh-CN" dirty="0"/>
              <a:t>::</a:t>
            </a:r>
            <a:r>
              <a:rPr lang="en-US" altLang="zh-CN" dirty="0" err="1"/>
              <a:t>wstring</a:t>
            </a:r>
            <a:endParaRPr lang="en-US" altLang="zh-CN" dirty="0"/>
          </a:p>
          <a:p>
            <a:r>
              <a:rPr lang="en-US" altLang="zh-CN" dirty="0"/>
              <a:t>Unicode</a:t>
            </a:r>
            <a:r>
              <a:rPr lang="zh-CN" altLang="en-US" dirty="0"/>
              <a:t>字符串</a:t>
            </a:r>
            <a:endParaRPr lang="en-US" altLang="zh-CN" dirty="0"/>
          </a:p>
          <a:p>
            <a:pPr lvl="1"/>
            <a:r>
              <a:rPr lang="en-US" altLang="zh-CN" dirty="0" err="1"/>
              <a:t>std</a:t>
            </a:r>
            <a:r>
              <a:rPr lang="en-US" altLang="zh-CN" dirty="0"/>
              <a:t>::u16string</a:t>
            </a:r>
          </a:p>
          <a:p>
            <a:pPr lvl="1"/>
            <a:r>
              <a:rPr lang="en-US" altLang="zh-CN" dirty="0" err="1"/>
              <a:t>std</a:t>
            </a:r>
            <a:r>
              <a:rPr lang="en-US" altLang="zh-CN" dirty="0"/>
              <a:t>::u32string</a:t>
            </a:r>
            <a:endParaRPr lang="zh-CN" altLang="en-US" dirty="0"/>
          </a:p>
        </p:txBody>
      </p:sp>
      <p:sp>
        <p:nvSpPr>
          <p:cNvPr id="4" name="矩形 3">
            <a:hlinkClick r:id="rId2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 □</a:t>
            </a:r>
          </a:p>
        </p:txBody>
      </p:sp>
      <p:sp>
        <p:nvSpPr>
          <p:cNvPr id="5" name="矩形 4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 □</a:t>
            </a:r>
          </a:p>
        </p:txBody>
      </p:sp>
      <p:sp>
        <p:nvSpPr>
          <p:cNvPr id="6" name="矩形 5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复合数据类型 ■</a:t>
            </a: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</a:t>
            </a: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限定数据类型 □</a:t>
            </a: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复合数据类型概览</a:t>
            </a: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枚举类型</a:t>
            </a: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字符串类型</a:t>
            </a: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数据类型的转换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801"/>
    </mc:Choice>
    <mc:Fallback xmlns="">
      <p:transition spd="slow" advTm="980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字符串类型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928813"/>
            <a:ext cx="8579296" cy="4500562"/>
          </a:xfrm>
        </p:spPr>
        <p:txBody>
          <a:bodyPr/>
          <a:lstStyle/>
          <a:p>
            <a:r>
              <a:rPr lang="en-US" altLang="zh-CN" dirty="0"/>
              <a:t>C</a:t>
            </a:r>
            <a:r>
              <a:rPr lang="zh-CN" altLang="en-US" dirty="0"/>
              <a:t>样式的字符串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 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457200" lvl="1" indent="0">
              <a:buNone/>
            </a:pP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[20];</a:t>
            </a:r>
          </a:p>
          <a:p>
            <a:r>
              <a:rPr lang="zh-CN" altLang="en-US" dirty="0"/>
              <a:t>将</a:t>
            </a:r>
            <a:r>
              <a:rPr lang="en-US" altLang="zh-CN" dirty="0"/>
              <a:t>string</a:t>
            </a:r>
            <a:r>
              <a:rPr lang="zh-CN" altLang="en-US" dirty="0"/>
              <a:t>字符串转换为</a:t>
            </a:r>
            <a:r>
              <a:rPr lang="en-US" altLang="zh-CN" dirty="0"/>
              <a:t>C</a:t>
            </a:r>
            <a:r>
              <a:rPr lang="zh-CN" altLang="en-US" dirty="0"/>
              <a:t>字符串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string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string_type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{"Hello"};</a:t>
            </a:r>
          </a:p>
          <a:p>
            <a:pPr marL="457200" lvl="1" indent="0">
              <a:buNone/>
            </a:pPr>
            <a:r>
              <a:rPr lang="en-US" altLang="zh-CN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char 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* c_type1 =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string_type.c_str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  <a:r>
              <a:rPr lang="en-US" altLang="zh-CN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常量指针</a:t>
            </a:r>
            <a:endParaRPr lang="en-US" altLang="zh-CN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*c_type2=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string_type.data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r>
              <a:rPr lang="en-US" altLang="zh-CN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普通指针</a:t>
            </a:r>
          </a:p>
        </p:txBody>
      </p:sp>
      <p:sp>
        <p:nvSpPr>
          <p:cNvPr id="4" name="矩形 3">
            <a:hlinkClick r:id="rId2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 □</a:t>
            </a:r>
          </a:p>
        </p:txBody>
      </p:sp>
      <p:sp>
        <p:nvSpPr>
          <p:cNvPr id="5" name="矩形 4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 □</a:t>
            </a:r>
          </a:p>
        </p:txBody>
      </p:sp>
      <p:sp>
        <p:nvSpPr>
          <p:cNvPr id="6" name="矩形 5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复合数据类型 ■</a:t>
            </a: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</a:t>
            </a: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限定数据类型 □</a:t>
            </a: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复合数据类型概览</a:t>
            </a: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枚举类型</a:t>
            </a: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字符串类型</a:t>
            </a: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数据类型的转换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398"/>
    </mc:Choice>
    <mc:Fallback xmlns="">
      <p:transition spd="slow" advTm="49398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隐式转换</a:t>
            </a:r>
            <a:endParaRPr lang="en-US" altLang="zh-CN" dirty="0"/>
          </a:p>
          <a:p>
            <a:pPr lvl="1"/>
            <a:r>
              <a:rPr lang="zh-CN" altLang="en-US" dirty="0"/>
              <a:t>运算表达式中，运算分量、运算结果的类型不一致时，支持部分数据类型的隐式转换</a:t>
            </a:r>
            <a:endParaRPr lang="en-US" altLang="zh-CN" dirty="0"/>
          </a:p>
          <a:p>
            <a:pPr lvl="2"/>
            <a:r>
              <a:rPr lang="zh-CN" altLang="en-US" dirty="0"/>
              <a:t>赋值运算、算术运算等等</a:t>
            </a:r>
            <a:endParaRPr lang="en-US" altLang="zh-CN" dirty="0"/>
          </a:p>
          <a:p>
            <a:r>
              <a:rPr lang="zh-CN" altLang="en-US" dirty="0"/>
              <a:t>显式转换</a:t>
            </a:r>
            <a:endParaRPr lang="en-US" altLang="zh-CN" dirty="0"/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zh-CN" dirty="0" err="1">
                <a:solidFill>
                  <a:srgbClr val="C00000"/>
                </a:solidFill>
              </a:rPr>
              <a:t>static_cast</a:t>
            </a:r>
            <a:r>
              <a:rPr lang="en-US" altLang="zh-CN" dirty="0">
                <a:solidFill>
                  <a:srgbClr val="C00000"/>
                </a:solidFill>
              </a:rPr>
              <a:t>&lt;</a:t>
            </a:r>
            <a:r>
              <a:rPr lang="zh-CN" altLang="en-US" dirty="0">
                <a:solidFill>
                  <a:srgbClr val="C00000"/>
                </a:solidFill>
              </a:rPr>
              <a:t>目标数据类型</a:t>
            </a:r>
            <a:r>
              <a:rPr lang="en-US" altLang="zh-CN" dirty="0">
                <a:solidFill>
                  <a:srgbClr val="C00000"/>
                </a:solidFill>
              </a:rPr>
              <a:t>&gt;(</a:t>
            </a:r>
            <a:r>
              <a:rPr lang="zh-CN" altLang="en-US" dirty="0">
                <a:solidFill>
                  <a:srgbClr val="C00000"/>
                </a:solidFill>
              </a:rPr>
              <a:t>表达式</a:t>
            </a:r>
            <a:r>
              <a:rPr lang="en-US" altLang="zh-CN" dirty="0">
                <a:solidFill>
                  <a:srgbClr val="C00000"/>
                </a:solidFill>
              </a:rPr>
              <a:t>)</a:t>
            </a:r>
          </a:p>
          <a:p>
            <a:pPr lvl="1"/>
            <a:r>
              <a:rPr lang="en-US" altLang="zh-CN" dirty="0" err="1"/>
              <a:t>const_cast</a:t>
            </a:r>
            <a:r>
              <a:rPr lang="en-US" altLang="zh-CN" dirty="0"/>
              <a:t>&lt;</a:t>
            </a:r>
            <a:r>
              <a:rPr lang="zh-CN" altLang="en-US" dirty="0"/>
              <a:t>目标数据类型</a:t>
            </a:r>
            <a:r>
              <a:rPr lang="en-US" altLang="zh-CN" dirty="0"/>
              <a:t>&gt;(</a:t>
            </a:r>
            <a:r>
              <a:rPr lang="zh-CN" altLang="en-US" dirty="0"/>
              <a:t>表达式</a:t>
            </a:r>
            <a:r>
              <a:rPr lang="en-US" altLang="zh-CN" dirty="0"/>
              <a:t>)</a:t>
            </a:r>
            <a:endParaRPr lang="zh-CN" altLang="en-US" dirty="0"/>
          </a:p>
          <a:p>
            <a:pPr lvl="1"/>
            <a:r>
              <a:rPr lang="en-US" altLang="zh-CN" dirty="0" err="1"/>
              <a:t>dynamic_cast</a:t>
            </a:r>
            <a:r>
              <a:rPr lang="en-US" altLang="zh-CN" dirty="0"/>
              <a:t>&lt;</a:t>
            </a:r>
            <a:r>
              <a:rPr lang="zh-CN" altLang="en-US" dirty="0"/>
              <a:t>目标数据类型</a:t>
            </a:r>
            <a:r>
              <a:rPr lang="en-US" altLang="zh-CN" dirty="0"/>
              <a:t>&gt;(</a:t>
            </a:r>
            <a:r>
              <a:rPr lang="zh-CN" altLang="en-US" dirty="0"/>
              <a:t>表达式</a:t>
            </a:r>
            <a:r>
              <a:rPr lang="en-US" altLang="zh-CN" dirty="0"/>
              <a:t>)</a:t>
            </a:r>
            <a:endParaRPr lang="zh-CN" altLang="en-US" dirty="0"/>
          </a:p>
          <a:p>
            <a:pPr lvl="1"/>
            <a:r>
              <a:rPr lang="en-US" altLang="zh-CN" dirty="0" err="1"/>
              <a:t>reinterpret_cast</a:t>
            </a:r>
            <a:r>
              <a:rPr lang="en-US" altLang="zh-CN" dirty="0"/>
              <a:t>&lt;</a:t>
            </a:r>
            <a:r>
              <a:rPr lang="zh-CN" altLang="en-US" dirty="0"/>
              <a:t>目标数据类型</a:t>
            </a:r>
            <a:r>
              <a:rPr lang="en-US" altLang="zh-CN" dirty="0"/>
              <a:t>&gt;(</a:t>
            </a:r>
            <a:r>
              <a:rPr lang="zh-CN" altLang="en-US" dirty="0"/>
              <a:t>表达式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数据类型的转换</a:t>
            </a:r>
          </a:p>
        </p:txBody>
      </p:sp>
      <p:sp>
        <p:nvSpPr>
          <p:cNvPr id="4" name="矩形 3">
            <a:hlinkClick r:id="rId2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 □</a:t>
            </a:r>
          </a:p>
        </p:txBody>
      </p:sp>
      <p:sp>
        <p:nvSpPr>
          <p:cNvPr id="5" name="矩形 4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 □</a:t>
            </a:r>
          </a:p>
        </p:txBody>
      </p:sp>
      <p:sp>
        <p:nvSpPr>
          <p:cNvPr id="6" name="矩形 5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复合数据类型 ■</a:t>
            </a: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</a:t>
            </a: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限定数据类型 □</a:t>
            </a: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复合数据类型概览</a:t>
            </a: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枚举类型</a:t>
            </a: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字符串类型</a:t>
            </a: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数据类型的转换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448"/>
    </mc:Choice>
    <mc:Fallback xmlns="">
      <p:transition spd="slow" advTm="33448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d1=21.98,d2=6.28;</a:t>
            </a:r>
          </a:p>
          <a:p>
            <a:r>
              <a:rPr lang="en-US" altLang="zh-CN" sz="20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  <a:r>
              <a:rPr lang="en-US" altLang="zh-CN" sz="20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static_cast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zh-CN" sz="20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&gt;(d1+d2)};</a:t>
            </a:r>
          </a:p>
          <a:p>
            <a:r>
              <a:rPr lang="en-US" altLang="zh-CN" sz="20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j {</a:t>
            </a:r>
            <a:r>
              <a:rPr lang="en-US" altLang="zh-CN" sz="20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static_cast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zh-CN" sz="20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&gt;(d1)+</a:t>
            </a:r>
            <a:r>
              <a:rPr lang="en-US" altLang="zh-CN" sz="20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static_cast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zh-CN" sz="20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&gt;(d2)};</a:t>
            </a:r>
          </a:p>
          <a:p>
            <a:endParaRPr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程序执行后，变量</a:t>
            </a:r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和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r>
              <a:rPr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的值分别是：？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数据类型的转换</a:t>
            </a:r>
          </a:p>
        </p:txBody>
      </p:sp>
      <p:sp>
        <p:nvSpPr>
          <p:cNvPr id="4" name="矩形 3">
            <a:hlinkClick r:id="rId2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 □</a:t>
            </a:r>
          </a:p>
        </p:txBody>
      </p:sp>
      <p:sp>
        <p:nvSpPr>
          <p:cNvPr id="5" name="矩形 4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 □</a:t>
            </a:r>
          </a:p>
        </p:txBody>
      </p:sp>
      <p:sp>
        <p:nvSpPr>
          <p:cNvPr id="6" name="矩形 5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复合数据类型 ■</a:t>
            </a: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</a:t>
            </a: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限定数据类型 □</a:t>
            </a: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复合数据类型概览</a:t>
            </a: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枚举类型</a:t>
            </a: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字符串类型</a:t>
            </a: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数据类型的转换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409"/>
    </mc:Choice>
    <mc:Fallback xmlns="">
      <p:transition spd="slow" advTm="50409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34"/>
          <p:cNvGrpSpPr/>
          <p:nvPr/>
        </p:nvGrpSpPr>
        <p:grpSpPr bwMode="auto">
          <a:xfrm>
            <a:off x="1664047" y="2276872"/>
            <a:ext cx="5356225" cy="795330"/>
            <a:chOff x="1643042" y="3209740"/>
            <a:chExt cx="5356246" cy="795334"/>
          </a:xfrm>
        </p:grpSpPr>
        <p:sp>
          <p:nvSpPr>
            <p:cNvPr id="14" name="五边形 13"/>
            <p:cNvSpPr/>
            <p:nvPr/>
          </p:nvSpPr>
          <p:spPr bwMode="auto">
            <a:xfrm flipH="1">
              <a:off x="2041506" y="3209740"/>
              <a:ext cx="4957782" cy="792166"/>
            </a:xfrm>
            <a:prstGeom prst="homePlate">
              <a:avLst/>
            </a:prstGeom>
            <a:gradFill flip="none" rotWithShape="1">
              <a:gsLst>
                <a:gs pos="0">
                  <a:schemeClr val="tx2">
                    <a:shade val="30000"/>
                    <a:satMod val="115000"/>
                  </a:schemeClr>
                </a:gs>
                <a:gs pos="50000">
                  <a:schemeClr val="tx2">
                    <a:shade val="67500"/>
                    <a:satMod val="115000"/>
                  </a:schemeClr>
                </a:gs>
                <a:gs pos="100000">
                  <a:schemeClr val="tx2">
                    <a:shade val="100000"/>
                    <a:satMod val="115000"/>
                  </a:schemeClr>
                </a:gs>
              </a:gsLst>
              <a:lin ang="1890000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3200" kern="0" dirty="0">
                <a:solidFill>
                  <a:sysClr val="window" lastClr="FFFFFF"/>
                </a:solidFill>
                <a:latin typeface="Arial" panose="020B0604020202020204"/>
                <a:ea typeface="黑体" panose="02010609060101010101" pitchFamily="2" charset="-122"/>
              </a:endParaRPr>
            </a:p>
          </p:txBody>
        </p:sp>
        <p:grpSp>
          <p:nvGrpSpPr>
            <p:cNvPr id="3" name="组合 19"/>
            <p:cNvGrpSpPr/>
            <p:nvPr/>
          </p:nvGrpSpPr>
          <p:grpSpPr bwMode="auto">
            <a:xfrm>
              <a:off x="1643042" y="3216082"/>
              <a:ext cx="792165" cy="788992"/>
              <a:chOff x="854055" y="2573140"/>
              <a:chExt cx="792165" cy="788992"/>
            </a:xfrm>
          </p:grpSpPr>
          <p:sp>
            <p:nvSpPr>
              <p:cNvPr id="27" name="椭圆 26"/>
              <p:cNvSpPr>
                <a:spLocks noChangeAspect="1"/>
              </p:cNvSpPr>
              <p:nvPr/>
            </p:nvSpPr>
            <p:spPr bwMode="auto">
              <a:xfrm>
                <a:off x="857230" y="2573140"/>
                <a:ext cx="788990" cy="788992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pic>
            <p:nvPicPr>
              <p:cNvPr id="4116" name="图片 22" descr="NANKAI.png"/>
              <p:cNvPicPr>
                <a:picLocks noChangeAspect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854055" y="2573140"/>
                <a:ext cx="788987" cy="7889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  <p:grpSp>
        <p:nvGrpSpPr>
          <p:cNvPr id="22" name="组合 34"/>
          <p:cNvGrpSpPr/>
          <p:nvPr/>
        </p:nvGrpSpPr>
        <p:grpSpPr bwMode="auto">
          <a:xfrm>
            <a:off x="1664047" y="1340768"/>
            <a:ext cx="5356225" cy="796925"/>
            <a:chOff x="1643042" y="4143380"/>
            <a:chExt cx="5356246" cy="796929"/>
          </a:xfrm>
        </p:grpSpPr>
        <p:sp>
          <p:nvSpPr>
            <p:cNvPr id="25" name="五边形 24"/>
            <p:cNvSpPr/>
            <p:nvPr/>
          </p:nvSpPr>
          <p:spPr bwMode="auto">
            <a:xfrm flipH="1">
              <a:off x="2041506" y="4146556"/>
              <a:ext cx="4957782" cy="793753"/>
            </a:xfrm>
            <a:prstGeom prst="homePlate">
              <a:avLst/>
            </a:prstGeom>
            <a:gradFill flip="none" rotWithShape="1">
              <a:gsLst>
                <a:gs pos="0">
                  <a:schemeClr val="tx2">
                    <a:shade val="30000"/>
                    <a:satMod val="115000"/>
                  </a:schemeClr>
                </a:gs>
                <a:gs pos="50000">
                  <a:schemeClr val="tx2">
                    <a:shade val="67500"/>
                    <a:satMod val="115000"/>
                  </a:schemeClr>
                </a:gs>
                <a:gs pos="100000">
                  <a:schemeClr val="tx2">
                    <a:shade val="100000"/>
                    <a:satMod val="115000"/>
                  </a:schemeClr>
                </a:gs>
              </a:gsLst>
              <a:lin ang="1890000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3200" kern="0" dirty="0">
                <a:solidFill>
                  <a:sysClr val="window" lastClr="FFFFFF"/>
                </a:solidFill>
                <a:latin typeface="Arial" panose="020B0604020202020204"/>
                <a:ea typeface="黑体" panose="02010609060101010101" pitchFamily="2" charset="-122"/>
              </a:endParaRPr>
            </a:p>
          </p:txBody>
        </p:sp>
        <p:grpSp>
          <p:nvGrpSpPr>
            <p:cNvPr id="32" name="组合 28"/>
            <p:cNvGrpSpPr/>
            <p:nvPr/>
          </p:nvGrpSpPr>
          <p:grpSpPr bwMode="auto">
            <a:xfrm>
              <a:off x="1643042" y="4143380"/>
              <a:ext cx="792156" cy="788988"/>
              <a:chOff x="854055" y="1643050"/>
              <a:chExt cx="792156" cy="788988"/>
            </a:xfrm>
          </p:grpSpPr>
          <p:sp>
            <p:nvSpPr>
              <p:cNvPr id="37" name="椭圆 36"/>
              <p:cNvSpPr>
                <a:spLocks noChangeAspect="1"/>
              </p:cNvSpPr>
              <p:nvPr/>
            </p:nvSpPr>
            <p:spPr bwMode="auto">
              <a:xfrm>
                <a:off x="857230" y="1643051"/>
                <a:ext cx="788990" cy="788991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pic>
            <p:nvPicPr>
              <p:cNvPr id="38" name="图片 22" descr="NANKAI.png"/>
              <p:cNvPicPr>
                <a:picLocks noChangeAspect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854055" y="1643050"/>
                <a:ext cx="788987" cy="7889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  <p:sp>
        <p:nvSpPr>
          <p:cNvPr id="44" name="TextBox 43"/>
          <p:cNvSpPr txBox="1"/>
          <p:nvPr/>
        </p:nvSpPr>
        <p:spPr>
          <a:xfrm>
            <a:off x="2578223" y="1465557"/>
            <a:ext cx="4320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76760" y="2399193"/>
            <a:ext cx="4320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</a:t>
            </a:r>
            <a:endParaRPr lang="zh-CN" altLang="en-US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9" name="组合 34"/>
          <p:cNvGrpSpPr/>
          <p:nvPr/>
        </p:nvGrpSpPr>
        <p:grpSpPr bwMode="auto">
          <a:xfrm>
            <a:off x="1664047" y="3212976"/>
            <a:ext cx="5356225" cy="2735904"/>
            <a:chOff x="1643042" y="2204397"/>
            <a:chExt cx="5356246" cy="2735912"/>
          </a:xfrm>
        </p:grpSpPr>
        <p:sp>
          <p:nvSpPr>
            <p:cNvPr id="20" name="五边形 19"/>
            <p:cNvSpPr/>
            <p:nvPr/>
          </p:nvSpPr>
          <p:spPr bwMode="auto">
            <a:xfrm flipH="1">
              <a:off x="2041506" y="2204397"/>
              <a:ext cx="4957782" cy="792166"/>
            </a:xfrm>
            <a:prstGeom prst="homePlate">
              <a:avLst/>
            </a:prstGeom>
            <a:gradFill flip="none" rotWithShape="1">
              <a:gsLst>
                <a:gs pos="0">
                  <a:schemeClr val="tx2">
                    <a:shade val="30000"/>
                    <a:satMod val="115000"/>
                  </a:schemeClr>
                </a:gs>
                <a:gs pos="50000">
                  <a:schemeClr val="tx2">
                    <a:shade val="67500"/>
                    <a:satMod val="115000"/>
                  </a:schemeClr>
                </a:gs>
                <a:gs pos="100000">
                  <a:schemeClr val="tx2">
                    <a:shade val="100000"/>
                    <a:satMod val="115000"/>
                  </a:schemeClr>
                </a:gs>
              </a:gsLst>
              <a:lin ang="1890000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3200" kern="0" dirty="0">
                <a:solidFill>
                  <a:sysClr val="window" lastClr="FFFFFF"/>
                </a:solidFill>
                <a:latin typeface="Arial" panose="020B0604020202020204"/>
                <a:ea typeface="黑体" panose="02010609060101010101" pitchFamily="2" charset="-122"/>
              </a:endParaRPr>
            </a:p>
          </p:txBody>
        </p:sp>
        <p:sp>
          <p:nvSpPr>
            <p:cNvPr id="21" name="五边形 20"/>
            <p:cNvSpPr/>
            <p:nvPr/>
          </p:nvSpPr>
          <p:spPr bwMode="auto">
            <a:xfrm flipH="1">
              <a:off x="2041506" y="4146556"/>
              <a:ext cx="4957782" cy="793753"/>
            </a:xfrm>
            <a:prstGeom prst="homePlate">
              <a:avLst/>
            </a:prstGeom>
            <a:gradFill flip="none" rotWithShape="1">
              <a:gsLst>
                <a:gs pos="0">
                  <a:schemeClr val="tx2">
                    <a:shade val="30000"/>
                    <a:satMod val="115000"/>
                  </a:schemeClr>
                </a:gs>
                <a:gs pos="50000">
                  <a:schemeClr val="tx2">
                    <a:shade val="67500"/>
                    <a:satMod val="115000"/>
                  </a:schemeClr>
                </a:gs>
                <a:gs pos="100000">
                  <a:schemeClr val="tx2">
                    <a:shade val="100000"/>
                    <a:satMod val="115000"/>
                  </a:schemeClr>
                </a:gs>
              </a:gsLst>
              <a:lin ang="1890000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3200" kern="0" dirty="0">
                <a:solidFill>
                  <a:sysClr val="window" lastClr="FFFFFF"/>
                </a:solidFill>
                <a:latin typeface="Arial" panose="020B0604020202020204"/>
                <a:ea typeface="黑体" panose="02010609060101010101" pitchFamily="2" charset="-122"/>
              </a:endParaRPr>
            </a:p>
          </p:txBody>
        </p:sp>
        <p:grpSp>
          <p:nvGrpSpPr>
            <p:cNvPr id="24" name="组合 19"/>
            <p:cNvGrpSpPr/>
            <p:nvPr/>
          </p:nvGrpSpPr>
          <p:grpSpPr bwMode="auto">
            <a:xfrm>
              <a:off x="1643042" y="2204397"/>
              <a:ext cx="792165" cy="792091"/>
              <a:chOff x="854055" y="1561455"/>
              <a:chExt cx="792165" cy="792091"/>
            </a:xfrm>
          </p:grpSpPr>
          <p:sp>
            <p:nvSpPr>
              <p:cNvPr id="31" name="椭圆 30"/>
              <p:cNvSpPr>
                <a:spLocks noChangeAspect="1"/>
              </p:cNvSpPr>
              <p:nvPr/>
            </p:nvSpPr>
            <p:spPr bwMode="auto">
              <a:xfrm>
                <a:off x="857230" y="1561455"/>
                <a:ext cx="788990" cy="788992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pic>
            <p:nvPicPr>
              <p:cNvPr id="33" name="图片 22" descr="NANKAI.png"/>
              <p:cNvPicPr>
                <a:picLocks noChangeAspect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854055" y="1564558"/>
                <a:ext cx="788987" cy="7889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grpSp>
          <p:nvGrpSpPr>
            <p:cNvPr id="26" name="组合 28"/>
            <p:cNvGrpSpPr/>
            <p:nvPr/>
          </p:nvGrpSpPr>
          <p:grpSpPr bwMode="auto">
            <a:xfrm>
              <a:off x="1643042" y="4143380"/>
              <a:ext cx="792156" cy="788988"/>
              <a:chOff x="854055" y="1643050"/>
              <a:chExt cx="792156" cy="788988"/>
            </a:xfrm>
          </p:grpSpPr>
          <p:sp>
            <p:nvSpPr>
              <p:cNvPr id="28" name="椭圆 27"/>
              <p:cNvSpPr>
                <a:spLocks noChangeAspect="1"/>
              </p:cNvSpPr>
              <p:nvPr/>
            </p:nvSpPr>
            <p:spPr bwMode="auto">
              <a:xfrm>
                <a:off x="857230" y="1643051"/>
                <a:ext cx="788990" cy="788991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pic>
            <p:nvPicPr>
              <p:cNvPr id="30" name="图片 22" descr="NANKAI.png"/>
              <p:cNvPicPr>
                <a:picLocks noChangeAspect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854055" y="1643050"/>
                <a:ext cx="788987" cy="7889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  <p:sp>
        <p:nvSpPr>
          <p:cNvPr id="34" name="TextBox 33"/>
          <p:cNvSpPr txBox="1"/>
          <p:nvPr/>
        </p:nvSpPr>
        <p:spPr>
          <a:xfrm>
            <a:off x="2578223" y="3284984"/>
            <a:ext cx="4320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r>
              <a:rPr lang="zh-CN" altLang="en-US" dirty="0"/>
              <a:t>复合数据类型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78223" y="5276733"/>
            <a:ext cx="4320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说明语句</a:t>
            </a:r>
          </a:p>
        </p:txBody>
      </p:sp>
      <p:sp>
        <p:nvSpPr>
          <p:cNvPr id="36" name="五边形 35"/>
          <p:cNvSpPr/>
          <p:nvPr/>
        </p:nvSpPr>
        <p:spPr bwMode="auto">
          <a:xfrm flipH="1">
            <a:off x="2062509" y="4173381"/>
            <a:ext cx="4957763" cy="793750"/>
          </a:xfrm>
          <a:prstGeom prst="homePlate">
            <a:avLst/>
          </a:prstGeom>
          <a:gradFill flip="none" rotWithShape="1">
            <a:gsLst>
              <a:gs pos="0">
                <a:schemeClr val="accent3">
                  <a:lumMod val="75000"/>
                  <a:shade val="30000"/>
                  <a:satMod val="115000"/>
                </a:schemeClr>
              </a:gs>
              <a:gs pos="50000">
                <a:schemeClr val="accent3">
                  <a:lumMod val="75000"/>
                  <a:shade val="67500"/>
                  <a:satMod val="115000"/>
                </a:schemeClr>
              </a:gs>
              <a:gs pos="100000">
                <a:schemeClr val="accent3">
                  <a:lumMod val="75000"/>
                  <a:shade val="100000"/>
                  <a:satMod val="115000"/>
                </a:schemeClr>
              </a:gs>
            </a:gsLst>
            <a:lin ang="18900000" scaled="1"/>
            <a:tileRect/>
          </a:gra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200" kern="0" dirty="0">
              <a:solidFill>
                <a:sysClr val="window" lastClr="FFFFFF"/>
              </a:solidFill>
              <a:latin typeface="Arial" panose="020B0604020202020204"/>
              <a:ea typeface="黑体" panose="02010609060101010101" pitchFamily="2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576760" y="4281414"/>
            <a:ext cx="43204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</a:t>
            </a:r>
            <a:r>
              <a:rPr lang="zh-CN" altLang="en-US" sz="3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限定数据类型</a:t>
            </a:r>
          </a:p>
          <a:p>
            <a:endParaRPr lang="zh-CN" altLang="en-US" sz="3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4156" y="4127336"/>
            <a:ext cx="885840" cy="885840"/>
          </a:xfrm>
          <a:prstGeom prst="rect">
            <a:avLst/>
          </a:prstGeom>
        </p:spPr>
      </p:pic>
      <p:sp>
        <p:nvSpPr>
          <p:cNvPr id="45" name="矩形 44">
            <a:hlinkClick r:id="rId5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 □</a:t>
            </a:r>
          </a:p>
        </p:txBody>
      </p:sp>
      <p:sp>
        <p:nvSpPr>
          <p:cNvPr id="47" name="矩形 46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 □</a:t>
            </a:r>
          </a:p>
        </p:txBody>
      </p:sp>
      <p:sp>
        <p:nvSpPr>
          <p:cNvPr id="48" name="矩形 47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复合数据类型 □</a:t>
            </a:r>
          </a:p>
        </p:txBody>
      </p:sp>
      <p:sp>
        <p:nvSpPr>
          <p:cNvPr id="49" name="矩形 48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</a:t>
            </a: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限定数据类型 ■</a:t>
            </a:r>
          </a:p>
        </p:txBody>
      </p:sp>
      <p:sp>
        <p:nvSpPr>
          <p:cNvPr id="50" name="矩形 49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</a:t>
            </a:r>
            <a:r>
              <a:rPr lang="en-US" altLang="zh-CN" sz="1200" b="1" dirty="0" err="1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1" name="矩形 50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</a:t>
            </a:r>
            <a:r>
              <a:rPr lang="en-US" altLang="zh-CN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volatile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ransition advTm="3011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CV</a:t>
            </a:r>
            <a:r>
              <a:rPr lang="zh-CN" altLang="en-US" dirty="0"/>
              <a:t>限定符（</a:t>
            </a:r>
            <a:r>
              <a:rPr lang="en-US" altLang="zh-CN" dirty="0"/>
              <a:t>CV-qualifiers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const</a:t>
            </a:r>
            <a:endParaRPr lang="en-US" altLang="zh-CN" dirty="0"/>
          </a:p>
          <a:p>
            <a:pPr lvl="1"/>
            <a:r>
              <a:rPr lang="zh-CN" altLang="en-US" dirty="0"/>
              <a:t>常量限定，用于将某个变量限定为其值不可变（常变量）</a:t>
            </a:r>
            <a:endParaRPr lang="en-US" altLang="zh-CN" dirty="0"/>
          </a:p>
          <a:p>
            <a:r>
              <a:rPr lang="en-US" altLang="zh-CN" dirty="0"/>
              <a:t>volatile</a:t>
            </a:r>
          </a:p>
          <a:p>
            <a:pPr lvl="1"/>
            <a:r>
              <a:rPr lang="en-US" altLang="zh-CN" b="1" dirty="0">
                <a:solidFill>
                  <a:srgbClr val="0000FF"/>
                </a:solidFill>
              </a:rPr>
              <a:t>volatile</a:t>
            </a:r>
            <a:r>
              <a:rPr lang="zh-CN" altLang="en-US" dirty="0"/>
              <a:t>提醒编译器它后面所定义的变量随时都有可能改变，因此编译后的程序每次需要存储或读取这个变量的时候，都会直接从变量地址中读取数据。</a:t>
            </a:r>
          </a:p>
          <a:p>
            <a:pPr lvl="1"/>
            <a:r>
              <a:rPr lang="zh-CN" altLang="en-US" dirty="0"/>
              <a:t>如果没有</a:t>
            </a:r>
            <a:r>
              <a:rPr lang="en-US" altLang="zh-CN" dirty="0"/>
              <a:t>volatile</a:t>
            </a:r>
            <a:r>
              <a:rPr lang="zh-CN" altLang="en-US" dirty="0"/>
              <a:t>关键字，则编译器可能优化读取和存储，可能暂时使用寄存器中的值，如果这个变量由别的程序更新了的话，将出现不一致的现象。</a:t>
            </a:r>
          </a:p>
          <a:p>
            <a:endParaRPr lang="zh-CN" altLang="en-US" dirty="0"/>
          </a:p>
        </p:txBody>
      </p:sp>
      <p:sp>
        <p:nvSpPr>
          <p:cNvPr id="4" name="矩形 3">
            <a:hlinkClick r:id="rId2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 □</a:t>
            </a:r>
          </a:p>
        </p:txBody>
      </p:sp>
      <p:sp>
        <p:nvSpPr>
          <p:cNvPr id="5" name="矩形 4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 □</a:t>
            </a:r>
          </a:p>
        </p:txBody>
      </p:sp>
      <p:sp>
        <p:nvSpPr>
          <p:cNvPr id="6" name="矩形 5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复合数据类型 □</a:t>
            </a: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</a:t>
            </a: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限定数据类型 ■</a:t>
            </a: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</a:t>
            </a:r>
            <a:r>
              <a:rPr lang="en-US" altLang="zh-CN" sz="1200" b="1" dirty="0" err="1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</a:t>
            </a:r>
            <a:r>
              <a:rPr lang="en-US" altLang="zh-CN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volatile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017"/>
    </mc:Choice>
    <mc:Fallback xmlns="">
      <p:transition spd="slow" advTm="33017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34"/>
          <p:cNvGrpSpPr/>
          <p:nvPr/>
        </p:nvGrpSpPr>
        <p:grpSpPr bwMode="auto">
          <a:xfrm>
            <a:off x="1664047" y="2276872"/>
            <a:ext cx="5356225" cy="795330"/>
            <a:chOff x="1643042" y="3209740"/>
            <a:chExt cx="5356246" cy="795334"/>
          </a:xfrm>
        </p:grpSpPr>
        <p:sp>
          <p:nvSpPr>
            <p:cNvPr id="14" name="五边形 13"/>
            <p:cNvSpPr/>
            <p:nvPr/>
          </p:nvSpPr>
          <p:spPr bwMode="auto">
            <a:xfrm flipH="1">
              <a:off x="2041506" y="3209740"/>
              <a:ext cx="4957782" cy="792166"/>
            </a:xfrm>
            <a:prstGeom prst="homePlate">
              <a:avLst/>
            </a:prstGeom>
            <a:gradFill flip="none" rotWithShape="1">
              <a:gsLst>
                <a:gs pos="0">
                  <a:schemeClr val="tx2">
                    <a:shade val="30000"/>
                    <a:satMod val="115000"/>
                  </a:schemeClr>
                </a:gs>
                <a:gs pos="50000">
                  <a:schemeClr val="tx2">
                    <a:shade val="67500"/>
                    <a:satMod val="115000"/>
                  </a:schemeClr>
                </a:gs>
                <a:gs pos="100000">
                  <a:schemeClr val="tx2">
                    <a:shade val="100000"/>
                    <a:satMod val="115000"/>
                  </a:schemeClr>
                </a:gs>
              </a:gsLst>
              <a:lin ang="1890000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3200" kern="0" dirty="0">
                <a:solidFill>
                  <a:sysClr val="window" lastClr="FFFFFF"/>
                </a:solidFill>
                <a:latin typeface="Arial" panose="020B0604020202020204"/>
                <a:ea typeface="黑体" panose="02010609060101010101" pitchFamily="2" charset="-122"/>
              </a:endParaRPr>
            </a:p>
          </p:txBody>
        </p:sp>
        <p:grpSp>
          <p:nvGrpSpPr>
            <p:cNvPr id="3" name="组合 19"/>
            <p:cNvGrpSpPr/>
            <p:nvPr/>
          </p:nvGrpSpPr>
          <p:grpSpPr bwMode="auto">
            <a:xfrm>
              <a:off x="1643042" y="3216082"/>
              <a:ext cx="792165" cy="788992"/>
              <a:chOff x="854055" y="2573140"/>
              <a:chExt cx="792165" cy="788992"/>
            </a:xfrm>
          </p:grpSpPr>
          <p:sp>
            <p:nvSpPr>
              <p:cNvPr id="27" name="椭圆 26"/>
              <p:cNvSpPr>
                <a:spLocks noChangeAspect="1"/>
              </p:cNvSpPr>
              <p:nvPr/>
            </p:nvSpPr>
            <p:spPr bwMode="auto">
              <a:xfrm>
                <a:off x="857230" y="2573140"/>
                <a:ext cx="788990" cy="788992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pic>
            <p:nvPicPr>
              <p:cNvPr id="4116" name="图片 22" descr="NANKAI.png"/>
              <p:cNvPicPr>
                <a:picLocks noChangeAspect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854055" y="2573140"/>
                <a:ext cx="788987" cy="7889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  <p:grpSp>
        <p:nvGrpSpPr>
          <p:cNvPr id="22" name="组合 34"/>
          <p:cNvGrpSpPr/>
          <p:nvPr/>
        </p:nvGrpSpPr>
        <p:grpSpPr bwMode="auto">
          <a:xfrm>
            <a:off x="1664047" y="1340768"/>
            <a:ext cx="5356225" cy="796925"/>
            <a:chOff x="1643042" y="4143380"/>
            <a:chExt cx="5356246" cy="796929"/>
          </a:xfrm>
        </p:grpSpPr>
        <p:sp>
          <p:nvSpPr>
            <p:cNvPr id="25" name="五边形 24"/>
            <p:cNvSpPr/>
            <p:nvPr/>
          </p:nvSpPr>
          <p:spPr bwMode="auto">
            <a:xfrm flipH="1">
              <a:off x="2041506" y="4146556"/>
              <a:ext cx="4957782" cy="793753"/>
            </a:xfrm>
            <a:prstGeom prst="homePlate">
              <a:avLst/>
            </a:prstGeom>
            <a:gradFill flip="none" rotWithShape="1">
              <a:gsLst>
                <a:gs pos="0">
                  <a:schemeClr val="tx2">
                    <a:shade val="30000"/>
                    <a:satMod val="115000"/>
                  </a:schemeClr>
                </a:gs>
                <a:gs pos="50000">
                  <a:schemeClr val="tx2">
                    <a:shade val="67500"/>
                    <a:satMod val="115000"/>
                  </a:schemeClr>
                </a:gs>
                <a:gs pos="100000">
                  <a:schemeClr val="tx2">
                    <a:shade val="100000"/>
                    <a:satMod val="115000"/>
                  </a:schemeClr>
                </a:gs>
              </a:gsLst>
              <a:lin ang="1890000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3200" kern="0" dirty="0">
                <a:solidFill>
                  <a:sysClr val="window" lastClr="FFFFFF"/>
                </a:solidFill>
                <a:latin typeface="Arial" panose="020B0604020202020204"/>
                <a:ea typeface="黑体" panose="02010609060101010101" pitchFamily="2" charset="-122"/>
              </a:endParaRPr>
            </a:p>
          </p:txBody>
        </p:sp>
        <p:grpSp>
          <p:nvGrpSpPr>
            <p:cNvPr id="32" name="组合 28"/>
            <p:cNvGrpSpPr/>
            <p:nvPr/>
          </p:nvGrpSpPr>
          <p:grpSpPr bwMode="auto">
            <a:xfrm>
              <a:off x="1643042" y="4143380"/>
              <a:ext cx="792156" cy="788988"/>
              <a:chOff x="854055" y="1643050"/>
              <a:chExt cx="792156" cy="788988"/>
            </a:xfrm>
          </p:grpSpPr>
          <p:sp>
            <p:nvSpPr>
              <p:cNvPr id="37" name="椭圆 36"/>
              <p:cNvSpPr>
                <a:spLocks noChangeAspect="1"/>
              </p:cNvSpPr>
              <p:nvPr/>
            </p:nvSpPr>
            <p:spPr bwMode="auto">
              <a:xfrm>
                <a:off x="857230" y="1643051"/>
                <a:ext cx="788990" cy="788991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pic>
            <p:nvPicPr>
              <p:cNvPr id="38" name="图片 22" descr="NANKAI.png"/>
              <p:cNvPicPr>
                <a:picLocks noChangeAspect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854055" y="1643050"/>
                <a:ext cx="788987" cy="7889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  <p:sp>
        <p:nvSpPr>
          <p:cNvPr id="44" name="TextBox 43"/>
          <p:cNvSpPr txBox="1"/>
          <p:nvPr/>
        </p:nvSpPr>
        <p:spPr>
          <a:xfrm>
            <a:off x="2578223" y="1465557"/>
            <a:ext cx="4320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数据与数据表示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76760" y="2399193"/>
            <a:ext cx="4320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基本数据类型</a:t>
            </a:r>
            <a:endParaRPr lang="zh-CN" altLang="en-US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9" name="组合 34"/>
          <p:cNvGrpSpPr/>
          <p:nvPr/>
        </p:nvGrpSpPr>
        <p:grpSpPr bwMode="auto">
          <a:xfrm>
            <a:off x="1664047" y="3212976"/>
            <a:ext cx="5356225" cy="1729852"/>
            <a:chOff x="1643042" y="2204397"/>
            <a:chExt cx="5356246" cy="1729860"/>
          </a:xfrm>
        </p:grpSpPr>
        <p:sp>
          <p:nvSpPr>
            <p:cNvPr id="20" name="五边形 19"/>
            <p:cNvSpPr/>
            <p:nvPr/>
          </p:nvSpPr>
          <p:spPr bwMode="auto">
            <a:xfrm flipH="1">
              <a:off x="2041506" y="2204397"/>
              <a:ext cx="4957782" cy="792166"/>
            </a:xfrm>
            <a:prstGeom prst="homePlate">
              <a:avLst/>
            </a:prstGeom>
            <a:gradFill flip="none" rotWithShape="1">
              <a:gsLst>
                <a:gs pos="0">
                  <a:schemeClr val="tx2">
                    <a:shade val="30000"/>
                    <a:satMod val="115000"/>
                  </a:schemeClr>
                </a:gs>
                <a:gs pos="50000">
                  <a:schemeClr val="tx2">
                    <a:shade val="67500"/>
                    <a:satMod val="115000"/>
                  </a:schemeClr>
                </a:gs>
                <a:gs pos="100000">
                  <a:schemeClr val="tx2">
                    <a:shade val="100000"/>
                    <a:satMod val="115000"/>
                  </a:schemeClr>
                </a:gs>
              </a:gsLst>
              <a:lin ang="1890000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3200" kern="0" dirty="0">
                <a:solidFill>
                  <a:sysClr val="window" lastClr="FFFFFF"/>
                </a:solidFill>
                <a:latin typeface="Arial" panose="020B0604020202020204"/>
                <a:ea typeface="黑体" panose="02010609060101010101" pitchFamily="2" charset="-122"/>
              </a:endParaRPr>
            </a:p>
          </p:txBody>
        </p:sp>
        <p:sp>
          <p:nvSpPr>
            <p:cNvPr id="21" name="五边形 20"/>
            <p:cNvSpPr/>
            <p:nvPr/>
          </p:nvSpPr>
          <p:spPr bwMode="auto">
            <a:xfrm flipH="1">
              <a:off x="2041506" y="3140504"/>
              <a:ext cx="4957782" cy="793753"/>
            </a:xfrm>
            <a:prstGeom prst="homePlate">
              <a:avLst/>
            </a:prstGeom>
            <a:gradFill flip="none" rotWithShape="1">
              <a:gsLst>
                <a:gs pos="0">
                  <a:schemeClr val="tx2">
                    <a:shade val="30000"/>
                    <a:satMod val="115000"/>
                  </a:schemeClr>
                </a:gs>
                <a:gs pos="50000">
                  <a:schemeClr val="tx2">
                    <a:shade val="67500"/>
                    <a:satMod val="115000"/>
                  </a:schemeClr>
                </a:gs>
                <a:gs pos="100000">
                  <a:schemeClr val="tx2">
                    <a:shade val="100000"/>
                    <a:satMod val="115000"/>
                  </a:schemeClr>
                </a:gs>
              </a:gsLst>
              <a:lin ang="1890000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3200" kern="0" dirty="0">
                <a:solidFill>
                  <a:sysClr val="window" lastClr="FFFFFF"/>
                </a:solidFill>
                <a:latin typeface="Arial" panose="020B0604020202020204"/>
                <a:ea typeface="黑体" panose="02010609060101010101" pitchFamily="2" charset="-122"/>
              </a:endParaRPr>
            </a:p>
          </p:txBody>
        </p:sp>
        <p:grpSp>
          <p:nvGrpSpPr>
            <p:cNvPr id="24" name="组合 19"/>
            <p:cNvGrpSpPr/>
            <p:nvPr/>
          </p:nvGrpSpPr>
          <p:grpSpPr bwMode="auto">
            <a:xfrm>
              <a:off x="1643042" y="2204397"/>
              <a:ext cx="792165" cy="792091"/>
              <a:chOff x="854055" y="1561455"/>
              <a:chExt cx="792165" cy="792091"/>
            </a:xfrm>
          </p:grpSpPr>
          <p:sp>
            <p:nvSpPr>
              <p:cNvPr id="31" name="椭圆 30"/>
              <p:cNvSpPr>
                <a:spLocks noChangeAspect="1"/>
              </p:cNvSpPr>
              <p:nvPr/>
            </p:nvSpPr>
            <p:spPr bwMode="auto">
              <a:xfrm>
                <a:off x="857230" y="1561455"/>
                <a:ext cx="788990" cy="788992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pic>
            <p:nvPicPr>
              <p:cNvPr id="33" name="图片 22" descr="NANKAI.png"/>
              <p:cNvPicPr>
                <a:picLocks noChangeAspect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854055" y="1564558"/>
                <a:ext cx="788987" cy="7889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grpSp>
          <p:nvGrpSpPr>
            <p:cNvPr id="26" name="组合 28"/>
            <p:cNvGrpSpPr/>
            <p:nvPr/>
          </p:nvGrpSpPr>
          <p:grpSpPr bwMode="auto">
            <a:xfrm>
              <a:off x="1643042" y="3140504"/>
              <a:ext cx="792165" cy="788992"/>
              <a:chOff x="854055" y="640174"/>
              <a:chExt cx="792165" cy="788992"/>
            </a:xfrm>
          </p:grpSpPr>
          <p:sp>
            <p:nvSpPr>
              <p:cNvPr id="28" name="椭圆 27"/>
              <p:cNvSpPr>
                <a:spLocks noChangeAspect="1"/>
              </p:cNvSpPr>
              <p:nvPr/>
            </p:nvSpPr>
            <p:spPr bwMode="auto">
              <a:xfrm>
                <a:off x="857230" y="640175"/>
                <a:ext cx="788990" cy="788991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pic>
            <p:nvPicPr>
              <p:cNvPr id="30" name="图片 22" descr="NANKAI.png"/>
              <p:cNvPicPr>
                <a:picLocks noChangeAspect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854055" y="640174"/>
                <a:ext cx="788987" cy="7889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  <p:sp>
        <p:nvSpPr>
          <p:cNvPr id="34" name="TextBox 33"/>
          <p:cNvSpPr txBox="1"/>
          <p:nvPr/>
        </p:nvSpPr>
        <p:spPr>
          <a:xfrm>
            <a:off x="2578223" y="3284984"/>
            <a:ext cx="4320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r>
              <a:rPr lang="zh-CN" altLang="en-US" dirty="0"/>
              <a:t>复合数据类型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78223" y="4293096"/>
            <a:ext cx="4320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CV</a:t>
            </a:r>
            <a:r>
              <a:rPr lang="zh-CN" altLang="en-US" sz="3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限定数据类型</a:t>
            </a:r>
          </a:p>
        </p:txBody>
      </p:sp>
      <p:sp>
        <p:nvSpPr>
          <p:cNvPr id="36" name="五边形 35"/>
          <p:cNvSpPr/>
          <p:nvPr/>
        </p:nvSpPr>
        <p:spPr bwMode="auto">
          <a:xfrm flipH="1">
            <a:off x="2062509" y="5131229"/>
            <a:ext cx="4957763" cy="793750"/>
          </a:xfrm>
          <a:prstGeom prst="homePlate">
            <a:avLst/>
          </a:prstGeom>
          <a:gradFill flip="none" rotWithShape="1">
            <a:gsLst>
              <a:gs pos="0">
                <a:schemeClr val="accent3">
                  <a:lumMod val="75000"/>
                  <a:shade val="30000"/>
                  <a:satMod val="115000"/>
                </a:schemeClr>
              </a:gs>
              <a:gs pos="50000">
                <a:schemeClr val="accent3">
                  <a:lumMod val="75000"/>
                  <a:shade val="67500"/>
                  <a:satMod val="115000"/>
                </a:schemeClr>
              </a:gs>
              <a:gs pos="100000">
                <a:schemeClr val="accent3">
                  <a:lumMod val="75000"/>
                  <a:shade val="100000"/>
                  <a:satMod val="115000"/>
                </a:schemeClr>
              </a:gs>
            </a:gsLst>
            <a:lin ang="18900000" scaled="1"/>
            <a:tileRect/>
          </a:gra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200" kern="0" dirty="0">
              <a:solidFill>
                <a:sysClr val="window" lastClr="FFFFFF"/>
              </a:solidFill>
              <a:latin typeface="Arial" panose="020B0604020202020204"/>
              <a:ea typeface="黑体" panose="02010609060101010101" pitchFamily="2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576760" y="5239262"/>
            <a:ext cx="43204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说明语句</a:t>
            </a:r>
          </a:p>
          <a:p>
            <a:endParaRPr lang="zh-CN" altLang="en-US" sz="3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4156" y="5085184"/>
            <a:ext cx="885840" cy="885840"/>
          </a:xfrm>
          <a:prstGeom prst="rect">
            <a:avLst/>
          </a:prstGeom>
        </p:spPr>
      </p:pic>
      <p:sp>
        <p:nvSpPr>
          <p:cNvPr id="45" name="矩形 44">
            <a:hlinkClick r:id="rId5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说明语句 ■</a:t>
            </a:r>
          </a:p>
        </p:txBody>
      </p:sp>
      <p:sp>
        <p:nvSpPr>
          <p:cNvPr id="50" name="矩形 49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</a:t>
            </a:r>
            <a:r>
              <a:rPr lang="en-US" altLang="zh-CN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C++</a:t>
            </a: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语句概览</a:t>
            </a:r>
          </a:p>
        </p:txBody>
      </p:sp>
      <p:sp>
        <p:nvSpPr>
          <p:cNvPr id="51" name="矩形 50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常量与变量的说明及初始化</a:t>
            </a:r>
          </a:p>
        </p:txBody>
      </p:sp>
      <p:sp>
        <p:nvSpPr>
          <p:cNvPr id="52" name="矩形 51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命名空间的说明</a:t>
            </a:r>
          </a:p>
        </p:txBody>
      </p:sp>
      <p:sp>
        <p:nvSpPr>
          <p:cNvPr id="53" name="矩形 52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</a:t>
            </a:r>
            <a:r>
              <a:rPr lang="en-US" altLang="zh-CN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auto</a:t>
            </a: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、</a:t>
            </a:r>
            <a:r>
              <a:rPr lang="en-US" altLang="zh-CN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</a:t>
            </a: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与</a:t>
            </a:r>
            <a:r>
              <a:rPr lang="en-US" altLang="zh-CN" sz="1200" b="1" dirty="0" err="1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typedef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ransition advTm="3150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C++</a:t>
            </a:r>
            <a:r>
              <a:rPr lang="zh-CN" altLang="en-US" dirty="0"/>
              <a:t>语句概览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1"/>
            <a:r>
              <a:rPr lang="zh-CN" altLang="en-US" dirty="0"/>
              <a:t>标签语句</a:t>
            </a:r>
            <a:endParaRPr lang="en-US" altLang="zh-CN" dirty="0"/>
          </a:p>
          <a:p>
            <a:pPr lvl="1"/>
            <a:r>
              <a:rPr lang="zh-CN" altLang="en-US" dirty="0"/>
              <a:t>表达式语句</a:t>
            </a:r>
            <a:endParaRPr lang="en-US" altLang="zh-CN" dirty="0"/>
          </a:p>
          <a:p>
            <a:pPr lvl="2"/>
            <a:r>
              <a:rPr lang="zh-CN" altLang="en-US" dirty="0"/>
              <a:t>数学表达式</a:t>
            </a:r>
            <a:endParaRPr lang="en-US" altLang="zh-CN" dirty="0"/>
          </a:p>
          <a:p>
            <a:pPr lvl="2"/>
            <a:r>
              <a:rPr lang="zh-CN" altLang="en-US" dirty="0"/>
              <a:t>赋值语句</a:t>
            </a:r>
            <a:endParaRPr lang="en-US" altLang="zh-CN" dirty="0"/>
          </a:p>
          <a:p>
            <a:pPr lvl="2"/>
            <a:r>
              <a:rPr lang="zh-CN" altLang="en-US" dirty="0"/>
              <a:t>输入输出语句</a:t>
            </a:r>
            <a:endParaRPr lang="en-US" altLang="zh-CN" dirty="0"/>
          </a:p>
          <a:p>
            <a:pPr lvl="2"/>
            <a:r>
              <a:rPr lang="zh-CN" altLang="en-US" dirty="0"/>
              <a:t>函数调用</a:t>
            </a:r>
            <a:endParaRPr lang="en-US" altLang="zh-CN" dirty="0"/>
          </a:p>
          <a:p>
            <a:pPr lvl="2"/>
            <a:r>
              <a:rPr lang="en-US" altLang="zh-CN" dirty="0"/>
              <a:t>……</a:t>
            </a:r>
          </a:p>
          <a:p>
            <a:pPr lvl="1"/>
            <a:r>
              <a:rPr lang="zh-CN" altLang="en-US" dirty="0"/>
              <a:t>分支语句</a:t>
            </a:r>
            <a:endParaRPr lang="en-US" altLang="zh-CN" dirty="0"/>
          </a:p>
          <a:p>
            <a:pPr lvl="1"/>
            <a:r>
              <a:rPr lang="zh-CN" altLang="en-US" dirty="0"/>
              <a:t>循环语句</a:t>
            </a:r>
            <a:endParaRPr lang="en-US" altLang="zh-CN" dirty="0"/>
          </a:p>
          <a:p>
            <a:pPr lvl="1"/>
            <a:r>
              <a:rPr lang="zh-CN" altLang="en-US" dirty="0"/>
              <a:t>转向语句</a:t>
            </a:r>
            <a:endParaRPr lang="en-US" altLang="zh-CN" dirty="0"/>
          </a:p>
          <a:p>
            <a:pPr lvl="1"/>
            <a:r>
              <a:rPr lang="zh-CN" altLang="en-US" dirty="0"/>
              <a:t>复合语句和语句块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说明语句</a:t>
            </a:r>
          </a:p>
        </p:txBody>
      </p:sp>
      <p:sp>
        <p:nvSpPr>
          <p:cNvPr id="4" name="矩形 3">
            <a:hlinkClick r:id="rId2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说明语句 ■</a:t>
            </a:r>
          </a:p>
        </p:txBody>
      </p:sp>
      <p:sp>
        <p:nvSpPr>
          <p:cNvPr id="5" name="矩形 4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</a:t>
            </a:r>
            <a:r>
              <a:rPr lang="en-US" altLang="zh-CN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C++</a:t>
            </a: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语句概览</a:t>
            </a:r>
          </a:p>
        </p:txBody>
      </p:sp>
      <p:sp>
        <p:nvSpPr>
          <p:cNvPr id="6" name="矩形 5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常量与变量的说明及初始化</a:t>
            </a: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命名空间的说明</a:t>
            </a: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</a:t>
            </a:r>
            <a:r>
              <a:rPr lang="en-US" altLang="zh-CN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auto</a:t>
            </a: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、</a:t>
            </a:r>
            <a:r>
              <a:rPr lang="en-US" altLang="zh-CN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</a:t>
            </a: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与</a:t>
            </a:r>
            <a:r>
              <a:rPr lang="en-US" altLang="zh-CN" sz="1200" b="1" dirty="0" err="1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typedef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774"/>
    </mc:Choice>
    <mc:Fallback xmlns="">
      <p:transition spd="slow" advTm="8774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常量的说明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常变量说明及初始化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0000FF"/>
                </a:solidFill>
              </a:rPr>
              <a:t>const</a:t>
            </a:r>
            <a:r>
              <a:rPr lang="en-US" altLang="zh-CN" dirty="0"/>
              <a:t> &lt;</a:t>
            </a:r>
            <a:r>
              <a:rPr lang="zh-CN" altLang="en-US" dirty="0"/>
              <a:t>数据类型</a:t>
            </a:r>
            <a:r>
              <a:rPr lang="en-US" altLang="zh-CN" dirty="0"/>
              <a:t>&gt; &lt;</a:t>
            </a:r>
            <a:r>
              <a:rPr lang="zh-CN" altLang="en-US" dirty="0"/>
              <a:t>常变量名</a:t>
            </a:r>
            <a:r>
              <a:rPr lang="en-US" altLang="zh-CN" dirty="0"/>
              <a:t>&gt; = &lt;</a:t>
            </a:r>
            <a:r>
              <a:rPr lang="zh-CN" altLang="en-US" dirty="0"/>
              <a:t>表达式</a:t>
            </a:r>
            <a:r>
              <a:rPr lang="en-US" altLang="zh-CN" dirty="0"/>
              <a:t>&gt;</a:t>
            </a:r>
            <a:endParaRPr lang="zh-CN" altLang="en-US" dirty="0"/>
          </a:p>
          <a:p>
            <a:pPr lvl="2"/>
            <a:r>
              <a:rPr lang="zh-CN" altLang="en-US" dirty="0"/>
              <a:t>类型名，即数据类型</a:t>
            </a:r>
            <a:endParaRPr lang="en-US" altLang="zh-CN" dirty="0"/>
          </a:p>
          <a:p>
            <a:pPr lvl="2"/>
            <a:r>
              <a:rPr lang="zh-CN" altLang="en-US" dirty="0"/>
              <a:t>常变量名是标识符</a:t>
            </a:r>
            <a:endParaRPr lang="en-US" altLang="zh-CN" dirty="0"/>
          </a:p>
          <a:p>
            <a:pPr lvl="2"/>
            <a:r>
              <a:rPr lang="zh-CN" altLang="en-US" dirty="0"/>
              <a:t>表达式的类型与常变量类型一致</a:t>
            </a:r>
            <a:endParaRPr lang="en-US" altLang="zh-CN" dirty="0"/>
          </a:p>
          <a:p>
            <a:r>
              <a:rPr lang="zh-CN" altLang="en-US" dirty="0"/>
              <a:t>宏替换定义常量</a:t>
            </a:r>
            <a:endParaRPr lang="en-US" altLang="zh-CN" dirty="0"/>
          </a:p>
          <a:p>
            <a:pPr lvl="1"/>
            <a:r>
              <a:rPr lang="zh-CN" altLang="en-US" dirty="0"/>
              <a:t>字符串替换，没有数据类型，不分配存储空间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0000FF"/>
                </a:solidFill>
              </a:rPr>
              <a:t>#define </a:t>
            </a:r>
            <a:r>
              <a:rPr lang="en-US" altLang="zh-CN" dirty="0"/>
              <a:t>&lt;</a:t>
            </a:r>
            <a:r>
              <a:rPr lang="zh-CN" altLang="en-US" dirty="0"/>
              <a:t>常量名</a:t>
            </a:r>
            <a:r>
              <a:rPr lang="en-US" altLang="zh-CN" dirty="0"/>
              <a:t>&gt; &lt;</a:t>
            </a:r>
            <a:r>
              <a:rPr lang="zh-CN" altLang="en-US" dirty="0"/>
              <a:t>表达式</a:t>
            </a:r>
            <a:r>
              <a:rPr lang="en-US" altLang="zh-CN" dirty="0"/>
              <a:t>&gt;</a:t>
            </a:r>
          </a:p>
        </p:txBody>
      </p:sp>
      <p:sp>
        <p:nvSpPr>
          <p:cNvPr id="6" name="矩形 5">
            <a:hlinkClick r:id="rId2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说明语句 ■</a:t>
            </a: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</a:t>
            </a:r>
            <a:r>
              <a:rPr lang="en-US" altLang="zh-CN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C++</a:t>
            </a: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语句概览</a:t>
            </a: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常量与变量的说明及初始化</a:t>
            </a: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命名空间的说明</a:t>
            </a: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</a:t>
            </a:r>
            <a:r>
              <a:rPr lang="en-US" altLang="zh-CN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auto</a:t>
            </a: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、</a:t>
            </a:r>
            <a:r>
              <a:rPr lang="en-US" altLang="zh-CN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</a:t>
            </a: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与</a:t>
            </a:r>
            <a:r>
              <a:rPr lang="en-US" altLang="zh-CN" sz="1200" b="1" dirty="0" err="1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typedef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675"/>
    </mc:Choice>
    <mc:Fallback xmlns="">
      <p:transition spd="slow" advTm="16675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变量的说明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变量说明</a:t>
            </a:r>
            <a:endParaRPr lang="en-US" altLang="zh-CN" dirty="0"/>
          </a:p>
          <a:p>
            <a:pPr lvl="1"/>
            <a:r>
              <a:rPr lang="en-US" altLang="zh-CN" dirty="0"/>
              <a:t>[&lt;</a:t>
            </a:r>
            <a:r>
              <a:rPr lang="zh-CN" altLang="en-US" dirty="0"/>
              <a:t>存储类属性</a:t>
            </a:r>
            <a:r>
              <a:rPr lang="en-US" altLang="zh-CN" dirty="0"/>
              <a:t>&gt;]  &lt;</a:t>
            </a:r>
            <a:r>
              <a:rPr lang="zh-CN" altLang="en-US" dirty="0"/>
              <a:t>数据类型</a:t>
            </a:r>
            <a:r>
              <a:rPr lang="en-US" altLang="zh-CN" dirty="0"/>
              <a:t>&gt;  &lt;</a:t>
            </a:r>
            <a:r>
              <a:rPr lang="zh-CN" altLang="en-US" dirty="0"/>
              <a:t>变量名</a:t>
            </a:r>
            <a:r>
              <a:rPr lang="en-US" altLang="zh-CN" dirty="0"/>
              <a:t>&gt;[,&lt;</a:t>
            </a:r>
            <a:r>
              <a:rPr lang="zh-CN" altLang="en-US" dirty="0"/>
              <a:t>变量名</a:t>
            </a:r>
            <a:r>
              <a:rPr lang="en-US" altLang="zh-CN" dirty="0"/>
              <a:t>&gt;]*;</a:t>
            </a:r>
          </a:p>
          <a:p>
            <a:r>
              <a:rPr lang="zh-CN" altLang="en-US" dirty="0"/>
              <a:t>变量的存储类属性</a:t>
            </a:r>
            <a:endParaRPr lang="en-US" altLang="zh-CN" dirty="0"/>
          </a:p>
          <a:p>
            <a:pPr lvl="1"/>
            <a:r>
              <a:rPr lang="en-US" altLang="zh-CN" dirty="0"/>
              <a:t>static</a:t>
            </a:r>
            <a:r>
              <a:rPr lang="zh-CN" altLang="en-US" dirty="0"/>
              <a:t>：静态变量</a:t>
            </a:r>
            <a:endParaRPr lang="en-US" altLang="zh-CN" dirty="0"/>
          </a:p>
          <a:p>
            <a:pPr lvl="1"/>
            <a:r>
              <a:rPr lang="en-US" altLang="zh-CN" dirty="0" err="1"/>
              <a:t>thread_local</a:t>
            </a:r>
            <a:r>
              <a:rPr lang="zh-CN" altLang="en-US" dirty="0"/>
              <a:t>：线程的局部变量</a:t>
            </a:r>
            <a:endParaRPr lang="en-US" altLang="zh-CN" dirty="0"/>
          </a:p>
          <a:p>
            <a:pPr lvl="1"/>
            <a:r>
              <a:rPr lang="en-US" altLang="zh-CN" dirty="0"/>
              <a:t>extern</a:t>
            </a:r>
            <a:r>
              <a:rPr lang="zh-CN" altLang="en-US" dirty="0"/>
              <a:t>：外部变量</a:t>
            </a:r>
            <a:endParaRPr lang="en-US" altLang="zh-CN" dirty="0"/>
          </a:p>
          <a:p>
            <a:pPr lvl="1"/>
            <a:r>
              <a:rPr lang="en-US" altLang="zh-CN" dirty="0"/>
              <a:t>mutable</a:t>
            </a:r>
            <a:r>
              <a:rPr lang="zh-CN" altLang="en-US" dirty="0"/>
              <a:t>：可变变量</a:t>
            </a:r>
            <a:endParaRPr lang="en-US" altLang="zh-CN" dirty="0"/>
          </a:p>
          <a:p>
            <a:pPr lvl="1"/>
            <a:r>
              <a:rPr lang="en-US" altLang="zh-CN" dirty="0"/>
              <a:t>auto</a:t>
            </a:r>
          </a:p>
          <a:p>
            <a:pPr lvl="1"/>
            <a:r>
              <a:rPr lang="en-US" altLang="zh-CN" dirty="0"/>
              <a:t>register</a:t>
            </a:r>
          </a:p>
        </p:txBody>
      </p:sp>
      <p:sp>
        <p:nvSpPr>
          <p:cNvPr id="4" name="矩形 3">
            <a:hlinkClick r:id="rId2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说明语句 ■</a:t>
            </a:r>
          </a:p>
        </p:txBody>
      </p:sp>
      <p:sp>
        <p:nvSpPr>
          <p:cNvPr id="5" name="矩形 4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</a:t>
            </a:r>
            <a:r>
              <a:rPr lang="en-US" altLang="zh-CN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C++</a:t>
            </a: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语句概览</a:t>
            </a:r>
          </a:p>
        </p:txBody>
      </p:sp>
      <p:sp>
        <p:nvSpPr>
          <p:cNvPr id="6" name="矩形 5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常量与变量的说明及初始化</a:t>
            </a: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命名空间的说明</a:t>
            </a: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</a:t>
            </a:r>
            <a:r>
              <a:rPr lang="en-US" altLang="zh-CN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auto</a:t>
            </a: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、</a:t>
            </a:r>
            <a:r>
              <a:rPr lang="en-US" altLang="zh-CN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</a:t>
            </a: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与</a:t>
            </a:r>
            <a:r>
              <a:rPr lang="en-US" altLang="zh-CN" sz="1200" b="1" dirty="0" err="1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typedef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730"/>
    </mc:Choice>
    <mc:Fallback xmlns="">
      <p:transition spd="slow" advTm="49730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600"/>
              </a:spcBef>
            </a:pPr>
            <a:r>
              <a:rPr lang="zh-CN" altLang="en-US" dirty="0"/>
              <a:t>有关变量的概念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zh-CN" altLang="en-US" dirty="0"/>
              <a:t>全局变量和局部变量</a:t>
            </a:r>
            <a:endParaRPr lang="en-US" altLang="zh-CN" dirty="0"/>
          </a:p>
          <a:p>
            <a:pPr lvl="1">
              <a:spcBef>
                <a:spcPts val="600"/>
              </a:spcBef>
            </a:pPr>
            <a:r>
              <a:rPr lang="zh-CN" altLang="en-US" dirty="0"/>
              <a:t>全局变量：程序运行的整个过程，内存中位置不变</a:t>
            </a:r>
            <a:endParaRPr lang="en-US" altLang="zh-CN" dirty="0"/>
          </a:p>
          <a:p>
            <a:pPr lvl="1">
              <a:spcBef>
                <a:spcPts val="600"/>
              </a:spcBef>
            </a:pPr>
            <a:r>
              <a:rPr lang="zh-CN" altLang="en-US" dirty="0"/>
              <a:t>局部变量：程序运行的过程中，所占内存反复占用和释放</a:t>
            </a:r>
            <a:endParaRPr lang="en-US" altLang="zh-CN" dirty="0"/>
          </a:p>
          <a:p>
            <a:pPr>
              <a:spcBef>
                <a:spcPts val="600"/>
              </a:spcBef>
            </a:pPr>
            <a:r>
              <a:rPr lang="zh-CN" altLang="en-US" dirty="0"/>
              <a:t>生存期和作用域</a:t>
            </a:r>
            <a:endParaRPr lang="en-US" altLang="zh-CN" dirty="0"/>
          </a:p>
          <a:p>
            <a:pPr lvl="1">
              <a:spcBef>
                <a:spcPts val="600"/>
              </a:spcBef>
            </a:pPr>
            <a:r>
              <a:rPr lang="zh-CN" altLang="en-US" dirty="0"/>
              <a:t>生存期：变量所占内存空间由分配到释放的时期</a:t>
            </a:r>
            <a:endParaRPr lang="en-US" altLang="zh-CN" dirty="0"/>
          </a:p>
          <a:p>
            <a:pPr lvl="1">
              <a:spcBef>
                <a:spcPts val="600"/>
              </a:spcBef>
            </a:pPr>
            <a:r>
              <a:rPr lang="zh-CN" altLang="en-US" dirty="0"/>
              <a:t>作用域：变量有效的范围，</a:t>
            </a:r>
            <a:r>
              <a:rPr lang="zh-CN" altLang="en-US" dirty="0">
                <a:solidFill>
                  <a:srgbClr val="C00000"/>
                </a:solidFill>
              </a:rPr>
              <a:t>说明变量时所在的语句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4" name="矩形 3">
            <a:hlinkClick r:id="rId2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说明语句 ■</a:t>
            </a:r>
          </a:p>
        </p:txBody>
      </p:sp>
      <p:sp>
        <p:nvSpPr>
          <p:cNvPr id="5" name="矩形 4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</a:t>
            </a:r>
            <a:r>
              <a:rPr lang="en-US" altLang="zh-CN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C++</a:t>
            </a: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语句概览</a:t>
            </a:r>
          </a:p>
        </p:txBody>
      </p:sp>
      <p:sp>
        <p:nvSpPr>
          <p:cNvPr id="6" name="矩形 5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常量与变量的说明及初始化</a:t>
            </a: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命名空间的说明</a:t>
            </a: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</a:t>
            </a:r>
            <a:r>
              <a:rPr lang="en-US" altLang="zh-CN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auto</a:t>
            </a: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、</a:t>
            </a:r>
            <a:r>
              <a:rPr lang="en-US" altLang="zh-CN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</a:t>
            </a: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与</a:t>
            </a:r>
            <a:r>
              <a:rPr lang="en-US" altLang="zh-CN" sz="1200" b="1" dirty="0" err="1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typedef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805"/>
    </mc:Choice>
    <mc:Fallback xmlns="">
      <p:transition spd="slow" advTm="37805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初始化（</a:t>
            </a:r>
            <a:r>
              <a:rPr lang="en-US" altLang="zh-CN" dirty="0"/>
              <a:t>Initialization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zh-CN" altLang="en-US" dirty="0"/>
              <a:t>变量的初始化</a:t>
            </a:r>
            <a:endParaRPr lang="en-US" altLang="zh-CN" dirty="0"/>
          </a:p>
          <a:p>
            <a:pPr lvl="1">
              <a:spcBef>
                <a:spcPts val="600"/>
              </a:spcBef>
            </a:pPr>
            <a:r>
              <a:rPr lang="zh-CN" altLang="en-US" dirty="0"/>
              <a:t>在变量说明语句中对变量进行赋值</a:t>
            </a:r>
          </a:p>
          <a:p>
            <a:pPr lvl="1"/>
            <a:r>
              <a:rPr lang="zh-CN" altLang="en-US" dirty="0"/>
              <a:t>格式</a:t>
            </a:r>
            <a:endParaRPr lang="en-US" altLang="zh-CN" dirty="0"/>
          </a:p>
          <a:p>
            <a:pPr lvl="2"/>
            <a:r>
              <a:rPr lang="en-US" altLang="zh-CN" dirty="0"/>
              <a:t>[&lt;</a:t>
            </a:r>
            <a:r>
              <a:rPr lang="zh-CN" altLang="en-US" dirty="0"/>
              <a:t>存储类属性</a:t>
            </a:r>
            <a:r>
              <a:rPr lang="en-US" altLang="zh-CN" dirty="0"/>
              <a:t>&gt;]  &lt;</a:t>
            </a:r>
            <a:r>
              <a:rPr lang="zh-CN" altLang="en-US" dirty="0"/>
              <a:t>数据类型</a:t>
            </a:r>
            <a:r>
              <a:rPr lang="en-US" altLang="zh-CN" dirty="0"/>
              <a:t>&gt;  &lt;</a:t>
            </a:r>
            <a:r>
              <a:rPr lang="zh-CN" altLang="en-US" dirty="0"/>
              <a:t>变量名</a:t>
            </a:r>
            <a:r>
              <a:rPr lang="en-US" altLang="zh-CN" dirty="0"/>
              <a:t>&gt;{&lt;</a:t>
            </a:r>
            <a:r>
              <a:rPr lang="zh-CN" altLang="en-US" dirty="0"/>
              <a:t>初始值</a:t>
            </a:r>
            <a:r>
              <a:rPr lang="en-US" altLang="zh-CN" dirty="0"/>
              <a:t>&gt;};</a:t>
            </a:r>
          </a:p>
          <a:p>
            <a:pPr lvl="2"/>
            <a:r>
              <a:rPr lang="en-US" altLang="zh-CN" dirty="0"/>
              <a:t>[&lt;</a:t>
            </a:r>
            <a:r>
              <a:rPr lang="zh-CN" altLang="en-US" dirty="0"/>
              <a:t>存储类属性</a:t>
            </a:r>
            <a:r>
              <a:rPr lang="en-US" altLang="zh-CN" dirty="0"/>
              <a:t>&gt;]  &lt;</a:t>
            </a:r>
            <a:r>
              <a:rPr lang="zh-CN" altLang="en-US" dirty="0"/>
              <a:t>数据类型</a:t>
            </a:r>
            <a:r>
              <a:rPr lang="en-US" altLang="zh-CN" dirty="0"/>
              <a:t>&gt;  &lt;</a:t>
            </a:r>
            <a:r>
              <a:rPr lang="zh-CN" altLang="en-US" dirty="0"/>
              <a:t>变量名</a:t>
            </a:r>
            <a:r>
              <a:rPr lang="en-US" altLang="zh-CN" dirty="0"/>
              <a:t>&gt;(&lt;</a:t>
            </a:r>
            <a:r>
              <a:rPr lang="zh-CN" altLang="en-US" dirty="0"/>
              <a:t>初始值</a:t>
            </a:r>
            <a:r>
              <a:rPr lang="en-US" altLang="zh-CN" dirty="0"/>
              <a:t>&gt;);</a:t>
            </a:r>
          </a:p>
          <a:p>
            <a:pPr lvl="2"/>
            <a:r>
              <a:rPr lang="en-US" altLang="zh-CN" dirty="0"/>
              <a:t>[&lt;</a:t>
            </a:r>
            <a:r>
              <a:rPr lang="zh-CN" altLang="en-US" dirty="0"/>
              <a:t>存储类属性</a:t>
            </a:r>
            <a:r>
              <a:rPr lang="en-US" altLang="zh-CN" dirty="0"/>
              <a:t>&gt;]  &lt;</a:t>
            </a:r>
            <a:r>
              <a:rPr lang="zh-CN" altLang="en-US" dirty="0"/>
              <a:t>数据类型</a:t>
            </a:r>
            <a:r>
              <a:rPr lang="en-US" altLang="zh-CN" dirty="0"/>
              <a:t>&gt;  &lt;</a:t>
            </a:r>
            <a:r>
              <a:rPr lang="zh-CN" altLang="en-US" dirty="0"/>
              <a:t>变量名</a:t>
            </a:r>
            <a:r>
              <a:rPr lang="en-US" altLang="zh-CN" dirty="0"/>
              <a:t>&gt;=&lt;</a:t>
            </a:r>
            <a:r>
              <a:rPr lang="zh-CN" altLang="en-US" dirty="0"/>
              <a:t>初始值</a:t>
            </a:r>
            <a:r>
              <a:rPr lang="en-US" altLang="zh-CN" dirty="0"/>
              <a:t>&gt;;</a:t>
            </a:r>
          </a:p>
          <a:p>
            <a:pPr marL="1371600" lvl="3" indent="0">
              <a:buNone/>
            </a:pPr>
            <a:r>
              <a:rPr lang="en-US" altLang="zh-CN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a{5}; //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初始化列表法，默认初始值为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，如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a{}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1371600" lvl="3" indent="0">
              <a:buNone/>
            </a:pPr>
            <a:r>
              <a:rPr lang="en-US" altLang="zh-CN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a(5); //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函数表示法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371600" lvl="3" indent="0">
              <a:buNone/>
            </a:pPr>
            <a:r>
              <a:rPr lang="en-US" altLang="zh-CN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a = 5;  //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赋值表示法</a:t>
            </a:r>
          </a:p>
        </p:txBody>
      </p:sp>
      <p:sp>
        <p:nvSpPr>
          <p:cNvPr id="4" name="矩形 3">
            <a:hlinkClick r:id="rId2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说明语句 ■</a:t>
            </a:r>
          </a:p>
        </p:txBody>
      </p:sp>
      <p:sp>
        <p:nvSpPr>
          <p:cNvPr id="5" name="矩形 4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</a:t>
            </a:r>
            <a:r>
              <a:rPr lang="en-US" altLang="zh-CN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C++</a:t>
            </a: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语句概览</a:t>
            </a:r>
          </a:p>
        </p:txBody>
      </p:sp>
      <p:sp>
        <p:nvSpPr>
          <p:cNvPr id="6" name="矩形 5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常量与变量的说明及初始化</a:t>
            </a: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命名空间的说明</a:t>
            </a: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</a:t>
            </a:r>
            <a:r>
              <a:rPr lang="en-US" altLang="zh-CN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auto</a:t>
            </a: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、</a:t>
            </a:r>
            <a:r>
              <a:rPr lang="en-US" altLang="zh-CN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</a:t>
            </a: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与</a:t>
            </a:r>
            <a:r>
              <a:rPr lang="en-US" altLang="zh-CN" sz="1200" b="1" dirty="0" err="1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typedef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968"/>
    </mc:Choice>
    <mc:Fallback xmlns="">
      <p:transition spd="slow" advTm="20968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定义（</a:t>
            </a:r>
            <a:r>
              <a:rPr lang="en-US" altLang="zh-CN" dirty="0"/>
              <a:t>definition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带有初始化的说明语句</a:t>
            </a:r>
            <a:endParaRPr lang="en-US" altLang="zh-CN" dirty="0"/>
          </a:p>
          <a:p>
            <a:pPr marL="457200" lvl="1" indent="0" algn="ctr">
              <a:buNone/>
            </a:pPr>
            <a:r>
              <a:rPr lang="en-US" altLang="zh-CN" dirty="0"/>
              <a:t>[</a:t>
            </a:r>
            <a:r>
              <a:rPr lang="zh-CN" altLang="en-US" dirty="0"/>
              <a:t>存储类属性</a:t>
            </a:r>
            <a:r>
              <a:rPr lang="en-US" altLang="zh-CN" dirty="0"/>
              <a:t>]  &lt;</a:t>
            </a:r>
            <a:r>
              <a:rPr lang="zh-CN" altLang="en-US" dirty="0"/>
              <a:t>数据类型</a:t>
            </a:r>
            <a:r>
              <a:rPr lang="en-US" altLang="zh-CN" dirty="0"/>
              <a:t>&gt; &lt;</a:t>
            </a:r>
            <a:r>
              <a:rPr lang="zh-CN" altLang="en-US" dirty="0"/>
              <a:t>变量名表</a:t>
            </a:r>
            <a:r>
              <a:rPr lang="en-US" altLang="zh-CN" dirty="0"/>
              <a:t>&gt;;</a:t>
            </a:r>
          </a:p>
          <a:p>
            <a:r>
              <a:rPr lang="zh-CN" altLang="en-US" dirty="0"/>
              <a:t>变量名表</a:t>
            </a:r>
            <a:endParaRPr lang="en-US" altLang="zh-CN" dirty="0"/>
          </a:p>
          <a:p>
            <a:pPr lvl="1"/>
            <a:r>
              <a:rPr lang="zh-CN" altLang="en-US" dirty="0"/>
              <a:t>可以完成对变量的初始化</a:t>
            </a:r>
            <a:endParaRPr lang="en-US" altLang="zh-CN" dirty="0"/>
          </a:p>
          <a:p>
            <a:pPr lvl="1"/>
            <a:r>
              <a:rPr lang="zh-CN" altLang="en-US" dirty="0"/>
              <a:t>格式</a:t>
            </a:r>
            <a:endParaRPr lang="en-US" altLang="zh-CN" dirty="0"/>
          </a:p>
          <a:p>
            <a:pPr marL="914400" lvl="2" indent="0" algn="ctr">
              <a:buNone/>
            </a:pPr>
            <a:r>
              <a:rPr lang="en-US" altLang="zh-CN" dirty="0"/>
              <a:t>&lt;</a:t>
            </a:r>
            <a:r>
              <a:rPr lang="zh-CN" altLang="en-US" dirty="0"/>
              <a:t>变量名</a:t>
            </a:r>
            <a:r>
              <a:rPr lang="en-US" altLang="zh-CN" dirty="0"/>
              <a:t>&gt;[ = &lt;</a:t>
            </a:r>
            <a:r>
              <a:rPr lang="zh-CN" altLang="en-US" dirty="0"/>
              <a:t>表达式</a:t>
            </a:r>
            <a:r>
              <a:rPr lang="en-US" altLang="zh-CN" dirty="0"/>
              <a:t>&gt;][, &lt;</a:t>
            </a:r>
            <a:r>
              <a:rPr lang="zh-CN" altLang="en-US" dirty="0"/>
              <a:t>变量名表</a:t>
            </a:r>
            <a:r>
              <a:rPr lang="en-US" altLang="zh-CN" dirty="0"/>
              <a:t>&gt;]*;</a:t>
            </a:r>
          </a:p>
          <a:p>
            <a:r>
              <a:rPr lang="zh-CN" altLang="en-US" dirty="0"/>
              <a:t>举例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5085184"/>
            <a:ext cx="3870325" cy="935037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</p:spPr>
      </p:pic>
      <p:sp>
        <p:nvSpPr>
          <p:cNvPr id="6" name="矩形 5">
            <a:hlinkClick r:id="rId3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说明语句 ■</a:t>
            </a: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</a:t>
            </a:r>
            <a:r>
              <a:rPr lang="en-US" altLang="zh-CN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C++</a:t>
            </a: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语句概览</a:t>
            </a: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常量与变量的说明及初始化</a:t>
            </a: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命名空间的说明</a:t>
            </a: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</a:t>
            </a:r>
            <a:r>
              <a:rPr lang="en-US" altLang="zh-CN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auto</a:t>
            </a: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、</a:t>
            </a:r>
            <a:r>
              <a:rPr lang="en-US" altLang="zh-CN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</a:t>
            </a: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与</a:t>
            </a:r>
            <a:r>
              <a:rPr lang="en-US" altLang="zh-CN" sz="1200" b="1" dirty="0" err="1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typedef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775"/>
    </mc:Choice>
    <mc:Fallback xmlns="">
      <p:transition spd="slow" advTm="18775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命名空间的说明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C++</a:t>
            </a:r>
            <a:r>
              <a:rPr lang="zh-CN" altLang="en-US" dirty="0"/>
              <a:t>语言的新标准引入的概念</a:t>
            </a:r>
            <a:endParaRPr lang="en-US" altLang="zh-CN" dirty="0"/>
          </a:p>
          <a:p>
            <a:r>
              <a:rPr lang="zh-CN" altLang="en-US" dirty="0"/>
              <a:t>由用户命名的作用域，解决大型程序中标识符重名的问题</a:t>
            </a:r>
            <a:endParaRPr lang="en-US" altLang="zh-CN" dirty="0"/>
          </a:p>
          <a:p>
            <a:pPr lvl="1"/>
            <a:r>
              <a:rPr lang="zh-CN" altLang="en-US" dirty="0"/>
              <a:t>说明语句格式</a:t>
            </a:r>
            <a:endParaRPr lang="en-US" altLang="zh-CN" dirty="0"/>
          </a:p>
          <a:p>
            <a:pPr marL="914400" lvl="2" indent="0" algn="ctr">
              <a:buNone/>
            </a:pPr>
            <a:r>
              <a:rPr lang="en-US" altLang="zh-CN" dirty="0">
                <a:solidFill>
                  <a:srgbClr val="0000FF"/>
                </a:solidFill>
              </a:rPr>
              <a:t>namespace</a:t>
            </a:r>
            <a:r>
              <a:rPr lang="en-US" altLang="zh-CN" dirty="0"/>
              <a:t> &lt;</a:t>
            </a:r>
            <a:r>
              <a:rPr lang="zh-CN" altLang="en-US" dirty="0"/>
              <a:t>标识符&gt;{&lt;若干说明或定义&gt;}</a:t>
            </a:r>
          </a:p>
          <a:p>
            <a:pPr lvl="1"/>
            <a:r>
              <a:rPr lang="zh-CN" altLang="en-US" dirty="0"/>
              <a:t>使用方式</a:t>
            </a:r>
            <a:endParaRPr lang="en-US" altLang="zh-CN" dirty="0"/>
          </a:p>
          <a:p>
            <a:pPr marL="914400" lvl="2" indent="0" algn="ctr">
              <a:buNone/>
            </a:pPr>
            <a:r>
              <a:rPr lang="en-US" altLang="zh-CN" dirty="0">
                <a:solidFill>
                  <a:srgbClr val="0000FF"/>
                </a:solidFill>
              </a:rPr>
              <a:t>using namespace </a:t>
            </a:r>
            <a:r>
              <a:rPr lang="en-US" altLang="zh-CN" dirty="0"/>
              <a:t>&lt;</a:t>
            </a:r>
            <a:r>
              <a:rPr lang="zh-CN" altLang="en-US" dirty="0"/>
              <a:t>名字&gt;</a:t>
            </a:r>
            <a:r>
              <a:rPr lang="en-US" altLang="zh-CN" dirty="0"/>
              <a:t>;</a:t>
            </a:r>
            <a:endParaRPr lang="zh-CN" altLang="en-US" dirty="0"/>
          </a:p>
        </p:txBody>
      </p:sp>
      <p:sp>
        <p:nvSpPr>
          <p:cNvPr id="6" name="矩形 5">
            <a:hlinkClick r:id="rId2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说明语句 ■</a:t>
            </a: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</a:t>
            </a:r>
            <a:r>
              <a:rPr lang="en-US" altLang="zh-CN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C++</a:t>
            </a: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语句概览</a:t>
            </a: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常量与变量的说明及初始化</a:t>
            </a: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命名空间的说明</a:t>
            </a: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</a:t>
            </a:r>
            <a:r>
              <a:rPr lang="en-US" altLang="zh-CN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auto</a:t>
            </a: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、</a:t>
            </a:r>
            <a:r>
              <a:rPr lang="en-US" altLang="zh-CN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</a:t>
            </a: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与</a:t>
            </a:r>
            <a:r>
              <a:rPr lang="en-US" altLang="zh-CN" sz="1200" b="1" dirty="0" err="1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typedef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596"/>
    </mc:Choice>
    <mc:Fallback xmlns="">
      <p:transition spd="slow" advTm="13596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auto</a:t>
            </a:r>
            <a:r>
              <a:rPr lang="zh-CN" altLang="en-US" dirty="0"/>
              <a:t>关键字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告诉编译器应该“推断”类型</a:t>
            </a:r>
            <a:endParaRPr lang="en-US" altLang="zh-CN" dirty="0"/>
          </a:p>
          <a:p>
            <a:pPr lvl="1"/>
            <a:r>
              <a:rPr lang="zh-CN" altLang="en-US" dirty="0"/>
              <a:t>例如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auto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m {10}; </a:t>
            </a:r>
            <a:r>
              <a:rPr lang="en-US" altLang="zh-CN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//m</a:t>
            </a:r>
            <a:r>
              <a:rPr lang="zh-CN" alt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被推断为整型</a:t>
            </a:r>
            <a:endParaRPr lang="en-US" altLang="zh-CN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auto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n = 200UL; </a:t>
            </a:r>
            <a:r>
              <a:rPr lang="en-US" altLang="zh-CN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//n</a:t>
            </a:r>
            <a:r>
              <a:rPr lang="zh-CN" alt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被推断为无符号长整型</a:t>
            </a:r>
            <a:endParaRPr lang="en-US" altLang="zh-CN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auto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pai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(3.1416);  </a:t>
            </a:r>
            <a:r>
              <a:rPr lang="en-US" altLang="zh-CN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en-US" altLang="zh-CN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pai</a:t>
            </a:r>
            <a:r>
              <a:rPr lang="zh-CN" alt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被推断为双精度浮点型</a:t>
            </a:r>
          </a:p>
        </p:txBody>
      </p:sp>
      <p:sp>
        <p:nvSpPr>
          <p:cNvPr id="5" name="矩形 4">
            <a:hlinkClick r:id="rId2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说明语句 ■</a:t>
            </a:r>
          </a:p>
        </p:txBody>
      </p:sp>
      <p:sp>
        <p:nvSpPr>
          <p:cNvPr id="6" name="矩形 5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</a:t>
            </a:r>
            <a:r>
              <a:rPr lang="en-US" altLang="zh-CN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C++</a:t>
            </a: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语句概览</a:t>
            </a: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常量与变量的说明及初始化</a:t>
            </a: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命名空间的说明</a:t>
            </a: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</a:t>
            </a:r>
            <a:r>
              <a:rPr lang="en-US" altLang="zh-CN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auto</a:t>
            </a: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、</a:t>
            </a:r>
            <a:r>
              <a:rPr lang="en-US" altLang="zh-CN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</a:t>
            </a: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与</a:t>
            </a:r>
            <a:r>
              <a:rPr lang="en-US" altLang="zh-CN" sz="1200" b="1" dirty="0" err="1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typedef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694"/>
    </mc:Choice>
    <mc:Fallback xmlns="">
      <p:transition spd="slow" advTm="17694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using </a:t>
            </a:r>
            <a:r>
              <a:rPr lang="zh-CN" altLang="en-US" dirty="0"/>
              <a:t>关键字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为数据类型设置别名</a:t>
            </a:r>
            <a:endParaRPr lang="en-US" altLang="zh-CN" dirty="0"/>
          </a:p>
          <a:p>
            <a:pPr lvl="1"/>
            <a:r>
              <a:rPr lang="zh-CN" altLang="en-US" dirty="0"/>
              <a:t>例如：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BigOnes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unsigned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457200" lvl="1" indent="0">
              <a:buNone/>
            </a:pPr>
            <a:r>
              <a:rPr lang="en-US" altLang="zh-CN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en-US" altLang="zh-CN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BigOnes</a:t>
            </a:r>
            <a:r>
              <a:rPr lang="zh-CN" alt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可以用来代替无符号长长整型</a:t>
            </a:r>
            <a:endParaRPr lang="en-US" altLang="zh-CN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BigOnes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a = 100;</a:t>
            </a:r>
            <a:endParaRPr lang="zh-CN" alt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矩形 3">
            <a:hlinkClick r:id="rId2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说明语句 ■</a:t>
            </a:r>
          </a:p>
        </p:txBody>
      </p:sp>
      <p:sp>
        <p:nvSpPr>
          <p:cNvPr id="5" name="矩形 4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</a:t>
            </a:r>
            <a:r>
              <a:rPr lang="en-US" altLang="zh-CN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C++</a:t>
            </a: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语句概览</a:t>
            </a:r>
          </a:p>
        </p:txBody>
      </p:sp>
      <p:sp>
        <p:nvSpPr>
          <p:cNvPr id="6" name="矩形 5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常量与变量的说明及初始化</a:t>
            </a: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命名空间的说明</a:t>
            </a: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</a:t>
            </a:r>
            <a:r>
              <a:rPr lang="en-US" altLang="zh-CN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auto</a:t>
            </a: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、</a:t>
            </a:r>
            <a:r>
              <a:rPr lang="en-US" altLang="zh-CN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</a:t>
            </a: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与</a:t>
            </a:r>
            <a:r>
              <a:rPr lang="en-US" altLang="zh-CN" sz="1200" b="1" dirty="0" err="1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typedef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457"/>
    </mc:Choice>
    <mc:Fallback xmlns="">
      <p:transition spd="slow" advTm="19457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typedef</a:t>
            </a:r>
            <a:r>
              <a:rPr lang="zh-CN" altLang="en-US" dirty="0"/>
              <a:t>关键字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类型说明</a:t>
            </a:r>
            <a:endParaRPr lang="en-US" altLang="zh-CN" dirty="0"/>
          </a:p>
          <a:p>
            <a:pPr lvl="1"/>
            <a:r>
              <a:rPr lang="zh-CN" altLang="en-US" dirty="0"/>
              <a:t>用户为一个已定义的类型赋予一个新的数据类型名</a:t>
            </a:r>
            <a:endParaRPr lang="en-US" altLang="zh-CN" dirty="0"/>
          </a:p>
          <a:p>
            <a:pPr lvl="1"/>
            <a:r>
              <a:rPr lang="zh-CN" altLang="en-US" dirty="0"/>
              <a:t>用来提高程序的可读性</a:t>
            </a:r>
            <a:endParaRPr lang="en-US" altLang="zh-CN" dirty="0"/>
          </a:p>
          <a:p>
            <a:pPr marL="457200" lvl="1" indent="0" algn="ctr">
              <a:buNone/>
            </a:pPr>
            <a:r>
              <a:rPr lang="en-US" altLang="zh-CN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typedef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id_number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2"/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可以用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id_number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表示整型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14400" lvl="2" indent="0">
              <a:buNone/>
            </a:pP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14400" lvl="2" indent="0">
              <a:buNone/>
            </a:pP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id_number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student_id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1901234;</a:t>
            </a:r>
          </a:p>
        </p:txBody>
      </p:sp>
      <p:sp>
        <p:nvSpPr>
          <p:cNvPr id="6" name="矩形 5">
            <a:hlinkClick r:id="rId3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说明语句 ■</a:t>
            </a: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</a:t>
            </a:r>
            <a:r>
              <a:rPr lang="en-US" altLang="zh-CN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C++</a:t>
            </a: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语句概览</a:t>
            </a: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常量与变量的说明及初始化</a:t>
            </a: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□ 命名空间的说明</a:t>
            </a: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■ </a:t>
            </a:r>
            <a:r>
              <a:rPr lang="en-US" altLang="zh-CN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auto</a:t>
            </a: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、</a:t>
            </a:r>
            <a:r>
              <a:rPr lang="en-US" altLang="zh-CN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</a:t>
            </a:r>
            <a:r>
              <a:rPr lang="zh-CN" altLang="en-US" sz="1200" b="1" dirty="0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与</a:t>
            </a:r>
            <a:r>
              <a:rPr lang="en-US" altLang="zh-CN" sz="1200" b="1" dirty="0" err="1">
                <a:solidFill>
                  <a:srgbClr val="8200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typedef</a:t>
            </a:r>
            <a:endParaRPr lang="zh-CN" altLang="en-US" sz="1200" b="1" dirty="0">
              <a:solidFill>
                <a:srgbClr val="82006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721"/>
    </mc:Choice>
    <mc:Fallback xmlns="">
      <p:transition spd="slow" advTm="2272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11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857250"/>
            <a:ext cx="9144000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5" name="标题 7"/>
          <p:cNvSpPr>
            <a:spLocks noGrp="1"/>
          </p:cNvSpPr>
          <p:nvPr>
            <p:ph type="ctrTitle"/>
          </p:nvPr>
        </p:nvSpPr>
        <p:spPr>
          <a:xfrm>
            <a:off x="714375" y="2000250"/>
            <a:ext cx="7715250" cy="1928813"/>
          </a:xfrm>
        </p:spPr>
        <p:txBody>
          <a:bodyPr/>
          <a:lstStyle/>
          <a:p>
            <a:r>
              <a:rPr lang="zh-CN" altLang="en-US" dirty="0"/>
              <a:t>第二章 结束</a:t>
            </a:r>
          </a:p>
        </p:txBody>
      </p:sp>
      <p:pic>
        <p:nvPicPr>
          <p:cNvPr id="9" name="图片 12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598192" y="5666350"/>
            <a:ext cx="1463675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extBox 8"/>
          <p:cNvSpPr txBox="1">
            <a:spLocks noChangeArrowheads="1"/>
          </p:cNvSpPr>
          <p:nvPr/>
        </p:nvSpPr>
        <p:spPr bwMode="auto">
          <a:xfrm>
            <a:off x="5796136" y="895350"/>
            <a:ext cx="3199915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高级语言</a:t>
            </a:r>
            <a:r>
              <a:rPr lang="en-US" altLang="zh-CN" sz="2400" b="1" dirty="0">
                <a:solidFill>
                  <a:schemeClr val="bg1"/>
                </a:solidFill>
                <a:latin typeface="Courier New" panose="02070309020205020404" pitchFamily="49" charset="0"/>
                <a:ea typeface="华文琥珀" panose="02010800040101010101" pitchFamily="2" charset="-122"/>
                <a:cs typeface="Courier New" panose="02070309020205020404" pitchFamily="49" charset="0"/>
              </a:rPr>
              <a:t>C++</a:t>
            </a:r>
            <a:r>
              <a:rPr lang="zh-CN" altLang="en-US" sz="2400" dirty="0">
                <a:solidFill>
                  <a:schemeClr val="bg1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程序设计</a:t>
            </a:r>
          </a:p>
        </p:txBody>
      </p:sp>
      <p:sp>
        <p:nvSpPr>
          <p:cNvPr id="12" name="TextBox 7"/>
          <p:cNvSpPr txBox="1"/>
          <p:nvPr/>
        </p:nvSpPr>
        <p:spPr>
          <a:xfrm>
            <a:off x="6111979" y="6518579"/>
            <a:ext cx="3050277" cy="387798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zh-CN" altLang="en-US" sz="1600" dirty="0">
                <a:solidFill>
                  <a:schemeClr val="bg1"/>
                </a:solidFill>
                <a:latin typeface="+mn-lt"/>
                <a:ea typeface="方正姚体" panose="02010601030101010101" pitchFamily="2" charset="-122"/>
              </a:rPr>
              <a:t>计算机学院</a:t>
            </a:r>
            <a:r>
              <a:rPr lang="en-US" altLang="zh-CN" sz="1600" dirty="0">
                <a:solidFill>
                  <a:schemeClr val="bg1"/>
                </a:solidFill>
                <a:latin typeface="+mn-lt"/>
                <a:ea typeface="方正姚体" panose="02010601030101010101" pitchFamily="2" charset="-122"/>
              </a:rPr>
              <a:t>&amp;</a:t>
            </a:r>
            <a:r>
              <a:rPr lang="zh-CN" altLang="en-US" sz="1600" dirty="0">
                <a:solidFill>
                  <a:schemeClr val="bg1"/>
                </a:solidFill>
                <a:latin typeface="+mn-lt"/>
                <a:ea typeface="方正姚体" panose="02010601030101010101" pitchFamily="2" charset="-122"/>
              </a:rPr>
              <a:t>网络空间安全学院</a:t>
            </a:r>
          </a:p>
        </p:txBody>
      </p:sp>
    </p:spTree>
  </p:cSld>
  <p:clrMapOvr>
    <a:masterClrMapping/>
  </p:clrMapOvr>
  <p:transition advTm="4696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|3.1|1.7"/>
</p:tagLst>
</file>

<file path=ppt/theme/theme1.xml><?xml version="1.0" encoding="utf-8"?>
<a:theme xmlns:a="http://schemas.openxmlformats.org/drawingml/2006/main" name="Office 主题">
  <a:themeElements>
    <a:clrScheme name="自定义 2">
      <a:dk1>
        <a:sysClr val="windowText" lastClr="000000"/>
      </a:dk1>
      <a:lt1>
        <a:sysClr val="window" lastClr="FFFFFF"/>
      </a:lt1>
      <a:dk2>
        <a:srgbClr val="880068"/>
      </a:dk2>
      <a:lt2>
        <a:srgbClr val="F4E7ED"/>
      </a:lt2>
      <a:accent1>
        <a:srgbClr val="8800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880068"/>
      </a:hlink>
      <a:folHlink>
        <a:srgbClr val="B83D68"/>
      </a:folHlink>
    </a:clrScheme>
    <a:fontScheme name="Office 经典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4180</Words>
  <Application>Microsoft Office PowerPoint</Application>
  <PresentationFormat>全屏显示(4:3)</PresentationFormat>
  <Paragraphs>909</Paragraphs>
  <Slides>55</Slides>
  <Notes>15</Notes>
  <HiddenSlides>0</HiddenSlides>
  <MMClips>1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55</vt:i4>
      </vt:variant>
    </vt:vector>
  </HeadingPairs>
  <TitlesOfParts>
    <vt:vector size="66" baseType="lpstr">
      <vt:lpstr>方正姚体</vt:lpstr>
      <vt:lpstr>黑体</vt:lpstr>
      <vt:lpstr>华文琥珀</vt:lpstr>
      <vt:lpstr>华文行楷</vt:lpstr>
      <vt:lpstr>楷体_GB2312</vt:lpstr>
      <vt:lpstr>宋体</vt:lpstr>
      <vt:lpstr>Arial</vt:lpstr>
      <vt:lpstr>Calibri</vt:lpstr>
      <vt:lpstr>Courier New</vt:lpstr>
      <vt:lpstr>Wingdings</vt:lpstr>
      <vt:lpstr>Office 主题</vt:lpstr>
      <vt:lpstr>第二章 数据类型</vt:lpstr>
      <vt:lpstr>PowerPoint 演示文稿</vt:lpstr>
      <vt:lpstr>PowerPoint 演示文稿</vt:lpstr>
      <vt:lpstr>数据</vt:lpstr>
      <vt:lpstr>数据类型</vt:lpstr>
      <vt:lpstr>数据类型</vt:lpstr>
      <vt:lpstr>常量</vt:lpstr>
      <vt:lpstr>变量</vt:lpstr>
      <vt:lpstr>变量</vt:lpstr>
      <vt:lpstr>常变量与变量的存储</vt:lpstr>
      <vt:lpstr>PowerPoint 演示文稿</vt:lpstr>
      <vt:lpstr>基本数据类型</vt:lpstr>
      <vt:lpstr>整型</vt:lpstr>
      <vt:lpstr>整型的修饰符</vt:lpstr>
      <vt:lpstr>浮点型</vt:lpstr>
      <vt:lpstr>浮点型</vt:lpstr>
      <vt:lpstr>浮点型</vt:lpstr>
      <vt:lpstr>字符型</vt:lpstr>
      <vt:lpstr>ASCII字符型与整型的关系</vt:lpstr>
      <vt:lpstr>Unicode字符型</vt:lpstr>
      <vt:lpstr>布尔型</vt:lpstr>
      <vt:lpstr>布尔型</vt:lpstr>
      <vt:lpstr>无值型</vt:lpstr>
      <vt:lpstr>PowerPoint 演示文稿</vt:lpstr>
      <vt:lpstr>复合类型</vt:lpstr>
      <vt:lpstr>枚举类型</vt:lpstr>
      <vt:lpstr>枚举类型</vt:lpstr>
      <vt:lpstr>枚举类型</vt:lpstr>
      <vt:lpstr>枚举类型</vt:lpstr>
      <vt:lpstr>枚举类型</vt:lpstr>
      <vt:lpstr>字符串类型</vt:lpstr>
      <vt:lpstr>字符串类型</vt:lpstr>
      <vt:lpstr>字符串类型</vt:lpstr>
      <vt:lpstr>字符串类型</vt:lpstr>
      <vt:lpstr>字符串类型</vt:lpstr>
      <vt:lpstr>字符串类型</vt:lpstr>
      <vt:lpstr>字符串类型</vt:lpstr>
      <vt:lpstr>字符串类型</vt:lpstr>
      <vt:lpstr>字符串类型</vt:lpstr>
      <vt:lpstr>数据类型的转换</vt:lpstr>
      <vt:lpstr>数据类型的转换</vt:lpstr>
      <vt:lpstr>PowerPoint 演示文稿</vt:lpstr>
      <vt:lpstr>CV限定符（CV-qualifiers）</vt:lpstr>
      <vt:lpstr>PowerPoint 演示文稿</vt:lpstr>
      <vt:lpstr>C++语句概览</vt:lpstr>
      <vt:lpstr>常量的说明</vt:lpstr>
      <vt:lpstr>变量的说明</vt:lpstr>
      <vt:lpstr>有关变量的概念</vt:lpstr>
      <vt:lpstr>初始化（Initialization）</vt:lpstr>
      <vt:lpstr>定义（definition）</vt:lpstr>
      <vt:lpstr>命名空间的说明</vt:lpstr>
      <vt:lpstr>auto关键字</vt:lpstr>
      <vt:lpstr>using 关键字</vt:lpstr>
      <vt:lpstr>typedef关键字</vt:lpstr>
      <vt:lpstr>第二章 结束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</cp:revision>
  <dcterms:created xsi:type="dcterms:W3CDTF">2009-05-27T07:01:00Z</dcterms:created>
  <dcterms:modified xsi:type="dcterms:W3CDTF">2021-10-07T03:34:33Z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2052-11.1.0.7764</vt:lpwstr>
  </property>
</Properties>
</file>